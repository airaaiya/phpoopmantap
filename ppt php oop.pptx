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4"/>
  </p:notesMasterIdLst>
  <p:sldIdLst>
    <p:sldId id="256"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320" r:id="rId62"/>
    <p:sldId id="321" r:id="rId63"/>
    <p:sldId id="322" r:id="rId64"/>
    <p:sldId id="323" r:id="rId65"/>
    <p:sldId id="324" r:id="rId66"/>
    <p:sldId id="325" r:id="rId67"/>
    <p:sldId id="326" r:id="rId68"/>
    <p:sldId id="327" r:id="rId69"/>
    <p:sldId id="328" r:id="rId70"/>
    <p:sldId id="329" r:id="rId71"/>
    <p:sldId id="330" r:id="rId72"/>
    <p:sldId id="331" r:id="rId73"/>
    <p:sldId id="332" r:id="rId74"/>
    <p:sldId id="333" r:id="rId75"/>
    <p:sldId id="334" r:id="rId76"/>
    <p:sldId id="335" r:id="rId77"/>
    <p:sldId id="336" r:id="rId78"/>
    <p:sldId id="337" r:id="rId79"/>
    <p:sldId id="338" r:id="rId80"/>
    <p:sldId id="339" r:id="rId81"/>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 id="355" r:id="rId97"/>
    <p:sldId id="356" r:id="rId98"/>
    <p:sldId id="357" r:id="rId99"/>
    <p:sldId id="358" r:id="rId100"/>
    <p:sldId id="359" r:id="rId101"/>
    <p:sldId id="360" r:id="rId102"/>
    <p:sldId id="361" r:id="rId103"/>
    <p:sldId id="362" r:id="rId104"/>
    <p:sldId id="363" r:id="rId105"/>
    <p:sldId id="364" r:id="rId106"/>
    <p:sldId id="365" r:id="rId107"/>
    <p:sldId id="366" r:id="rId108"/>
    <p:sldId id="367" r:id="rId109"/>
    <p:sldId id="368" r:id="rId110"/>
    <p:sldId id="369" r:id="rId111"/>
    <p:sldId id="370" r:id="rId112"/>
    <p:sldId id="371" r:id="rId113"/>
    <p:sldId id="372" r:id="rId114"/>
    <p:sldId id="373" r:id="rId115"/>
    <p:sldId id="374" r:id="rId116"/>
    <p:sldId id="375" r:id="rId117"/>
    <p:sldId id="376" r:id="rId118"/>
    <p:sldId id="377" r:id="rId119"/>
    <p:sldId id="378" r:id="rId120"/>
    <p:sldId id="379" r:id="rId121"/>
    <p:sldId id="380" r:id="rId122"/>
    <p:sldId id="381" r:id="rId123"/>
    <p:sldId id="382" r:id="rId124"/>
    <p:sldId id="383" r:id="rId125"/>
    <p:sldId id="384" r:id="rId126"/>
    <p:sldId id="385" r:id="rId127"/>
    <p:sldId id="386" r:id="rId128"/>
    <p:sldId id="387" r:id="rId129"/>
    <p:sldId id="388" r:id="rId130"/>
    <p:sldId id="389" r:id="rId131"/>
    <p:sldId id="390" r:id="rId132"/>
    <p:sldId id="391" r:id="rId133"/>
    <p:sldId id="392" r:id="rId134"/>
    <p:sldId id="393" r:id="rId135"/>
    <p:sldId id="394" r:id="rId136"/>
    <p:sldId id="395" r:id="rId137"/>
    <p:sldId id="396" r:id="rId138"/>
    <p:sldId id="397" r:id="rId139"/>
    <p:sldId id="398" r:id="rId140"/>
    <p:sldId id="399" r:id="rId141"/>
    <p:sldId id="400" r:id="rId142"/>
    <p:sldId id="401" r:id="rId143"/>
    <p:sldId id="402" r:id="rId144"/>
    <p:sldId id="403" r:id="rId145"/>
    <p:sldId id="404" r:id="rId146"/>
    <p:sldId id="405" r:id="rId147"/>
    <p:sldId id="406" r:id="rId148"/>
    <p:sldId id="407" r:id="rId149"/>
    <p:sldId id="408" r:id="rId150"/>
    <p:sldId id="409" r:id="rId151"/>
    <p:sldId id="410" r:id="rId152"/>
    <p:sldId id="411" r:id="rId153"/>
    <p:sldId id="412" r:id="rId154"/>
    <p:sldId id="413" r:id="rId155"/>
    <p:sldId id="414" r:id="rId156"/>
    <p:sldId id="415" r:id="rId157"/>
    <p:sldId id="416" r:id="rId158"/>
    <p:sldId id="417" r:id="rId159"/>
    <p:sldId id="418" r:id="rId160"/>
    <p:sldId id="419" r:id="rId161"/>
    <p:sldId id="420" r:id="rId162"/>
    <p:sldId id="421" r:id="rId163"/>
    <p:sldId id="422" r:id="rId164"/>
    <p:sldId id="423" r:id="rId165"/>
    <p:sldId id="424" r:id="rId166"/>
    <p:sldId id="425" r:id="rId167"/>
    <p:sldId id="426" r:id="rId168"/>
    <p:sldId id="427" r:id="rId169"/>
    <p:sldId id="428" r:id="rId170"/>
    <p:sldId id="429" r:id="rId171"/>
    <p:sldId id="430" r:id="rId172"/>
    <p:sldId id="431" r:id="rId173"/>
    <p:sldId id="432" r:id="rId174"/>
    <p:sldId id="433" r:id="rId175"/>
    <p:sldId id="434" r:id="rId176"/>
    <p:sldId id="435" r:id="rId177"/>
    <p:sldId id="436" r:id="rId178"/>
    <p:sldId id="437" r:id="rId179"/>
    <p:sldId id="438" r:id="rId180"/>
    <p:sldId id="439" r:id="rId181"/>
    <p:sldId id="440" r:id="rId182"/>
    <p:sldId id="441" r:id="rId183"/>
    <p:sldId id="442" r:id="rId184"/>
    <p:sldId id="443" r:id="rId185"/>
    <p:sldId id="444" r:id="rId186"/>
    <p:sldId id="445" r:id="rId187"/>
    <p:sldId id="446" r:id="rId188"/>
    <p:sldId id="447" r:id="rId189"/>
    <p:sldId id="448" r:id="rId190"/>
    <p:sldId id="449" r:id="rId191"/>
    <p:sldId id="450" r:id="rId192"/>
    <p:sldId id="451" r:id="rId193"/>
    <p:sldId id="452" r:id="rId194"/>
    <p:sldId id="453" r:id="rId195"/>
    <p:sldId id="454" r:id="rId196"/>
    <p:sldId id="455" r:id="rId197"/>
    <p:sldId id="456" r:id="rId198"/>
    <p:sldId id="457" r:id="rId199"/>
    <p:sldId id="458" r:id="rId200"/>
    <p:sldId id="459" r:id="rId201"/>
    <p:sldId id="460" r:id="rId202"/>
    <p:sldId id="461" r:id="rId203"/>
    <p:sldId id="462" r:id="rId204"/>
    <p:sldId id="463" r:id="rId205"/>
    <p:sldId id="464" r:id="rId206"/>
    <p:sldId id="465" r:id="rId207"/>
    <p:sldId id="466" r:id="rId208"/>
    <p:sldId id="467" r:id="rId209"/>
    <p:sldId id="468" r:id="rId210"/>
    <p:sldId id="469" r:id="rId211"/>
    <p:sldId id="470" r:id="rId212"/>
    <p:sldId id="471" r:id="rId213"/>
    <p:sldId id="472" r:id="rId214"/>
    <p:sldId id="473" r:id="rId215"/>
    <p:sldId id="474" r:id="rId216"/>
    <p:sldId id="475" r:id="rId217"/>
    <p:sldId id="476" r:id="rId218"/>
    <p:sldId id="477" r:id="rId219"/>
    <p:sldId id="478" r:id="rId220"/>
    <p:sldId id="479" r:id="rId221"/>
    <p:sldId id="480" r:id="rId222"/>
    <p:sldId id="481" r:id="rId223"/>
    <p:sldId id="482" r:id="rId224"/>
    <p:sldId id="483" r:id="rId225"/>
    <p:sldId id="484" r:id="rId226"/>
    <p:sldId id="485" r:id="rId227"/>
    <p:sldId id="486" r:id="rId228"/>
    <p:sldId id="487" r:id="rId229"/>
    <p:sldId id="488" r:id="rId230"/>
    <p:sldId id="489" r:id="rId231"/>
    <p:sldId id="490" r:id="rId232"/>
    <p:sldId id="491" r:id="rId233"/>
  </p:sldIdLst>
  <p:sldSz cx="9144000" cy="5143500" type="screen16x9"/>
  <p:notesSz cx="6858000" cy="9144000"/>
  <p:embeddedFontLst>
    <p:embeddedFont>
      <p:font typeface="Arial Black" panose="020B0A04020102020204" pitchFamily="34" charset="0"/>
      <p:bold r:id="rId235"/>
    </p:embeddedFont>
    <p:embeddedFont>
      <p:font typeface="Franklin Gothic Heavy" panose="020B0903020102020204" pitchFamily="34" charset="0"/>
      <p:regular r:id="rId236"/>
      <p:italic r:id="rId237"/>
    </p:embeddedFont>
    <p:embeddedFont>
      <p:font typeface="Lato" panose="020F0502020204030203" pitchFamily="34" charset="0"/>
      <p:regular r:id="rId238"/>
      <p:bold r:id="rId239"/>
      <p:italic r:id="rId240"/>
      <p:boldItalic r:id="rId241"/>
    </p:embeddedFont>
    <p:embeddedFont>
      <p:font typeface="Raleway" pitchFamily="2" charset="0"/>
      <p:regular r:id="rId242"/>
      <p:bold r:id="rId243"/>
      <p:italic r:id="rId244"/>
      <p:boldItalic r:id="rId2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391B4F-E565-43AA-830A-49F81012A9B4}" v="5" dt="2025-10-22T06:37:33.231"/>
  </p1510:revLst>
</p1510:revInfo>
</file>

<file path=ppt/tableStyles.xml><?xml version="1.0" encoding="utf-8"?>
<a:tblStyleLst xmlns:a="http://schemas.openxmlformats.org/drawingml/2006/main" def="{B9673AF5-CA51-48C4-976C-ADCB9C662DA2}">
  <a:tblStyle styleId="{B9673AF5-CA51-48C4-976C-ADCB9C662DA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font" Target="fonts/font3.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theme" Target="theme/theme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font" Target="fonts/font4.fntdata"/><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tableStyles" Target="tableStyle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font" Target="fonts/font5.fntdata"/><Relationship Id="rId250" Type="http://schemas.microsoft.com/office/2016/11/relationships/changesInfo" Target="changesInfos/changesInfo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font" Target="fonts/font6.fntdata"/><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microsoft.com/office/2015/10/relationships/revisionInfo" Target="revisionInfo.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font" Target="fonts/font7.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font" Target="fonts/font2.fntdata"/><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font" Target="fonts/font8.fntdata"/><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font" Target="fonts/font9.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font" Target="fonts/font10.fntdata"/><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font" Target="fonts/font11.fntdata"/><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font" Target="fonts/font1.fntdata"/><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presProps" Target="presProps.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ra Mahsyura" userId="d9c01d6339f22300" providerId="LiveId" clId="{52502621-B558-4CE3-9CB6-76AA6C3E6A5F}"/>
    <pc:docChg chg="undo custSel modSld">
      <pc:chgData name="Aira Mahsyura" userId="d9c01d6339f22300" providerId="LiveId" clId="{52502621-B558-4CE3-9CB6-76AA6C3E6A5F}" dt="2025-10-22T06:37:39.718" v="103" actId="1076"/>
      <pc:docMkLst>
        <pc:docMk/>
      </pc:docMkLst>
      <pc:sldChg chg="modSp mod">
        <pc:chgData name="Aira Mahsyura" userId="d9c01d6339f22300" providerId="LiveId" clId="{52502621-B558-4CE3-9CB6-76AA6C3E6A5F}" dt="2025-10-22T06:29:45.908" v="74" actId="207"/>
        <pc:sldMkLst>
          <pc:docMk/>
          <pc:sldMk cId="0" sldId="256"/>
        </pc:sldMkLst>
        <pc:spChg chg="mod">
          <ac:chgData name="Aira Mahsyura" userId="d9c01d6339f22300" providerId="LiveId" clId="{52502621-B558-4CE3-9CB6-76AA6C3E6A5F}" dt="2025-10-22T06:29:33.055" v="72" actId="207"/>
          <ac:spMkLst>
            <pc:docMk/>
            <pc:sldMk cId="0" sldId="256"/>
            <ac:spMk id="86" creationId="{00000000-0000-0000-0000-000000000000}"/>
          </ac:spMkLst>
        </pc:spChg>
        <pc:spChg chg="mod">
          <ac:chgData name="Aira Mahsyura" userId="d9c01d6339f22300" providerId="LiveId" clId="{52502621-B558-4CE3-9CB6-76AA6C3E6A5F}" dt="2025-10-22T06:29:45.908" v="74" actId="207"/>
          <ac:spMkLst>
            <pc:docMk/>
            <pc:sldMk cId="0" sldId="256"/>
            <ac:spMk id="87" creationId="{00000000-0000-0000-0000-000000000000}"/>
          </ac:spMkLst>
        </pc:spChg>
      </pc:sldChg>
      <pc:sldChg chg="modSp mod">
        <pc:chgData name="Aira Mahsyura" userId="d9c01d6339f22300" providerId="LiveId" clId="{52502621-B558-4CE3-9CB6-76AA6C3E6A5F}" dt="2025-10-22T06:29:08.928" v="70" actId="1076"/>
        <pc:sldMkLst>
          <pc:docMk/>
          <pc:sldMk cId="0" sldId="261"/>
        </pc:sldMkLst>
        <pc:spChg chg="mod">
          <ac:chgData name="Aira Mahsyura" userId="d9c01d6339f22300" providerId="LiveId" clId="{52502621-B558-4CE3-9CB6-76AA6C3E6A5F}" dt="2025-10-22T06:29:08.928" v="70" actId="1076"/>
          <ac:spMkLst>
            <pc:docMk/>
            <pc:sldMk cId="0" sldId="261"/>
            <ac:spMk id="117" creationId="{00000000-0000-0000-0000-000000000000}"/>
          </ac:spMkLst>
        </pc:spChg>
      </pc:sldChg>
      <pc:sldChg chg="addSp delSp modSp mod">
        <pc:chgData name="Aira Mahsyura" userId="d9c01d6339f22300" providerId="LiveId" clId="{52502621-B558-4CE3-9CB6-76AA6C3E6A5F}" dt="2025-10-22T06:33:59.461" v="79" actId="1076"/>
        <pc:sldMkLst>
          <pc:docMk/>
          <pc:sldMk cId="0" sldId="277"/>
        </pc:sldMkLst>
        <pc:picChg chg="add mod">
          <ac:chgData name="Aira Mahsyura" userId="d9c01d6339f22300" providerId="LiveId" clId="{52502621-B558-4CE3-9CB6-76AA6C3E6A5F}" dt="2025-10-22T06:33:59.461" v="79" actId="1076"/>
          <ac:picMkLst>
            <pc:docMk/>
            <pc:sldMk cId="0" sldId="277"/>
            <ac:picMk id="3" creationId="{0F04B71B-6E82-25B7-D4EF-AF468C6F4B9B}"/>
          </ac:picMkLst>
        </pc:picChg>
        <pc:picChg chg="del mod">
          <ac:chgData name="Aira Mahsyura" userId="d9c01d6339f22300" providerId="LiveId" clId="{52502621-B558-4CE3-9CB6-76AA6C3E6A5F}" dt="2025-10-22T06:33:56.646" v="78" actId="478"/>
          <ac:picMkLst>
            <pc:docMk/>
            <pc:sldMk cId="0" sldId="277"/>
            <ac:picMk id="210" creationId="{00000000-0000-0000-0000-000000000000}"/>
          </ac:picMkLst>
        </pc:picChg>
      </pc:sldChg>
      <pc:sldChg chg="addSp delSp modSp mod">
        <pc:chgData name="Aira Mahsyura" userId="d9c01d6339f22300" providerId="LiveId" clId="{52502621-B558-4CE3-9CB6-76AA6C3E6A5F}" dt="2025-10-22T06:36:51.837" v="98" actId="1076"/>
        <pc:sldMkLst>
          <pc:docMk/>
          <pc:sldMk cId="0" sldId="281"/>
        </pc:sldMkLst>
        <pc:picChg chg="add mod">
          <ac:chgData name="Aira Mahsyura" userId="d9c01d6339f22300" providerId="LiveId" clId="{52502621-B558-4CE3-9CB6-76AA6C3E6A5F}" dt="2025-10-22T06:36:51.837" v="98" actId="1076"/>
          <ac:picMkLst>
            <pc:docMk/>
            <pc:sldMk cId="0" sldId="281"/>
            <ac:picMk id="3" creationId="{7AA2E63C-D8CD-CCD9-AAA0-78B4D7D94A65}"/>
          </ac:picMkLst>
        </pc:picChg>
        <pc:picChg chg="del">
          <ac:chgData name="Aira Mahsyura" userId="d9c01d6339f22300" providerId="LiveId" clId="{52502621-B558-4CE3-9CB6-76AA6C3E6A5F}" dt="2025-10-22T06:36:37.058" v="94" actId="478"/>
          <ac:picMkLst>
            <pc:docMk/>
            <pc:sldMk cId="0" sldId="281"/>
            <ac:picMk id="234" creationId="{00000000-0000-0000-0000-000000000000}"/>
          </ac:picMkLst>
        </pc:picChg>
      </pc:sldChg>
      <pc:sldChg chg="addSp delSp modSp mod">
        <pc:chgData name="Aira Mahsyura" userId="d9c01d6339f22300" providerId="LiveId" clId="{52502621-B558-4CE3-9CB6-76AA6C3E6A5F}" dt="2025-10-22T06:36:31.982" v="93" actId="14100"/>
        <pc:sldMkLst>
          <pc:docMk/>
          <pc:sldMk cId="0" sldId="283"/>
        </pc:sldMkLst>
        <pc:picChg chg="add mod">
          <ac:chgData name="Aira Mahsyura" userId="d9c01d6339f22300" providerId="LiveId" clId="{52502621-B558-4CE3-9CB6-76AA6C3E6A5F}" dt="2025-10-22T06:36:31.982" v="93" actId="14100"/>
          <ac:picMkLst>
            <pc:docMk/>
            <pc:sldMk cId="0" sldId="283"/>
            <ac:picMk id="3" creationId="{23056A60-FB21-54EA-3D13-F4241827592A}"/>
          </ac:picMkLst>
        </pc:picChg>
        <pc:picChg chg="add del mod">
          <ac:chgData name="Aira Mahsyura" userId="d9c01d6339f22300" providerId="LiveId" clId="{52502621-B558-4CE3-9CB6-76AA6C3E6A5F}" dt="2025-10-22T06:36:24.932" v="91" actId="478"/>
          <ac:picMkLst>
            <pc:docMk/>
            <pc:sldMk cId="0" sldId="283"/>
            <ac:picMk id="246" creationId="{00000000-0000-0000-0000-000000000000}"/>
          </ac:picMkLst>
        </pc:picChg>
      </pc:sldChg>
      <pc:sldChg chg="addSp delSp modSp mod">
        <pc:chgData name="Aira Mahsyura" userId="d9c01d6339f22300" providerId="LiveId" clId="{52502621-B558-4CE3-9CB6-76AA6C3E6A5F}" dt="2025-10-22T06:37:39.718" v="103" actId="1076"/>
        <pc:sldMkLst>
          <pc:docMk/>
          <pc:sldMk cId="0" sldId="287"/>
        </pc:sldMkLst>
        <pc:picChg chg="add mod">
          <ac:chgData name="Aira Mahsyura" userId="d9c01d6339f22300" providerId="LiveId" clId="{52502621-B558-4CE3-9CB6-76AA6C3E6A5F}" dt="2025-10-22T06:37:39.718" v="103" actId="1076"/>
          <ac:picMkLst>
            <pc:docMk/>
            <pc:sldMk cId="0" sldId="287"/>
            <ac:picMk id="3" creationId="{02FABADA-EFA2-2128-E8FB-EEB5B5D90AE3}"/>
          </ac:picMkLst>
        </pc:picChg>
        <pc:picChg chg="del">
          <ac:chgData name="Aira Mahsyura" userId="d9c01d6339f22300" providerId="LiveId" clId="{52502621-B558-4CE3-9CB6-76AA6C3E6A5F}" dt="2025-10-22T06:37:35.306" v="102" actId="478"/>
          <ac:picMkLst>
            <pc:docMk/>
            <pc:sldMk cId="0" sldId="287"/>
            <ac:picMk id="269"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plantuml.com/plantuml/uml/TP7DQeGm4CVlynI3f_RW2nHQn59QUf12ds3KgH_632Jn86NVVMVPoBgH5Hp8x_-Ha1G-a0lBR00QGzxZ3pil5ly1zViDRh0T_WtEXufctaD3H-Pf_M9Zv2ckhUhFYU5Jf2rNlhUS0AGUkGd8au3--7BR5Lyn-vWaYznGWhVeA9hLSGX_YzfKESIhfNFIxohgfHtWCjAAKbcsAMa5zQGLyURo_0sl1trtJ87tV9G7GYoE0XHiMtsJCm00"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plantuml.com/plantuml/uml/NP312i8m44Jl-Oeb9ptq1mIbKWGldXGyRzjG8ib6qbImuh_RR4jIp27BliaCGye-e0-3DQ8nsFTGeOUFWEbSWzVK0Q5LwxtsI2q3TfweqwGssuMuPm9V8LpzK4q0V26DAEO1Euw4FSWZ0va5pexApRrTG9aJZCLHyBtsnrqcdDptmKnDizkwMXljn39N2PUPo2pbbBEZDbQ8Fr8K1yXFAgymg2Ia-l-SUoLSAce7Qtu0"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a20aa56cc7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a20aa56cc7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a20aa56cc7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a20aa56cc7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a20aa56cc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a20aa56cc7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a20aa56cc7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a20aa56cc7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a20aa56cc7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a20aa56cc7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u="sng">
                <a:solidFill>
                  <a:schemeClr val="hlink"/>
                </a:solidFill>
                <a:hlinkClick r:id="rId3"/>
              </a:rPr>
              <a:t>http://www.plantuml.com/plantuml/uml/TP7DQeGm4CVlynI3f_RW2nHQn59QUf12ds3KgH_632Jn86NVVMVPoBgH5Hp8x_-Ha1G-a0lBR00QGzxZ3pil5ly1zViDRh0T_WtEXufctaD3H-Pf_M9Zv2ckhUhFYU5Jf2rNlhUS0AGUkGd8au3--7BR5Lyn-vWaYznGWhVeA9hLSGX_YzfKESIhfNFIxohgfHtWCjAAKbcsAMa5zQGLyURo_0sl1trtJ87tV9G7GYoE0XHiMtsJCm00</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a20aa56cc7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a20aa56cc7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u="sng">
                <a:solidFill>
                  <a:schemeClr val="hlink"/>
                </a:solidFill>
                <a:hlinkClick r:id="rId3"/>
              </a:rPr>
              <a:t>http://www.plantuml.com/plantuml/uml/NP312i8m44Jl-Oeb9ptq1mIbKWGldXGyRzjG8ib6qbImuh_RR4jIp27BliaCGye-e0-3DQ8nsFTGeOUFWEbSWzVK0Q5LwxtsI2q3TfweqwGssuMuPm9V8LpzK4q0V26DAEO1Euw4FSWZ0va5pexApRrTG9aJZCLHyBtsnrqcdDptmKnDizkwMXljn39N2PUPo2pbbBEZDbQ8Fr8K1yXFAgymg2Ia-l-SUoLSAce7Qtu0</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a20aa56cc7_0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a20aa56cc7_0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a20aa56cc7_0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a20aa56cc7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a20aa56cc7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a20aa56cc7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a20aa56cc7_0_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a20aa56cc7_0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a20aa56cc7_0_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a20aa56cc7_0_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a20aa56cc7_0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a20aa56cc7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a20aa56cc7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a20aa56cc7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20aa56cc7_0_2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20aa56cc7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a20aa56cc7_0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a20aa56cc7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a20aa56cc7_0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a20aa56cc7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a20aa56cc7_0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a20aa56cc7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a2b7f8907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a2b7f8907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a2b7f8907c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a2b7f8907c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a2b7f8907c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a2b7f8907c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a2b7f8907c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a2b7f8907c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a2b7f8907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a2b7f8907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a2b7f8907c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a2b7f8907c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a20aa56cc7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a20aa56cc7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a20aa56cc7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a20aa56cc7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a20aa56cc7_0_2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a20aa56cc7_0_2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a20aa56cc7_0_2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a20aa56cc7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a20aa56cc7_0_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a20aa56cc7_0_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a2fb43f7e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a2fb43f7e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a2fb43f7e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a2fb43f7e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a20aa56cc7_0_3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a20aa56cc7_0_3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a2b7f8907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a2b7f8907c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a2b7f8907c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a2b7f8907c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a2b7f8907c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a2b7f8907c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a2b7f8907c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a2b7f8907c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a2b7f8907c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a2b7f8907c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a2b7f8907c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a2b7f8907c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a2b7f8907c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a2b7f8907c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a2b7f8907c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a2b7f8907c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a20aa56cc7_0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a20aa56cc7_0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a2fb43f7e2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a2fb43f7e2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a2fb43f7e2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a2fb43f7e2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a2fb43f7e2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a2fb43f7e2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a20aa56cc7_0_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a20aa56cc7_0_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a2b7f8907c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a2b7f8907c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a2b7f8907c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a2b7f8907c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a20aa56cc7_0_3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a20aa56cc7_0_3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a2fb43f7e2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a2fb43f7e2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a2fb43f7e2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a2fb43f7e2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a2fb43f7e2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a2fb43f7e2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a2b7f8907c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a2b7f8907c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a2b7f8907c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a2b7f8907c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a2b7f8907c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a2b7f8907c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a2b7f8907c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a2b7f8907c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a2b7f8907c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a2b7f8907c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a2b7f8907c_0_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a2b7f8907c_0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a2b7f8907c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a2b7f8907c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a2b7f8907c_0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a2b7f8907c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a2b7f8907c_0_2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a2b7f8907c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a2b7f8907c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a2b7f8907c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a2b7f8907c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a2b7f8907c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a2b7f8907c_0_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 name="Google Shape;468;ga2b7f8907c_0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a2b7f8907c_0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a2b7f8907c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a2b7f8907c_0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a2b7f8907c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a2b7f8907c_0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a2b7f8907c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a2b7f8907c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a2b7f8907c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a2b7f8907c_0_2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a2b7f8907c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a20aa56cc7_0_3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a20aa56cc7_0_3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a2fb43f7e2_0_7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a2fb43f7e2_0_7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a2fb43f7e2_0_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a2fb43f7e2_0_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a2fb43f7e2_0_7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a2fb43f7e2_0_7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a2fb43f7e2_0_7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a2fb43f7e2_0_7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a20aa56cc7_0_3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a20aa56cc7_0_3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a2fb43f7e2_0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a2fb43f7e2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a2fb43f7e2_0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a2fb43f7e2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a2fb43f7e2_0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a2fb43f7e2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a20aa56cc7_0_3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a20aa56cc7_0_3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a2fb43f7e2_0_3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a2fb43f7e2_0_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a2fb43f7e2_0_3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a2fb43f7e2_0_3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a20aa56cc7_0_3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a20aa56cc7_0_3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a2fb43f7e2_0_4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a2fb43f7e2_0_4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a2fb43f7e2_0_4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a2fb43f7e2_0_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a2fb43f7e2_0_4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a2fb43f7e2_0_4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a2b7f8907c_0_2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a2b7f8907c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ga20aa56cc7_0_3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a20aa56cc7_0_3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a2fb43f7e2_0_5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2fb43f7e2_0_5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a2fb43f7e2_0_5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 name="Google Shape;614;ga2fb43f7e2_0_5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a2fb43f7e2_0_5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0" name="Google Shape;620;ga2fb43f7e2_0_5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a2fb43f7e2_0_5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ga2fb43f7e2_0_5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a20aa56cc7_0_4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 name="Google Shape;632;ga20aa56cc7_0_4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a2fb43f7e2_0_6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 name="Google Shape;637;ga2fb43f7e2_0_6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a2fb43f7e2_0_6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3" name="Google Shape;643;ga2fb43f7e2_0_6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a20aa56cc7_0_5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a20aa56cc7_0_5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a2fb43f7e2_0_8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 name="Google Shape;654;ga2fb43f7e2_0_8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a2fb43f7e2_0_8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a2fb43f7e2_0_8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ga2fb43f7e2_0_8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6" name="Google Shape;666;ga2fb43f7e2_0_8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a20aa56cc7_0_5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2" name="Google Shape;672;ga20aa56cc7_0_5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a2fb43f7e2_0_9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ga2fb43f7e2_0_9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a2fb43f7e2_0_9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3" name="Google Shape;683;ga2fb43f7e2_0_9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a2fb43f7e2_0_9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9" name="Google Shape;689;ga2fb43f7e2_0_9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a20aa56cc7_0_6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5" name="Google Shape;695;ga20aa56cc7_0_6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a2fb43f7e2_0_1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a2fb43f7e2_0_1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a2fb43f7e2_0_10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a2fb43f7e2_0_10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a2fb43f7e2_0_10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2" name="Google Shape;712;ga2fb43f7e2_0_10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a2fb43f7e2_0_10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a2fb43f7e2_0_10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a2b7f8907c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5" name="Google Shape;725;ga2b7f8907c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a2fb43f7e2_0_10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 name="Google Shape;731;ga2fb43f7e2_0_10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a2fb43f7e2_0_10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a2fb43f7e2_0_1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a2fb43f7e2_0_1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a2fb43f7e2_0_1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a2fb43f7e2_0_1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a2fb43f7e2_0_1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a2fb43f7e2_0_1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a2fb43f7e2_0_1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a20aa56cc7_0_7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0" name="Google Shape;760;ga20aa56cc7_0_7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a2fb43f7e2_0_1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5" name="Google Shape;765;ga2fb43f7e2_0_1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a2fb43f7e2_0_1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1" name="Google Shape;771;ga2fb43f7e2_0_1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a2fb43f7e2_0_1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7" name="Google Shape;777;ga2fb43f7e2_0_1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a20aa56cc7_0_8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a20aa56cc7_0_8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a2b7f8907c_0_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8" name="Google Shape;788;ga2b7f8907c_0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a2b7f8907c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4" name="Google Shape;794;ga2b7f8907c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a2b7f8907c_0_3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0" name="Google Shape;800;ga2b7f8907c_0_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a2b7f8907c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a2b7f8907c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a2b7f8907c_0_3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2" name="Google Shape;812;ga2b7f8907c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a2b7f8907c_0_3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8" name="Google Shape;818;ga2b7f8907c_0_3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a2b7f8907c_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4" name="Google Shape;824;ga2b7f8907c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a2b7f8907c_0_3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9" name="Google Shape;829;ga2b7f8907c_0_3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a2b7f8907c_0_4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5" name="Google Shape;835;ga2b7f8907c_0_4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a2b7f8907c_0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1" name="Google Shape;841;ga2b7f8907c_0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a2b7f8907c_0_3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7" name="Google Shape;847;ga2b7f8907c_0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a2b7f8907c_0_4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3" name="Google Shape;853;ga2b7f8907c_0_4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a2b7f8907c_0_4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9" name="Google Shape;859;ga2b7f8907c_0_4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a2b7f8907c_0_3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a2b7f8907c_0_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a2b7f8907c_0_3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0" name="Google Shape;870;ga2b7f8907c_0_3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a2b7f8907c_0_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a2b7f8907c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a2b7f8907c_0_4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a2b7f8907c_0_4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a2b7f8907c_0_3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9" name="Google Shape;889;ga2b7f8907c_0_3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a2b7f8907c_0_4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a2b7f8907c_0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a2b7f8907c_0_4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a2b7f8907c_0_4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a2fb43f7e2_0_13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a2fb43f7e2_0_1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a2fb43f7e2_0_13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1" name="Google Shape;911;ga2fb43f7e2_0_13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a2fb43f7e2_0_1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7" name="Google Shape;917;ga2fb43f7e2_0_1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a2fb43f7e2_0_13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3" name="Google Shape;923;ga2fb43f7e2_0_13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a2fb43f7e2_0_1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8" name="Google Shape;928;ga2fb43f7e2_0_1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a2fb43f7e2_0_13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4" name="Google Shape;934;ga2fb43f7e2_0_1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a2fb43f7e2_0_14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0" name="Google Shape;940;ga2fb43f7e2_0_14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a2fb43f7e2_0_14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5" name="Google Shape;945;ga2fb43f7e2_0_14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a2fb43f7e2_0_14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1" name="Google Shape;951;ga2fb43f7e2_0_14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a2b7f8907c_0_4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7" name="Google Shape;957;ga2b7f8907c_0_4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a2b7f8907c_0_4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3" name="Google Shape;963;ga2b7f8907c_0_4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a2fb43f7e2_0_15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9" name="Google Shape;969;ga2fb43f7e2_0_1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a2fb43f7e2_0_15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4" name="Google Shape;974;ga2fb43f7e2_0_15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a2fb43f7e2_0_15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0" name="Google Shape;980;ga2fb43f7e2_0_15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a2fb43f7e2_0_15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6" name="Google Shape;986;ga2fb43f7e2_0_1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a2fb43f7e2_0_16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2" name="Google Shape;992;ga2fb43f7e2_0_16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a2b7f8907c_0_4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7" name="Google Shape;997;ga2b7f8907c_0_4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a2b7f8907c_0_4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3" name="Google Shape;1003;ga2b7f8907c_0_4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a2fb43f7e2_0_17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9" name="Google Shape;1009;ga2fb43f7e2_0_17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a2b7f8907c_0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4" name="Google Shape;1014;ga2b7f8907c_0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ace084c32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0" name="Google Shape;1020;gace084c32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ace084c327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6" name="Google Shape;1026;gace084c327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ace084c327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2" name="Google Shape;1032;gace084c327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ace084c327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8" name="Google Shape;1038;gace084c327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gace084c327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3" name="Google Shape;1043;gace084c327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ace084c327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9" name="Google Shape;1049;gace084c327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a2fb43f7e2_0_17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a2fb43f7e2_0_17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ga2b7f8907c_0_5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0" name="Google Shape;1060;ga2b7f8907c_0_5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gace084c327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6" name="Google Shape;1066;gace084c327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gace084c327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2" name="Google Shape;1072;gace084c327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gace084c327_1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8" name="Google Shape;1078;gace084c327_1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ga2fb43f7e2_0_17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4" name="Google Shape;1084;ga2fb43f7e2_0_17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ga2b7f8907c_0_5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9" name="Google Shape;1089;ga2b7f8907c_0_5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gace084c327_1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5" name="Google Shape;1095;gace084c327_1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
        <p:cNvGrpSpPr/>
        <p:nvPr/>
      </p:nvGrpSpPr>
      <p:grpSpPr>
        <a:xfrm>
          <a:off x="0" y="0"/>
          <a:ext cx="0" cy="0"/>
          <a:chOff x="0" y="0"/>
          <a:chExt cx="0" cy="0"/>
        </a:xfrm>
      </p:grpSpPr>
      <p:sp>
        <p:nvSpPr>
          <p:cNvPr id="1100" name="Google Shape;1100;ga2b7f8907c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1" name="Google Shape;1101;ga2b7f8907c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ga2b7f8907c_0_5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 name="Google Shape;1106;ga2b7f8907c_0_5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ace084c327_1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ace084c327_1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ace084c327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ace084c327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gace084c327_1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4" name="Google Shape;1124;gace084c327_1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gace084c327_1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0" name="Google Shape;1130;gace084c327_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ace084c327_1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6" name="Google Shape;1136;gace084c327_1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gace084c327_1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2" name="Google Shape;1142;gace084c327_1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gace084c327_1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8" name="Google Shape;1148;gace084c327_1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2"/>
        <p:cNvGrpSpPr/>
        <p:nvPr/>
      </p:nvGrpSpPr>
      <p:grpSpPr>
        <a:xfrm>
          <a:off x="0" y="0"/>
          <a:ext cx="0" cy="0"/>
          <a:chOff x="0" y="0"/>
          <a:chExt cx="0" cy="0"/>
        </a:xfrm>
      </p:grpSpPr>
      <p:sp>
        <p:nvSpPr>
          <p:cNvPr id="1153" name="Google Shape;1153;ga2b7f8907c_0_5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4" name="Google Shape;1154;ga2b7f8907c_0_5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7"/>
        <p:cNvGrpSpPr/>
        <p:nvPr/>
      </p:nvGrpSpPr>
      <p:grpSpPr>
        <a:xfrm>
          <a:off x="0" y="0"/>
          <a:ext cx="0" cy="0"/>
          <a:chOff x="0" y="0"/>
          <a:chExt cx="0" cy="0"/>
        </a:xfrm>
      </p:grpSpPr>
      <p:sp>
        <p:nvSpPr>
          <p:cNvPr id="1158" name="Google Shape;1158;ga2b7f8907c_0_5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9" name="Google Shape;1159;ga2b7f8907c_0_5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ace084c327_1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ace084c327_1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Google Shape;1170;gace084c327_1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1" name="Google Shape;1171;gace084c327_1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5"/>
        <p:cNvGrpSpPr/>
        <p:nvPr/>
      </p:nvGrpSpPr>
      <p:grpSpPr>
        <a:xfrm>
          <a:off x="0" y="0"/>
          <a:ext cx="0" cy="0"/>
          <a:chOff x="0" y="0"/>
          <a:chExt cx="0" cy="0"/>
        </a:xfrm>
      </p:grpSpPr>
      <p:sp>
        <p:nvSpPr>
          <p:cNvPr id="1176" name="Google Shape;1176;gace084c327_1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7" name="Google Shape;1177;gace084c327_1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2"/>
        <p:cNvGrpSpPr/>
        <p:nvPr/>
      </p:nvGrpSpPr>
      <p:grpSpPr>
        <a:xfrm>
          <a:off x="0" y="0"/>
          <a:ext cx="0" cy="0"/>
          <a:chOff x="0" y="0"/>
          <a:chExt cx="0" cy="0"/>
        </a:xfrm>
      </p:grpSpPr>
      <p:sp>
        <p:nvSpPr>
          <p:cNvPr id="1183" name="Google Shape;1183;gace084c327_1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4" name="Google Shape;1184;gace084c327_1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8"/>
        <p:cNvGrpSpPr/>
        <p:nvPr/>
      </p:nvGrpSpPr>
      <p:grpSpPr>
        <a:xfrm>
          <a:off x="0" y="0"/>
          <a:ext cx="0" cy="0"/>
          <a:chOff x="0" y="0"/>
          <a:chExt cx="0" cy="0"/>
        </a:xfrm>
      </p:grpSpPr>
      <p:sp>
        <p:nvSpPr>
          <p:cNvPr id="1189" name="Google Shape;1189;gace084c327_1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0" name="Google Shape;1190;gace084c327_1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4"/>
        <p:cNvGrpSpPr/>
        <p:nvPr/>
      </p:nvGrpSpPr>
      <p:grpSpPr>
        <a:xfrm>
          <a:off x="0" y="0"/>
          <a:ext cx="0" cy="0"/>
          <a:chOff x="0" y="0"/>
          <a:chExt cx="0" cy="0"/>
        </a:xfrm>
      </p:grpSpPr>
      <p:sp>
        <p:nvSpPr>
          <p:cNvPr id="1195" name="Google Shape;1195;gace084c327_1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6" name="Google Shape;1196;gace084c327_1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0"/>
        <p:cNvGrpSpPr/>
        <p:nvPr/>
      </p:nvGrpSpPr>
      <p:grpSpPr>
        <a:xfrm>
          <a:off x="0" y="0"/>
          <a:ext cx="0" cy="0"/>
          <a:chOff x="0" y="0"/>
          <a:chExt cx="0" cy="0"/>
        </a:xfrm>
      </p:grpSpPr>
      <p:sp>
        <p:nvSpPr>
          <p:cNvPr id="1201" name="Google Shape;1201;ga2fb43f7e2_0_17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2" name="Google Shape;1202;ga2fb43f7e2_0_17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5"/>
        <p:cNvGrpSpPr/>
        <p:nvPr/>
      </p:nvGrpSpPr>
      <p:grpSpPr>
        <a:xfrm>
          <a:off x="0" y="0"/>
          <a:ext cx="0" cy="0"/>
          <a:chOff x="0" y="0"/>
          <a:chExt cx="0" cy="0"/>
        </a:xfrm>
      </p:grpSpPr>
      <p:sp>
        <p:nvSpPr>
          <p:cNvPr id="1206" name="Google Shape;1206;ga2b7f8907c_0_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7" name="Google Shape;1207;ga2b7f8907c_0_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1"/>
        <p:cNvGrpSpPr/>
        <p:nvPr/>
      </p:nvGrpSpPr>
      <p:grpSpPr>
        <a:xfrm>
          <a:off x="0" y="0"/>
          <a:ext cx="0" cy="0"/>
          <a:chOff x="0" y="0"/>
          <a:chExt cx="0" cy="0"/>
        </a:xfrm>
      </p:grpSpPr>
      <p:sp>
        <p:nvSpPr>
          <p:cNvPr id="1212" name="Google Shape;1212;gace084c327_1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3" name="Google Shape;1213;gace084c327_1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7"/>
        <p:cNvGrpSpPr/>
        <p:nvPr/>
      </p:nvGrpSpPr>
      <p:grpSpPr>
        <a:xfrm>
          <a:off x="0" y="0"/>
          <a:ext cx="0" cy="0"/>
          <a:chOff x="0" y="0"/>
          <a:chExt cx="0" cy="0"/>
        </a:xfrm>
      </p:grpSpPr>
      <p:sp>
        <p:nvSpPr>
          <p:cNvPr id="1218" name="Google Shape;1218;gace084c327_1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9" name="Google Shape;1219;gace084c327_1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4"/>
        <p:cNvGrpSpPr/>
        <p:nvPr/>
      </p:nvGrpSpPr>
      <p:grpSpPr>
        <a:xfrm>
          <a:off x="0" y="0"/>
          <a:ext cx="0" cy="0"/>
          <a:chOff x="0" y="0"/>
          <a:chExt cx="0" cy="0"/>
        </a:xfrm>
      </p:grpSpPr>
      <p:sp>
        <p:nvSpPr>
          <p:cNvPr id="1225" name="Google Shape;1225;gace084c327_1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6" name="Google Shape;1226;gace084c327_1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0"/>
        <p:cNvGrpSpPr/>
        <p:nvPr/>
      </p:nvGrpSpPr>
      <p:grpSpPr>
        <a:xfrm>
          <a:off x="0" y="0"/>
          <a:ext cx="0" cy="0"/>
          <a:chOff x="0" y="0"/>
          <a:chExt cx="0" cy="0"/>
        </a:xfrm>
      </p:grpSpPr>
      <p:sp>
        <p:nvSpPr>
          <p:cNvPr id="1231" name="Google Shape;1231;gace084c327_1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2" name="Google Shape;1232;gace084c327_1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6"/>
        <p:cNvGrpSpPr/>
        <p:nvPr/>
      </p:nvGrpSpPr>
      <p:grpSpPr>
        <a:xfrm>
          <a:off x="0" y="0"/>
          <a:ext cx="0" cy="0"/>
          <a:chOff x="0" y="0"/>
          <a:chExt cx="0" cy="0"/>
        </a:xfrm>
      </p:grpSpPr>
      <p:sp>
        <p:nvSpPr>
          <p:cNvPr id="1237" name="Google Shape;1237;gace084c327_1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8" name="Google Shape;1238;gace084c327_1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2"/>
        <p:cNvGrpSpPr/>
        <p:nvPr/>
      </p:nvGrpSpPr>
      <p:grpSpPr>
        <a:xfrm>
          <a:off x="0" y="0"/>
          <a:ext cx="0" cy="0"/>
          <a:chOff x="0" y="0"/>
          <a:chExt cx="0" cy="0"/>
        </a:xfrm>
      </p:grpSpPr>
      <p:sp>
        <p:nvSpPr>
          <p:cNvPr id="1243" name="Google Shape;1243;gace084c327_1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4" name="Google Shape;1244;gace084c327_1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9"/>
        <p:cNvGrpSpPr/>
        <p:nvPr/>
      </p:nvGrpSpPr>
      <p:grpSpPr>
        <a:xfrm>
          <a:off x="0" y="0"/>
          <a:ext cx="0" cy="0"/>
          <a:chOff x="0" y="0"/>
          <a:chExt cx="0" cy="0"/>
        </a:xfrm>
      </p:grpSpPr>
      <p:sp>
        <p:nvSpPr>
          <p:cNvPr id="1250" name="Google Shape;1250;gace084c327_1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1" name="Google Shape;1251;gace084c327_1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4"/>
        <p:cNvGrpSpPr/>
        <p:nvPr/>
      </p:nvGrpSpPr>
      <p:grpSpPr>
        <a:xfrm>
          <a:off x="0" y="0"/>
          <a:ext cx="0" cy="0"/>
          <a:chOff x="0" y="0"/>
          <a:chExt cx="0" cy="0"/>
        </a:xfrm>
      </p:grpSpPr>
      <p:sp>
        <p:nvSpPr>
          <p:cNvPr id="1255" name="Google Shape;1255;gace084c327_1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6" name="Google Shape;1256;gace084c327_1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0"/>
        <p:cNvGrpSpPr/>
        <p:nvPr/>
      </p:nvGrpSpPr>
      <p:grpSpPr>
        <a:xfrm>
          <a:off x="0" y="0"/>
          <a:ext cx="0" cy="0"/>
          <a:chOff x="0" y="0"/>
          <a:chExt cx="0" cy="0"/>
        </a:xfrm>
      </p:grpSpPr>
      <p:sp>
        <p:nvSpPr>
          <p:cNvPr id="1261" name="Google Shape;1261;gace084c327_1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2" name="Google Shape;1262;gace084c327_1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6"/>
        <p:cNvGrpSpPr/>
        <p:nvPr/>
      </p:nvGrpSpPr>
      <p:grpSpPr>
        <a:xfrm>
          <a:off x="0" y="0"/>
          <a:ext cx="0" cy="0"/>
          <a:chOff x="0" y="0"/>
          <a:chExt cx="0" cy="0"/>
        </a:xfrm>
      </p:grpSpPr>
      <p:sp>
        <p:nvSpPr>
          <p:cNvPr id="1267" name="Google Shape;1267;gace084c327_1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8" name="Google Shape;1268;gace084c327_1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2"/>
        <p:cNvGrpSpPr/>
        <p:nvPr/>
      </p:nvGrpSpPr>
      <p:grpSpPr>
        <a:xfrm>
          <a:off x="0" y="0"/>
          <a:ext cx="0" cy="0"/>
          <a:chOff x="0" y="0"/>
          <a:chExt cx="0" cy="0"/>
        </a:xfrm>
      </p:grpSpPr>
      <p:sp>
        <p:nvSpPr>
          <p:cNvPr id="1273" name="Google Shape;1273;gace084c327_1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4" name="Google Shape;1274;gace084c327_1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8"/>
        <p:cNvGrpSpPr/>
        <p:nvPr/>
      </p:nvGrpSpPr>
      <p:grpSpPr>
        <a:xfrm>
          <a:off x="0" y="0"/>
          <a:ext cx="0" cy="0"/>
          <a:chOff x="0" y="0"/>
          <a:chExt cx="0" cy="0"/>
        </a:xfrm>
      </p:grpSpPr>
      <p:sp>
        <p:nvSpPr>
          <p:cNvPr id="1279" name="Google Shape;1279;gace084c327_1_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0" name="Google Shape;1280;gace084c327_1_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4"/>
        <p:cNvGrpSpPr/>
        <p:nvPr/>
      </p:nvGrpSpPr>
      <p:grpSpPr>
        <a:xfrm>
          <a:off x="0" y="0"/>
          <a:ext cx="0" cy="0"/>
          <a:chOff x="0" y="0"/>
          <a:chExt cx="0" cy="0"/>
        </a:xfrm>
      </p:grpSpPr>
      <p:sp>
        <p:nvSpPr>
          <p:cNvPr id="1285" name="Google Shape;1285;gace084c327_1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6" name="Google Shape;1286;gace084c327_1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gace084c327_1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2" name="Google Shape;1292;gace084c327_1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6"/>
        <p:cNvGrpSpPr/>
        <p:nvPr/>
      </p:nvGrpSpPr>
      <p:grpSpPr>
        <a:xfrm>
          <a:off x="0" y="0"/>
          <a:ext cx="0" cy="0"/>
          <a:chOff x="0" y="0"/>
          <a:chExt cx="0" cy="0"/>
        </a:xfrm>
      </p:grpSpPr>
      <p:sp>
        <p:nvSpPr>
          <p:cNvPr id="1297" name="Google Shape;1297;gace084c327_1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8" name="Google Shape;1298;gace084c327_1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2"/>
        <p:cNvGrpSpPr/>
        <p:nvPr/>
      </p:nvGrpSpPr>
      <p:grpSpPr>
        <a:xfrm>
          <a:off x="0" y="0"/>
          <a:ext cx="0" cy="0"/>
          <a:chOff x="0" y="0"/>
          <a:chExt cx="0" cy="0"/>
        </a:xfrm>
      </p:grpSpPr>
      <p:sp>
        <p:nvSpPr>
          <p:cNvPr id="1303" name="Google Shape;1303;gace084c327_1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4" name="Google Shape;1304;gace084c327_1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gace084c327_1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0" name="Google Shape;1310;gace084c327_1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4"/>
        <p:cNvGrpSpPr/>
        <p:nvPr/>
      </p:nvGrpSpPr>
      <p:grpSpPr>
        <a:xfrm>
          <a:off x="0" y="0"/>
          <a:ext cx="0" cy="0"/>
          <a:chOff x="0" y="0"/>
          <a:chExt cx="0" cy="0"/>
        </a:xfrm>
      </p:grpSpPr>
      <p:sp>
        <p:nvSpPr>
          <p:cNvPr id="1315" name="Google Shape;1315;gace084c327_1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6" name="Google Shape;1316;gace084c327_1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0"/>
        <p:cNvGrpSpPr/>
        <p:nvPr/>
      </p:nvGrpSpPr>
      <p:grpSpPr>
        <a:xfrm>
          <a:off x="0" y="0"/>
          <a:ext cx="0" cy="0"/>
          <a:chOff x="0" y="0"/>
          <a:chExt cx="0" cy="0"/>
        </a:xfrm>
      </p:grpSpPr>
      <p:sp>
        <p:nvSpPr>
          <p:cNvPr id="1321" name="Google Shape;1321;ga2fb43f7e2_0_1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2" name="Google Shape;1322;ga2fb43f7e2_0_1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5"/>
        <p:cNvGrpSpPr/>
        <p:nvPr/>
      </p:nvGrpSpPr>
      <p:grpSpPr>
        <a:xfrm>
          <a:off x="0" y="0"/>
          <a:ext cx="0" cy="0"/>
          <a:chOff x="0" y="0"/>
          <a:chExt cx="0" cy="0"/>
        </a:xfrm>
      </p:grpSpPr>
      <p:sp>
        <p:nvSpPr>
          <p:cNvPr id="1326" name="Google Shape;1326;ga2fb43f7e2_0_17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7" name="Google Shape;1327;ga2fb43f7e2_0_17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1"/>
        <p:cNvGrpSpPr/>
        <p:nvPr/>
      </p:nvGrpSpPr>
      <p:grpSpPr>
        <a:xfrm>
          <a:off x="0" y="0"/>
          <a:ext cx="0" cy="0"/>
          <a:chOff x="0" y="0"/>
          <a:chExt cx="0" cy="0"/>
        </a:xfrm>
      </p:grpSpPr>
      <p:sp>
        <p:nvSpPr>
          <p:cNvPr id="1332" name="Google Shape;1332;ga2fb43f7e2_0_17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3" name="Google Shape;1333;ga2fb43f7e2_0_17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7"/>
        <p:cNvGrpSpPr/>
        <p:nvPr/>
      </p:nvGrpSpPr>
      <p:grpSpPr>
        <a:xfrm>
          <a:off x="0" y="0"/>
          <a:ext cx="0" cy="0"/>
          <a:chOff x="0" y="0"/>
          <a:chExt cx="0" cy="0"/>
        </a:xfrm>
      </p:grpSpPr>
      <p:sp>
        <p:nvSpPr>
          <p:cNvPr id="1338" name="Google Shape;1338;ga2fb43f7e2_0_17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9" name="Google Shape;1339;ga2fb43f7e2_0_17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3"/>
        <p:cNvGrpSpPr/>
        <p:nvPr/>
      </p:nvGrpSpPr>
      <p:grpSpPr>
        <a:xfrm>
          <a:off x="0" y="0"/>
          <a:ext cx="0" cy="0"/>
          <a:chOff x="0" y="0"/>
          <a:chExt cx="0" cy="0"/>
        </a:xfrm>
      </p:grpSpPr>
      <p:sp>
        <p:nvSpPr>
          <p:cNvPr id="1344" name="Google Shape;1344;ga2fb43f7e2_0_17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5" name="Google Shape;1345;ga2fb43f7e2_0_17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9"/>
        <p:cNvGrpSpPr/>
        <p:nvPr/>
      </p:nvGrpSpPr>
      <p:grpSpPr>
        <a:xfrm>
          <a:off x="0" y="0"/>
          <a:ext cx="0" cy="0"/>
          <a:chOff x="0" y="0"/>
          <a:chExt cx="0" cy="0"/>
        </a:xfrm>
      </p:grpSpPr>
      <p:sp>
        <p:nvSpPr>
          <p:cNvPr id="1350" name="Google Shape;1350;ga2fb43f7e2_0_17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1" name="Google Shape;1351;ga2fb43f7e2_0_17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5"/>
        <p:cNvGrpSpPr/>
        <p:nvPr/>
      </p:nvGrpSpPr>
      <p:grpSpPr>
        <a:xfrm>
          <a:off x="0" y="0"/>
          <a:ext cx="0" cy="0"/>
          <a:chOff x="0" y="0"/>
          <a:chExt cx="0" cy="0"/>
        </a:xfrm>
      </p:grpSpPr>
      <p:sp>
        <p:nvSpPr>
          <p:cNvPr id="1356" name="Google Shape;1356;ga2fb43f7e2_0_17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7" name="Google Shape;1357;ga2fb43f7e2_0_17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1"/>
        <p:cNvGrpSpPr/>
        <p:nvPr/>
      </p:nvGrpSpPr>
      <p:grpSpPr>
        <a:xfrm>
          <a:off x="0" y="0"/>
          <a:ext cx="0" cy="0"/>
          <a:chOff x="0" y="0"/>
          <a:chExt cx="0" cy="0"/>
        </a:xfrm>
      </p:grpSpPr>
      <p:sp>
        <p:nvSpPr>
          <p:cNvPr id="1362" name="Google Shape;1362;ga2fb43f7e2_0_1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3" name="Google Shape;1363;ga2fb43f7e2_0_1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7"/>
        <p:cNvGrpSpPr/>
        <p:nvPr/>
      </p:nvGrpSpPr>
      <p:grpSpPr>
        <a:xfrm>
          <a:off x="0" y="0"/>
          <a:ext cx="0" cy="0"/>
          <a:chOff x="0" y="0"/>
          <a:chExt cx="0" cy="0"/>
        </a:xfrm>
      </p:grpSpPr>
      <p:sp>
        <p:nvSpPr>
          <p:cNvPr id="1368" name="Google Shape;1368;ga2fb43f7e2_0_18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9" name="Google Shape;1369;ga2fb43f7e2_0_18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3"/>
        <p:cNvGrpSpPr/>
        <p:nvPr/>
      </p:nvGrpSpPr>
      <p:grpSpPr>
        <a:xfrm>
          <a:off x="0" y="0"/>
          <a:ext cx="0" cy="0"/>
          <a:chOff x="0" y="0"/>
          <a:chExt cx="0" cy="0"/>
        </a:xfrm>
      </p:grpSpPr>
      <p:sp>
        <p:nvSpPr>
          <p:cNvPr id="1374" name="Google Shape;1374;ga2fb43f7e2_0_18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5" name="Google Shape;1375;ga2fb43f7e2_0_18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9"/>
        <p:cNvGrpSpPr/>
        <p:nvPr/>
      </p:nvGrpSpPr>
      <p:grpSpPr>
        <a:xfrm>
          <a:off x="0" y="0"/>
          <a:ext cx="0" cy="0"/>
          <a:chOff x="0" y="0"/>
          <a:chExt cx="0" cy="0"/>
        </a:xfrm>
      </p:grpSpPr>
      <p:sp>
        <p:nvSpPr>
          <p:cNvPr id="1380" name="Google Shape;1380;ga2fb43f7e2_0_18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1" name="Google Shape;1381;ga2fb43f7e2_0_18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5"/>
        <p:cNvGrpSpPr/>
        <p:nvPr/>
      </p:nvGrpSpPr>
      <p:grpSpPr>
        <a:xfrm>
          <a:off x="0" y="0"/>
          <a:ext cx="0" cy="0"/>
          <a:chOff x="0" y="0"/>
          <a:chExt cx="0" cy="0"/>
        </a:xfrm>
      </p:grpSpPr>
      <p:sp>
        <p:nvSpPr>
          <p:cNvPr id="1386" name="Google Shape;1386;gace084c327_1_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7" name="Google Shape;1387;gace084c327_1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1"/>
        <p:cNvGrpSpPr/>
        <p:nvPr/>
      </p:nvGrpSpPr>
      <p:grpSpPr>
        <a:xfrm>
          <a:off x="0" y="0"/>
          <a:ext cx="0" cy="0"/>
          <a:chOff x="0" y="0"/>
          <a:chExt cx="0" cy="0"/>
        </a:xfrm>
      </p:grpSpPr>
      <p:sp>
        <p:nvSpPr>
          <p:cNvPr id="1392" name="Google Shape;1392;gace084c327_1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3" name="Google Shape;1393;gace084c327_1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7"/>
        <p:cNvGrpSpPr/>
        <p:nvPr/>
      </p:nvGrpSpPr>
      <p:grpSpPr>
        <a:xfrm>
          <a:off x="0" y="0"/>
          <a:ext cx="0" cy="0"/>
          <a:chOff x="0" y="0"/>
          <a:chExt cx="0" cy="0"/>
        </a:xfrm>
      </p:grpSpPr>
      <p:sp>
        <p:nvSpPr>
          <p:cNvPr id="1398" name="Google Shape;1398;ga2b7f8907c_0_4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9" name="Google Shape;1399;ga2b7f8907c_0_4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2"/>
        <p:cNvGrpSpPr/>
        <p:nvPr/>
      </p:nvGrpSpPr>
      <p:grpSpPr>
        <a:xfrm>
          <a:off x="0" y="0"/>
          <a:ext cx="0" cy="0"/>
          <a:chOff x="0" y="0"/>
          <a:chExt cx="0" cy="0"/>
        </a:xfrm>
      </p:grpSpPr>
      <p:sp>
        <p:nvSpPr>
          <p:cNvPr id="1403" name="Google Shape;1403;ga2b7f8907c_0_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4" name="Google Shape;1404;ga2b7f8907c_0_4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8"/>
        <p:cNvGrpSpPr/>
        <p:nvPr/>
      </p:nvGrpSpPr>
      <p:grpSpPr>
        <a:xfrm>
          <a:off x="0" y="0"/>
          <a:ext cx="0" cy="0"/>
          <a:chOff x="0" y="0"/>
          <a:chExt cx="0" cy="0"/>
        </a:xfrm>
      </p:grpSpPr>
      <p:sp>
        <p:nvSpPr>
          <p:cNvPr id="1409" name="Google Shape;1409;gace084c327_1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0" name="Google Shape;1410;gace084c327_1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5"/>
        <p:cNvGrpSpPr/>
        <p:nvPr/>
      </p:nvGrpSpPr>
      <p:grpSpPr>
        <a:xfrm>
          <a:off x="0" y="0"/>
          <a:ext cx="0" cy="0"/>
          <a:chOff x="0" y="0"/>
          <a:chExt cx="0" cy="0"/>
        </a:xfrm>
      </p:grpSpPr>
      <p:sp>
        <p:nvSpPr>
          <p:cNvPr id="1416" name="Google Shape;1416;gace084c327_1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7" name="Google Shape;1417;gace084c327_1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1"/>
        <p:cNvGrpSpPr/>
        <p:nvPr/>
      </p:nvGrpSpPr>
      <p:grpSpPr>
        <a:xfrm>
          <a:off x="0" y="0"/>
          <a:ext cx="0" cy="0"/>
          <a:chOff x="0" y="0"/>
          <a:chExt cx="0" cy="0"/>
        </a:xfrm>
      </p:grpSpPr>
      <p:sp>
        <p:nvSpPr>
          <p:cNvPr id="1422" name="Google Shape;1422;gace084c327_1_3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3" name="Google Shape;1423;gace084c327_1_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gace084c327_1_3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9" name="Google Shape;1429;gace084c327_1_3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3"/>
        <p:cNvGrpSpPr/>
        <p:nvPr/>
      </p:nvGrpSpPr>
      <p:grpSpPr>
        <a:xfrm>
          <a:off x="0" y="0"/>
          <a:ext cx="0" cy="0"/>
          <a:chOff x="0" y="0"/>
          <a:chExt cx="0" cy="0"/>
        </a:xfrm>
      </p:grpSpPr>
      <p:sp>
        <p:nvSpPr>
          <p:cNvPr id="1434" name="Google Shape;1434;gace084c327_1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5" name="Google Shape;1435;gace084c327_1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p:cNvGrpSpPr/>
        <p:nvPr/>
      </p:nvGrpSpPr>
      <p:grpSpPr>
        <a:xfrm>
          <a:off x="0" y="0"/>
          <a:ext cx="0" cy="0"/>
          <a:chOff x="0" y="0"/>
          <a:chExt cx="0" cy="0"/>
        </a:xfrm>
      </p:grpSpPr>
      <p:sp>
        <p:nvSpPr>
          <p:cNvPr id="1439" name="Google Shape;1439;gace084c327_1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0" name="Google Shape;1440;gace084c327_1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4"/>
        <p:cNvGrpSpPr/>
        <p:nvPr/>
      </p:nvGrpSpPr>
      <p:grpSpPr>
        <a:xfrm>
          <a:off x="0" y="0"/>
          <a:ext cx="0" cy="0"/>
          <a:chOff x="0" y="0"/>
          <a:chExt cx="0" cy="0"/>
        </a:xfrm>
      </p:grpSpPr>
      <p:sp>
        <p:nvSpPr>
          <p:cNvPr id="1445" name="Google Shape;1445;gace084c327_1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6" name="Google Shape;1446;gace084c327_1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0"/>
        <p:cNvGrpSpPr/>
        <p:nvPr/>
      </p:nvGrpSpPr>
      <p:grpSpPr>
        <a:xfrm>
          <a:off x="0" y="0"/>
          <a:ext cx="0" cy="0"/>
          <a:chOff x="0" y="0"/>
          <a:chExt cx="0" cy="0"/>
        </a:xfrm>
      </p:grpSpPr>
      <p:sp>
        <p:nvSpPr>
          <p:cNvPr id="1451" name="Google Shape;1451;gace084c327_1_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2" name="Google Shape;1452;gace084c327_1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6"/>
        <p:cNvGrpSpPr/>
        <p:nvPr/>
      </p:nvGrpSpPr>
      <p:grpSpPr>
        <a:xfrm>
          <a:off x="0" y="0"/>
          <a:ext cx="0" cy="0"/>
          <a:chOff x="0" y="0"/>
          <a:chExt cx="0" cy="0"/>
        </a:xfrm>
      </p:grpSpPr>
      <p:sp>
        <p:nvSpPr>
          <p:cNvPr id="1457" name="Google Shape;1457;gace084c327_1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8" name="Google Shape;1458;gace084c327_1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1600"/>
              </a:spcBef>
              <a:spcAft>
                <a:spcPts val="0"/>
              </a:spcAft>
              <a:buClr>
                <a:schemeClr val="lt1"/>
              </a:buClr>
              <a:buSzPts val="1100"/>
              <a:buChar char="○"/>
              <a:defRPr>
                <a:solidFill>
                  <a:schemeClr val="lt1"/>
                </a:solidFill>
              </a:defRPr>
            </a:lvl2pPr>
            <a:lvl3pPr marL="1371600" lvl="2" indent="-298450">
              <a:spcBef>
                <a:spcPts val="1600"/>
              </a:spcBef>
              <a:spcAft>
                <a:spcPts val="0"/>
              </a:spcAft>
              <a:buClr>
                <a:schemeClr val="lt1"/>
              </a:buClr>
              <a:buSzPts val="1100"/>
              <a:buChar char="■"/>
              <a:defRPr>
                <a:solidFill>
                  <a:schemeClr val="lt1"/>
                </a:solidFill>
              </a:defRPr>
            </a:lvl3pPr>
            <a:lvl4pPr marL="1828800" lvl="3" indent="-298450">
              <a:spcBef>
                <a:spcPts val="1600"/>
              </a:spcBef>
              <a:spcAft>
                <a:spcPts val="0"/>
              </a:spcAft>
              <a:buClr>
                <a:schemeClr val="lt1"/>
              </a:buClr>
              <a:buSzPts val="1100"/>
              <a:buChar char="●"/>
              <a:defRPr>
                <a:solidFill>
                  <a:schemeClr val="lt1"/>
                </a:solidFill>
              </a:defRPr>
            </a:lvl4pPr>
            <a:lvl5pPr marL="2286000" lvl="4" indent="-298450">
              <a:spcBef>
                <a:spcPts val="1600"/>
              </a:spcBef>
              <a:spcAft>
                <a:spcPts val="0"/>
              </a:spcAft>
              <a:buClr>
                <a:schemeClr val="lt1"/>
              </a:buClr>
              <a:buSzPts val="1100"/>
              <a:buChar char="○"/>
              <a:defRPr>
                <a:solidFill>
                  <a:schemeClr val="lt1"/>
                </a:solidFill>
              </a:defRPr>
            </a:lvl5pPr>
            <a:lvl6pPr marL="2743200" lvl="5" indent="-298450">
              <a:spcBef>
                <a:spcPts val="1600"/>
              </a:spcBef>
              <a:spcAft>
                <a:spcPts val="0"/>
              </a:spcAft>
              <a:buClr>
                <a:schemeClr val="lt1"/>
              </a:buClr>
              <a:buSzPts val="1100"/>
              <a:buChar char="■"/>
              <a:defRPr>
                <a:solidFill>
                  <a:schemeClr val="lt1"/>
                </a:solidFill>
              </a:defRPr>
            </a:lvl6pPr>
            <a:lvl7pPr marL="3200400" lvl="6" indent="-298450">
              <a:spcBef>
                <a:spcPts val="1600"/>
              </a:spcBef>
              <a:spcAft>
                <a:spcPts val="0"/>
              </a:spcAft>
              <a:buClr>
                <a:schemeClr val="lt1"/>
              </a:buClr>
              <a:buSzPts val="1100"/>
              <a:buChar char="●"/>
              <a:defRPr>
                <a:solidFill>
                  <a:schemeClr val="lt1"/>
                </a:solidFill>
              </a:defRPr>
            </a:lvl7pPr>
            <a:lvl8pPr marL="3657600" lvl="7" indent="-298450">
              <a:spcBef>
                <a:spcPts val="1600"/>
              </a:spcBef>
              <a:spcAft>
                <a:spcPts val="0"/>
              </a:spcAft>
              <a:buClr>
                <a:schemeClr val="lt1"/>
              </a:buClr>
              <a:buSzPts val="1100"/>
              <a:buChar char="○"/>
              <a:defRPr>
                <a:solidFill>
                  <a:schemeClr val="lt1"/>
                </a:solidFill>
              </a:defRPr>
            </a:lvl8pPr>
            <a:lvl9pPr marL="4114800" lvl="8" indent="-298450">
              <a:spcBef>
                <a:spcPts val="1600"/>
              </a:spcBef>
              <a:spcAft>
                <a:spcPts val="160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800"/>
              <a:buFont typeface="Raleway"/>
              <a:buNone/>
              <a:defRPr sz="2800" b="1">
                <a:latin typeface="Raleway"/>
                <a:ea typeface="Raleway"/>
                <a:cs typeface="Raleway"/>
                <a:sym typeface="Raleway"/>
              </a:defRPr>
            </a:lvl1pPr>
            <a:lvl2pPr lvl="1">
              <a:spcBef>
                <a:spcPts val="0"/>
              </a:spcBef>
              <a:spcAft>
                <a:spcPts val="0"/>
              </a:spcAft>
              <a:buSzPts val="2800"/>
              <a:buFont typeface="Raleway"/>
              <a:buNone/>
              <a:defRPr sz="2800" b="1">
                <a:latin typeface="Raleway"/>
                <a:ea typeface="Raleway"/>
                <a:cs typeface="Raleway"/>
                <a:sym typeface="Raleway"/>
              </a:defRPr>
            </a:lvl2pPr>
            <a:lvl3pPr lvl="2">
              <a:spcBef>
                <a:spcPts val="0"/>
              </a:spcBef>
              <a:spcAft>
                <a:spcPts val="0"/>
              </a:spcAft>
              <a:buSzPts val="2800"/>
              <a:buFont typeface="Raleway"/>
              <a:buNone/>
              <a:defRPr sz="2800" b="1">
                <a:latin typeface="Raleway"/>
                <a:ea typeface="Raleway"/>
                <a:cs typeface="Raleway"/>
                <a:sym typeface="Raleway"/>
              </a:defRPr>
            </a:lvl3pPr>
            <a:lvl4pPr lvl="3">
              <a:spcBef>
                <a:spcPts val="0"/>
              </a:spcBef>
              <a:spcAft>
                <a:spcPts val="0"/>
              </a:spcAft>
              <a:buSzPts val="2800"/>
              <a:buFont typeface="Raleway"/>
              <a:buNone/>
              <a:defRPr sz="2800" b="1">
                <a:latin typeface="Raleway"/>
                <a:ea typeface="Raleway"/>
                <a:cs typeface="Raleway"/>
                <a:sym typeface="Raleway"/>
              </a:defRPr>
            </a:lvl4pPr>
            <a:lvl5pPr lvl="4">
              <a:spcBef>
                <a:spcPts val="0"/>
              </a:spcBef>
              <a:spcAft>
                <a:spcPts val="0"/>
              </a:spcAft>
              <a:buSzPts val="2800"/>
              <a:buFont typeface="Raleway"/>
              <a:buNone/>
              <a:defRPr sz="2800" b="1">
                <a:latin typeface="Raleway"/>
                <a:ea typeface="Raleway"/>
                <a:cs typeface="Raleway"/>
                <a:sym typeface="Raleway"/>
              </a:defRPr>
            </a:lvl5pPr>
            <a:lvl6pPr lvl="5">
              <a:spcBef>
                <a:spcPts val="0"/>
              </a:spcBef>
              <a:spcAft>
                <a:spcPts val="0"/>
              </a:spcAft>
              <a:buSzPts val="2800"/>
              <a:buFont typeface="Raleway"/>
              <a:buNone/>
              <a:defRPr sz="2800" b="1">
                <a:latin typeface="Raleway"/>
                <a:ea typeface="Raleway"/>
                <a:cs typeface="Raleway"/>
                <a:sym typeface="Raleway"/>
              </a:defRPr>
            </a:lvl6pPr>
            <a:lvl7pPr lvl="6">
              <a:spcBef>
                <a:spcPts val="0"/>
              </a:spcBef>
              <a:spcAft>
                <a:spcPts val="0"/>
              </a:spcAft>
              <a:buSzPts val="2800"/>
              <a:buFont typeface="Raleway"/>
              <a:buNone/>
              <a:defRPr sz="2800" b="1">
                <a:latin typeface="Raleway"/>
                <a:ea typeface="Raleway"/>
                <a:cs typeface="Raleway"/>
                <a:sym typeface="Raleway"/>
              </a:defRPr>
            </a:lvl7pPr>
            <a:lvl8pPr lvl="7">
              <a:spcBef>
                <a:spcPts val="0"/>
              </a:spcBef>
              <a:spcAft>
                <a:spcPts val="0"/>
              </a:spcAft>
              <a:buSzPts val="2800"/>
              <a:buFont typeface="Raleway"/>
              <a:buNone/>
              <a:defRPr sz="2800" b="1">
                <a:latin typeface="Raleway"/>
                <a:ea typeface="Raleway"/>
                <a:cs typeface="Raleway"/>
                <a:sym typeface="Raleway"/>
              </a:defRPr>
            </a:lvl8pPr>
            <a:lvl9pPr lvl="8">
              <a:spcBef>
                <a:spcPts val="0"/>
              </a:spcBef>
              <a:spcAft>
                <a:spcPts val="0"/>
              </a:spcAft>
              <a:buSzPts val="2800"/>
              <a:buFont typeface="Raleway"/>
              <a:buNone/>
              <a:defRPr sz="2800" b="1">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id"/>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0.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6.xml"/><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7.xm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1.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6.xml"/><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10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7.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15.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16.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19.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20.xml"/><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22.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23.xml"/><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26.xm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28.xml"/><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30.xml"/><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33.xml"/><Relationship Id="rId1" Type="http://schemas.openxmlformats.org/officeDocument/2006/relationships/slideLayout" Target="../slideLayouts/slideLayout3.xml"/><Relationship Id="rId4" Type="http://schemas.openxmlformats.org/officeDocument/2006/relationships/image" Target="../media/image62.png"/></Relationships>
</file>

<file path=ppt/slides/_rels/slide13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34.xml"/><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37.xml"/><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40.xml"/><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43.xml"/><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46.xml"/><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48.xml"/><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51.xml"/><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52.xml"/><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55.xml"/><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58.xml"/><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60.xml"/><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63.xml"/><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66.xml"/><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3.xml"/></Relationships>
</file>

<file path=ppt/slides/_rels/slide16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68.xml"/><Relationship Id="rId1" Type="http://schemas.openxmlformats.org/officeDocument/2006/relationships/slideLayout" Target="../slideLayouts/slideLayout3.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71.xml"/><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hyperlink" Target="https://www.php.net/manual/en/language.oop5.magic.php" TargetMode="External"/><Relationship Id="rId2" Type="http://schemas.openxmlformats.org/officeDocument/2006/relationships/notesSlide" Target="../notesSlides/notesSlide173.xml"/><Relationship Id="rId1" Type="http://schemas.openxmlformats.org/officeDocument/2006/relationships/slideLayout" Target="../slideLayouts/slideLayout3.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3.xml"/></Relationships>
</file>

<file path=ppt/slides/_rels/slide17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75.xml"/><Relationship Id="rId1" Type="http://schemas.openxmlformats.org/officeDocument/2006/relationships/slideLayout" Target="../slideLayouts/slideLayout3.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3.xml"/></Relationships>
</file>

<file path=ppt/slides/_rels/slide17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77.xml"/><Relationship Id="rId1" Type="http://schemas.openxmlformats.org/officeDocument/2006/relationships/slideLayout" Target="../slideLayouts/slideLayout3.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3.xml"/></Relationships>
</file>

<file path=ppt/slides/_rels/slide17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79.xml"/><Relationship Id="rId1" Type="http://schemas.openxmlformats.org/officeDocument/2006/relationships/slideLayout" Target="../slideLayouts/slideLayout3.xml"/></Relationships>
</file>

<file path=ppt/slides/_rels/slide180.xml.rels><?xml version="1.0" encoding="UTF-8" standalone="yes"?>
<Relationships xmlns="http://schemas.openxmlformats.org/package/2006/relationships"><Relationship Id="rId3" Type="http://schemas.openxmlformats.org/officeDocument/2006/relationships/hyperlink" Target="https://www.php.net/manual/en/language.oop5.magic.php" TargetMode="External"/><Relationship Id="rId2" Type="http://schemas.openxmlformats.org/officeDocument/2006/relationships/notesSlide" Target="../notesSlides/notesSlide180.xml"/><Relationship Id="rId1" Type="http://schemas.openxmlformats.org/officeDocument/2006/relationships/slideLayout" Target="../slideLayouts/slideLayout3.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3.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3.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3.xml"/></Relationships>
</file>

<file path=ppt/slides/_rels/slide18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85.xml"/><Relationship Id="rId1" Type="http://schemas.openxmlformats.org/officeDocument/2006/relationships/slideLayout" Target="../slideLayouts/slideLayout3.xml"/><Relationship Id="rId4" Type="http://schemas.openxmlformats.org/officeDocument/2006/relationships/image" Target="../media/image82.png"/></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3.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3.xml"/></Relationships>
</file>

<file path=ppt/slides/_rels/slide18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88.xml"/><Relationship Id="rId1" Type="http://schemas.openxmlformats.org/officeDocument/2006/relationships/slideLayout" Target="../slideLayouts/slideLayout3.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3.xml"/></Relationships>
</file>

<file path=ppt/slides/_rels/slide19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91.xml"/><Relationship Id="rId1" Type="http://schemas.openxmlformats.org/officeDocument/2006/relationships/slideLayout" Target="../slideLayouts/slideLayout3.xml"/></Relationships>
</file>

<file path=ppt/slides/_rels/slide19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92.xml"/><Relationship Id="rId1" Type="http://schemas.openxmlformats.org/officeDocument/2006/relationships/slideLayout" Target="../slideLayouts/slideLayout3.xml"/><Relationship Id="rId4" Type="http://schemas.openxmlformats.org/officeDocument/2006/relationships/image" Target="../media/image86.png"/></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3.xml"/></Relationships>
</file>

<file path=ppt/slides/_rels/slide19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94.xml"/><Relationship Id="rId1" Type="http://schemas.openxmlformats.org/officeDocument/2006/relationships/slideLayout" Target="../slideLayouts/slideLayout3.xml"/></Relationships>
</file>

<file path=ppt/slides/_rels/slide19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95.xml"/><Relationship Id="rId1" Type="http://schemas.openxmlformats.org/officeDocument/2006/relationships/slideLayout" Target="../slideLayouts/slideLayout3.xml"/></Relationships>
</file>

<file path=ppt/slides/_rels/slide19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96.xml"/><Relationship Id="rId1" Type="http://schemas.openxmlformats.org/officeDocument/2006/relationships/slideLayout" Target="../slideLayouts/slideLayout3.xml"/><Relationship Id="rId4" Type="http://schemas.openxmlformats.org/officeDocument/2006/relationships/image" Target="../media/image90.png"/></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3.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3.xml"/></Relationships>
</file>

<file path=ppt/slides/_rels/slide20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00.xml"/><Relationship Id="rId1" Type="http://schemas.openxmlformats.org/officeDocument/2006/relationships/slideLayout" Target="../slideLayouts/slideLayout3.xml"/></Relationships>
</file>

<file path=ppt/slides/_rels/slide201.xml.rels><?xml version="1.0" encoding="UTF-8" standalone="yes"?>
<Relationships xmlns="http://schemas.openxmlformats.org/package/2006/relationships"><Relationship Id="rId3" Type="http://schemas.openxmlformats.org/officeDocument/2006/relationships/hyperlink" Target="https://www.php.net/manual/en/dateinterval.construct.php" TargetMode="External"/><Relationship Id="rId2" Type="http://schemas.openxmlformats.org/officeDocument/2006/relationships/notesSlide" Target="../notesSlides/notesSlide201.xml"/><Relationship Id="rId1" Type="http://schemas.openxmlformats.org/officeDocument/2006/relationships/slideLayout" Target="../slideLayouts/slideLayout3.xml"/></Relationships>
</file>

<file path=ppt/slides/_rels/slide20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02.xml"/><Relationship Id="rId1" Type="http://schemas.openxmlformats.org/officeDocument/2006/relationships/slideLayout" Target="../slideLayouts/slideLayout3.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3.xml"/></Relationships>
</file>

<file path=ppt/slides/_rels/slide20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204.xml"/><Relationship Id="rId1" Type="http://schemas.openxmlformats.org/officeDocument/2006/relationships/slideLayout" Target="../slideLayouts/slideLayout3.xml"/></Relationships>
</file>

<file path=ppt/slides/_rels/slide205.xml.rels><?xml version="1.0" encoding="UTF-8" standalone="yes"?>
<Relationships xmlns="http://schemas.openxmlformats.org/package/2006/relationships"><Relationship Id="rId3" Type="http://schemas.openxmlformats.org/officeDocument/2006/relationships/hyperlink" Target="https://www.php.net/manual/en/datetime.format.php" TargetMode="External"/><Relationship Id="rId2" Type="http://schemas.openxmlformats.org/officeDocument/2006/relationships/notesSlide" Target="../notesSlides/notesSlide205.xml"/><Relationship Id="rId1" Type="http://schemas.openxmlformats.org/officeDocument/2006/relationships/slideLayout" Target="../slideLayouts/slideLayout3.xml"/></Relationships>
</file>

<file path=ppt/slides/_rels/slide20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06.xml"/><Relationship Id="rId1" Type="http://schemas.openxmlformats.org/officeDocument/2006/relationships/slideLayout" Target="../slideLayouts/slideLayout3.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3.xml"/></Relationships>
</file>

<file path=ppt/slides/_rels/slide20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08.xml"/><Relationship Id="rId1" Type="http://schemas.openxmlformats.org/officeDocument/2006/relationships/slideLayout" Target="../slideLayouts/slideLayout3.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3.xml"/></Relationships>
</file>

<file path=ppt/slides/_rels/slide21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211.xml"/><Relationship Id="rId1" Type="http://schemas.openxmlformats.org/officeDocument/2006/relationships/slideLayout" Target="../slideLayouts/slideLayout3.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3.xml"/></Relationships>
</file>

<file path=ppt/slides/_rels/slide21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13.xml"/><Relationship Id="rId1" Type="http://schemas.openxmlformats.org/officeDocument/2006/relationships/slideLayout" Target="../slideLayouts/slideLayout3.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3.xml"/></Relationships>
</file>

<file path=ppt/slides/_rels/slide21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15.xml"/><Relationship Id="rId1" Type="http://schemas.openxmlformats.org/officeDocument/2006/relationships/slideLayout" Target="../slideLayouts/slideLayout3.xml"/></Relationships>
</file>

<file path=ppt/slides/_rels/slide21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216.xml"/><Relationship Id="rId1" Type="http://schemas.openxmlformats.org/officeDocument/2006/relationships/slideLayout" Target="../slideLayouts/slideLayout3.xml"/></Relationships>
</file>

<file path=ppt/slides/_rels/slide21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17.xml"/><Relationship Id="rId1" Type="http://schemas.openxmlformats.org/officeDocument/2006/relationships/slideLayout" Target="../slideLayouts/slideLayout3.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3.xml"/></Relationships>
</file>

<file path=ppt/slides/_rels/slide21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219.xml"/><Relationship Id="rId1" Type="http://schemas.openxmlformats.org/officeDocument/2006/relationships/slideLayout" Target="../slideLayouts/slideLayout3.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3.xml"/></Relationships>
</file>

<file path=ppt/slides/_rels/slide22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21.xml"/><Relationship Id="rId1" Type="http://schemas.openxmlformats.org/officeDocument/2006/relationships/slideLayout" Target="../slideLayouts/slideLayout3.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3" Type="http://schemas.openxmlformats.org/officeDocument/2006/relationships/hyperlink" Target="https://www.php.net/manual/en/pcre.pattern.php" TargetMode="External"/><Relationship Id="rId2" Type="http://schemas.openxmlformats.org/officeDocument/2006/relationships/notesSlide" Target="../notesSlides/notesSlide223.xml"/><Relationship Id="rId1" Type="http://schemas.openxmlformats.org/officeDocument/2006/relationships/slideLayout" Target="../slideLayouts/slideLayout3.xml"/></Relationships>
</file>

<file path=ppt/slides/_rels/slide224.xml.rels><?xml version="1.0" encoding="UTF-8" standalone="yes"?>
<Relationships xmlns="http://schemas.openxmlformats.org/package/2006/relationships"><Relationship Id="rId3" Type="http://schemas.openxmlformats.org/officeDocument/2006/relationships/hyperlink" Target="https://www.php.net/manual/en/ref.pcre.php" TargetMode="External"/><Relationship Id="rId2" Type="http://schemas.openxmlformats.org/officeDocument/2006/relationships/notesSlide" Target="../notesSlides/notesSlide224.xml"/><Relationship Id="rId1" Type="http://schemas.openxmlformats.org/officeDocument/2006/relationships/slideLayout" Target="../slideLayouts/slideLayout3.xml"/></Relationships>
</file>

<file path=ppt/slides/_rels/slide22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225.xml"/><Relationship Id="rId1" Type="http://schemas.openxmlformats.org/officeDocument/2006/relationships/slideLayout" Target="../slideLayouts/slideLayout3.xml"/></Relationships>
</file>

<file path=ppt/slides/_rels/slide22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226.xml"/><Relationship Id="rId1" Type="http://schemas.openxmlformats.org/officeDocument/2006/relationships/slideLayout" Target="../slideLayouts/slideLayout3.xml"/></Relationships>
</file>

<file path=ppt/slides/_rels/slide227.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227.xml"/><Relationship Id="rId1" Type="http://schemas.openxmlformats.org/officeDocument/2006/relationships/slideLayout" Target="../slideLayouts/slideLayout3.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28.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3" Type="http://schemas.openxmlformats.org/officeDocument/2006/relationships/hyperlink" Target="https://www.php.net/manual/en/book.reflection.php" TargetMode="External"/><Relationship Id="rId2" Type="http://schemas.openxmlformats.org/officeDocument/2006/relationships/notesSlide" Target="../notesSlides/notesSlide229.xml"/><Relationship Id="rId1" Type="http://schemas.openxmlformats.org/officeDocument/2006/relationships/slideLayout" Target="../slideLayouts/slideLayout3.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30.xml"/><Relationship Id="rId1" Type="http://schemas.openxmlformats.org/officeDocument/2006/relationships/slideLayout" Target="../slideLayouts/slideLayout3.xml"/></Relationships>
</file>

<file path=ppt/slides/_rels/slide23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231.xml"/><Relationship Id="rId1" Type="http://schemas.openxmlformats.org/officeDocument/2006/relationships/slideLayout" Target="../slideLayouts/slideLayout3.xml"/></Relationships>
</file>

<file path=ppt/slides/_rels/slide23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23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7950" y="1315575"/>
            <a:ext cx="7688100" cy="166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solidFill>
                  <a:schemeClr val="tx1">
                    <a:lumMod val="50000"/>
                  </a:schemeClr>
                </a:solidFill>
                <a:effectLst>
                  <a:outerShdw blurRad="38100" dist="38100" dir="2700000" algn="tl">
                    <a:srgbClr val="000000">
                      <a:alpha val="43137"/>
                    </a:srgbClr>
                  </a:outerShdw>
                </a:effectLst>
                <a:latin typeface="Franklin Gothic Heavy" panose="020B0903020102020204" pitchFamily="34" charset="0"/>
              </a:rPr>
              <a:t>Belajar</a:t>
            </a:r>
            <a:r>
              <a:rPr lang="en-US" dirty="0">
                <a:solidFill>
                  <a:schemeClr val="tx1">
                    <a:lumMod val="50000"/>
                  </a:schemeClr>
                </a:solidFill>
                <a:effectLst>
                  <a:outerShdw blurRad="38100" dist="38100" dir="2700000" algn="tl">
                    <a:srgbClr val="000000">
                      <a:alpha val="43137"/>
                    </a:srgbClr>
                  </a:outerShdw>
                </a:effectLst>
                <a:latin typeface="Franklin Gothic Heavy" panose="020B0903020102020204" pitchFamily="34" charset="0"/>
              </a:rPr>
              <a:t>-PHP-Dasar</a:t>
            </a:r>
            <a:r>
              <a:rPr lang="en-US" dirty="0">
                <a:solidFill>
                  <a:schemeClr val="accent3">
                    <a:lumMod val="50000"/>
                  </a:schemeClr>
                </a:solidFill>
                <a:effectLst>
                  <a:outerShdw blurRad="38100" dist="38100" dir="2700000" algn="tl">
                    <a:srgbClr val="000000">
                      <a:alpha val="43137"/>
                    </a:srgbClr>
                  </a:outerShdw>
                </a:effectLst>
                <a:latin typeface="Franklin Gothic Heavy" panose="020B0903020102020204" pitchFamily="34" charset="0"/>
              </a:rPr>
              <a:t> </a:t>
            </a:r>
            <a:r>
              <a:rPr lang="en-US" dirty="0">
                <a:solidFill>
                  <a:schemeClr val="tx1">
                    <a:lumMod val="75000"/>
                  </a:schemeClr>
                </a:solidFill>
                <a:effectLst>
                  <a:outerShdw blurRad="38100" dist="38100" dir="2700000" algn="tl">
                    <a:srgbClr val="000000">
                      <a:alpha val="43137"/>
                    </a:srgbClr>
                  </a:outerShdw>
                </a:effectLst>
                <a:latin typeface="Franklin Gothic Heavy" panose="020B0903020102020204" pitchFamily="34" charset="0"/>
              </a:rPr>
              <a:t>2</a:t>
            </a:r>
            <a:endParaRPr dirty="0">
              <a:solidFill>
                <a:schemeClr val="tx1">
                  <a:lumMod val="75000"/>
                </a:schemeClr>
              </a:solidFill>
              <a:effectLst>
                <a:outerShdw blurRad="38100" dist="38100" dir="2700000" algn="tl">
                  <a:srgbClr val="000000">
                    <a:alpha val="43137"/>
                  </a:srgbClr>
                </a:outerShdw>
              </a:effectLst>
              <a:latin typeface="Franklin Gothic Heavy" panose="020B0903020102020204" pitchFamily="34" charset="0"/>
            </a:endParaRPr>
          </a:p>
        </p:txBody>
      </p:sp>
      <p:sp>
        <p:nvSpPr>
          <p:cNvPr id="87" name="Google Shape;87;p13"/>
          <p:cNvSpPr txBox="1">
            <a:spLocks noGrp="1"/>
          </p:cNvSpPr>
          <p:nvPr>
            <p:ph type="subTitle" idx="1"/>
          </p:nvPr>
        </p:nvSpPr>
        <p:spPr>
          <a:xfrm>
            <a:off x="727950" y="2147925"/>
            <a:ext cx="7688100" cy="54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tx1">
                    <a:lumMod val="75000"/>
                  </a:schemeClr>
                </a:solidFill>
                <a:latin typeface="Arial Black" panose="020B0A04020102020204" pitchFamily="34" charset="0"/>
              </a:rPr>
              <a:t>Nama : Aira Mahsyura</a:t>
            </a:r>
          </a:p>
          <a:p>
            <a:pPr marL="0" lvl="0" indent="0" algn="l" rtl="0">
              <a:spcBef>
                <a:spcPts val="0"/>
              </a:spcBef>
              <a:spcAft>
                <a:spcPts val="0"/>
              </a:spcAft>
              <a:buNone/>
            </a:pPr>
            <a:r>
              <a:rPr lang="en-US" dirty="0" err="1">
                <a:solidFill>
                  <a:schemeClr val="tx1">
                    <a:lumMod val="75000"/>
                  </a:schemeClr>
                </a:solidFill>
                <a:latin typeface="Arial Black" panose="020B0A04020102020204" pitchFamily="34" charset="0"/>
              </a:rPr>
              <a:t>Kelas</a:t>
            </a:r>
            <a:r>
              <a:rPr lang="en-US" dirty="0">
                <a:solidFill>
                  <a:schemeClr val="tx1">
                    <a:lumMod val="75000"/>
                  </a:schemeClr>
                </a:solidFill>
                <a:latin typeface="Arial Black" panose="020B0A04020102020204" pitchFamily="34" charset="0"/>
              </a:rPr>
              <a:t> : X PPLG</a:t>
            </a:r>
            <a:endParaRPr dirty="0">
              <a:solidFill>
                <a:schemeClr val="tx1">
                  <a:lumMod val="75000"/>
                </a:schemeClr>
              </a:solidFill>
              <a:latin typeface="Arial Black" panose="020B0A040201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dirty="0"/>
              <a:t>Pengenalan OOP</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Apa itu Object Oriented Programming?</a:t>
            </a:r>
            <a:endParaRPr/>
          </a:p>
        </p:txBody>
      </p:sp>
      <p:sp>
        <p:nvSpPr>
          <p:cNvPr id="123" name="Google Shape;123;p1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Object Oriented Programming adalah sudut pandang bahasa pemrograman yang berkonsep “objek”</a:t>
            </a:r>
            <a:endParaRPr/>
          </a:p>
          <a:p>
            <a:pPr marL="457200" lvl="0" indent="-311150" algn="l" rtl="0">
              <a:spcBef>
                <a:spcPts val="0"/>
              </a:spcBef>
              <a:spcAft>
                <a:spcPts val="0"/>
              </a:spcAft>
              <a:buSzPts val="1300"/>
              <a:buChar char="●"/>
            </a:pPr>
            <a:r>
              <a:rPr lang="id"/>
              <a:t>Ada banyak sudut pandang bahasa pemrograman, namun OOP adalah yang sangat populer saat ini.</a:t>
            </a:r>
            <a:endParaRPr/>
          </a:p>
          <a:p>
            <a:pPr marL="457200" lvl="0" indent="-311150" algn="l" rtl="0">
              <a:spcBef>
                <a:spcPts val="0"/>
              </a:spcBef>
              <a:spcAft>
                <a:spcPts val="0"/>
              </a:spcAft>
              <a:buSzPts val="1300"/>
              <a:buChar char="●"/>
            </a:pPr>
            <a:r>
              <a:rPr lang="id"/>
              <a:t>Ada beberapa istilah yang perlu dimengerti dalam OOP, yaitu: Object dan Class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Apa itu Object?</a:t>
            </a:r>
            <a:endParaRPr/>
          </a:p>
        </p:txBody>
      </p:sp>
      <p:sp>
        <p:nvSpPr>
          <p:cNvPr id="129" name="Google Shape;129;p20"/>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Object adalah data yang berisi field / properties / attributes dan method / function / behavior</a:t>
            </a:r>
            <a:endParaRPr/>
          </a:p>
          <a:p>
            <a:pPr marL="0" lvl="0" indent="0" algn="l" rtl="0">
              <a:spcBef>
                <a:spcPts val="1600"/>
              </a:spcBef>
              <a:spcAft>
                <a:spcPts val="16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Apa itu Class?</a:t>
            </a:r>
            <a:endParaRPr/>
          </a:p>
        </p:txBody>
      </p:sp>
      <p:sp>
        <p:nvSpPr>
          <p:cNvPr id="135" name="Google Shape;135;p2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Class adalah blueprint, prototype atau cetakan untuk membuat Object</a:t>
            </a:r>
            <a:endParaRPr/>
          </a:p>
          <a:p>
            <a:pPr marL="457200" lvl="0" indent="-311150" algn="l" rtl="0">
              <a:spcBef>
                <a:spcPts val="0"/>
              </a:spcBef>
              <a:spcAft>
                <a:spcPts val="0"/>
              </a:spcAft>
              <a:buSzPts val="1300"/>
              <a:buChar char="●"/>
            </a:pPr>
            <a:r>
              <a:rPr lang="id"/>
              <a:t>Class berisikan deklarasi semua properties dan functions yang dimiliki oleh Object</a:t>
            </a:r>
            <a:endParaRPr/>
          </a:p>
          <a:p>
            <a:pPr marL="457200" lvl="0" indent="-311150" algn="l" rtl="0">
              <a:spcBef>
                <a:spcPts val="0"/>
              </a:spcBef>
              <a:spcAft>
                <a:spcPts val="0"/>
              </a:spcAft>
              <a:buSzPts val="1300"/>
              <a:buChar char="●"/>
            </a:pPr>
            <a:r>
              <a:rPr lang="id"/>
              <a:t>Setiap Object selalu dibuat dari Class</a:t>
            </a:r>
            <a:endParaRPr/>
          </a:p>
          <a:p>
            <a:pPr marL="457200" lvl="0" indent="-311150" algn="l" rtl="0">
              <a:spcBef>
                <a:spcPts val="0"/>
              </a:spcBef>
              <a:spcAft>
                <a:spcPts val="0"/>
              </a:spcAft>
              <a:buSzPts val="1300"/>
              <a:buChar char="●"/>
            </a:pPr>
            <a:r>
              <a:rPr lang="id"/>
              <a:t>Dan sebuah Class bisa membuat Object tanpa batas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Class dan Object : Person</a:t>
            </a:r>
            <a:endParaRPr/>
          </a:p>
        </p:txBody>
      </p:sp>
      <p:pic>
        <p:nvPicPr>
          <p:cNvPr id="141" name="Google Shape;141;p22"/>
          <p:cNvPicPr preferRelativeResize="0"/>
          <p:nvPr/>
        </p:nvPicPr>
        <p:blipFill>
          <a:blip r:embed="rId3">
            <a:alphaModFix/>
          </a:blip>
          <a:stretch>
            <a:fillRect/>
          </a:stretch>
        </p:blipFill>
        <p:spPr>
          <a:xfrm>
            <a:off x="2481263" y="2006250"/>
            <a:ext cx="4181475" cy="2314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Class dan Object : Car</a:t>
            </a:r>
            <a:endParaRPr/>
          </a:p>
        </p:txBody>
      </p:sp>
      <p:pic>
        <p:nvPicPr>
          <p:cNvPr id="147" name="Google Shape;147;p23"/>
          <p:cNvPicPr preferRelativeResize="0"/>
          <p:nvPr/>
        </p:nvPicPr>
        <p:blipFill>
          <a:blip r:embed="rId3">
            <a:alphaModFix/>
          </a:blip>
          <a:stretch>
            <a:fillRect/>
          </a:stretch>
        </p:blipFill>
        <p:spPr>
          <a:xfrm>
            <a:off x="2638425" y="2006250"/>
            <a:ext cx="3867150" cy="2314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Class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Membuat Class</a:t>
            </a:r>
            <a:endParaRPr/>
          </a:p>
        </p:txBody>
      </p:sp>
      <p:sp>
        <p:nvSpPr>
          <p:cNvPr id="158" name="Google Shape;158;p2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Untuk membuat class, kita bisa menggunakan kata kunci class</a:t>
            </a:r>
            <a:endParaRPr/>
          </a:p>
          <a:p>
            <a:pPr marL="457200" lvl="0" indent="-311150" algn="l" rtl="0">
              <a:spcBef>
                <a:spcPts val="0"/>
              </a:spcBef>
              <a:spcAft>
                <a:spcPts val="0"/>
              </a:spcAft>
              <a:buSzPts val="1300"/>
              <a:buChar char="●"/>
            </a:pPr>
            <a:r>
              <a:rPr lang="id"/>
              <a:t>Penamaan class biasa menggunakan format CamelCase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Class</a:t>
            </a:r>
            <a:endParaRPr/>
          </a:p>
        </p:txBody>
      </p:sp>
      <p:pic>
        <p:nvPicPr>
          <p:cNvPr id="164" name="Google Shape;164;p26"/>
          <p:cNvPicPr preferRelativeResize="0"/>
          <p:nvPr/>
        </p:nvPicPr>
        <p:blipFill>
          <a:blip r:embed="rId3">
            <a:alphaModFix/>
          </a:blip>
          <a:stretch>
            <a:fillRect/>
          </a:stretch>
        </p:blipFill>
        <p:spPr>
          <a:xfrm>
            <a:off x="152400" y="2006250"/>
            <a:ext cx="6705600" cy="2686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7"/>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Object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Membuat Object</a:t>
            </a:r>
            <a:endParaRPr/>
          </a:p>
        </p:txBody>
      </p:sp>
      <p:sp>
        <p:nvSpPr>
          <p:cNvPr id="175" name="Google Shape;175;p2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Object adalah hasil instansiasi dari sebuah class</a:t>
            </a:r>
            <a:endParaRPr/>
          </a:p>
          <a:p>
            <a:pPr marL="457200" lvl="0" indent="-311150" algn="l" rtl="0">
              <a:spcBef>
                <a:spcPts val="0"/>
              </a:spcBef>
              <a:spcAft>
                <a:spcPts val="0"/>
              </a:spcAft>
              <a:buSzPts val="1300"/>
              <a:buChar char="●"/>
            </a:pPr>
            <a:r>
              <a:rPr lang="id"/>
              <a:t>Untuk membuat object kita bisa menggunakan kata kunci new, dan diikuti dengan nama Class dan kurung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Object</a:t>
            </a:r>
            <a:endParaRPr/>
          </a:p>
        </p:txBody>
      </p:sp>
      <p:pic>
        <p:nvPicPr>
          <p:cNvPr id="181" name="Google Shape;181;p29"/>
          <p:cNvPicPr preferRelativeResize="0"/>
          <p:nvPr/>
        </p:nvPicPr>
        <p:blipFill>
          <a:blip r:embed="rId3">
            <a:alphaModFix/>
          </a:blip>
          <a:stretch>
            <a:fillRect/>
          </a:stretch>
        </p:blipFill>
        <p:spPr>
          <a:xfrm>
            <a:off x="152400" y="2006250"/>
            <a:ext cx="7324725" cy="1695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0"/>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Properties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Properties</a:t>
            </a:r>
            <a:endParaRPr/>
          </a:p>
        </p:txBody>
      </p:sp>
      <p:sp>
        <p:nvSpPr>
          <p:cNvPr id="192" name="Google Shape;192;p3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Fields / Properties / Attributes adalah data yang bisa kita sisipkan di dalam Object</a:t>
            </a:r>
            <a:endParaRPr/>
          </a:p>
          <a:p>
            <a:pPr marL="457200" lvl="0" indent="-311150" algn="l" rtl="0">
              <a:spcBef>
                <a:spcPts val="0"/>
              </a:spcBef>
              <a:spcAft>
                <a:spcPts val="0"/>
              </a:spcAft>
              <a:buSzPts val="1300"/>
              <a:buChar char="●"/>
            </a:pPr>
            <a:r>
              <a:rPr lang="id"/>
              <a:t>Namun sebelum kita bisa memasukkan data di fields, kita harus mendeklarasikan data apa aja yang dimiliki object tersebut di dalam deklarasi class-nya</a:t>
            </a:r>
            <a:endParaRPr/>
          </a:p>
          <a:p>
            <a:pPr marL="457200" lvl="0" indent="-311150" algn="l" rtl="0">
              <a:spcBef>
                <a:spcPts val="0"/>
              </a:spcBef>
              <a:spcAft>
                <a:spcPts val="0"/>
              </a:spcAft>
              <a:buSzPts val="1300"/>
              <a:buChar char="●"/>
            </a:pPr>
            <a:r>
              <a:rPr lang="id"/>
              <a:t>Membuat field sama seperti membuat variable, namun ditempatkan di block class, namun diawali dengan kata kunci var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Properties</a:t>
            </a:r>
            <a:endParaRPr/>
          </a:p>
        </p:txBody>
      </p:sp>
      <p:pic>
        <p:nvPicPr>
          <p:cNvPr id="198" name="Google Shape;198;p32"/>
          <p:cNvPicPr preferRelativeResize="0"/>
          <p:nvPr/>
        </p:nvPicPr>
        <p:blipFill>
          <a:blip r:embed="rId3">
            <a:alphaModFix/>
          </a:blip>
          <a:stretch>
            <a:fillRect/>
          </a:stretch>
        </p:blipFill>
        <p:spPr>
          <a:xfrm>
            <a:off x="152400" y="2006250"/>
            <a:ext cx="8839200" cy="24357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Manipulasi Properties</a:t>
            </a:r>
            <a:endParaRPr/>
          </a:p>
        </p:txBody>
      </p:sp>
      <p:sp>
        <p:nvSpPr>
          <p:cNvPr id="204" name="Google Shape;204;p3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Fields yang ada di object, bisa kita manipulasi. </a:t>
            </a:r>
            <a:endParaRPr/>
          </a:p>
          <a:p>
            <a:pPr marL="457200" lvl="0" indent="-311150" algn="l" rtl="0">
              <a:spcBef>
                <a:spcPts val="0"/>
              </a:spcBef>
              <a:spcAft>
                <a:spcPts val="0"/>
              </a:spcAft>
              <a:buSzPts val="1300"/>
              <a:buChar char="●"/>
            </a:pPr>
            <a:r>
              <a:rPr lang="id"/>
              <a:t>Untuk memanipulasi data field, sama seperti cara pada variable</a:t>
            </a:r>
            <a:endParaRPr/>
          </a:p>
          <a:p>
            <a:pPr marL="457200" lvl="0" indent="-311150" algn="l" rtl="0">
              <a:spcBef>
                <a:spcPts val="0"/>
              </a:spcBef>
              <a:spcAft>
                <a:spcPts val="0"/>
              </a:spcAft>
              <a:buSzPts val="1300"/>
              <a:buChar char="●"/>
            </a:pPr>
            <a:r>
              <a:rPr lang="id"/>
              <a:t>Untuk mengakses field, kita butuh kata kunci -&gt; setelah nama object dan diikuti nama fields nya</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4"/>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Manipulasi Properties</a:t>
            </a:r>
            <a:endParaRPr/>
          </a:p>
        </p:txBody>
      </p:sp>
      <p:pic>
        <p:nvPicPr>
          <p:cNvPr id="3" name="Picture 2" descr="A computer screen shot of text&#10;&#10;AI-generated content may be incorrect.">
            <a:extLst>
              <a:ext uri="{FF2B5EF4-FFF2-40B4-BE49-F238E27FC236}">
                <a16:creationId xmlns:a16="http://schemas.microsoft.com/office/drawing/2014/main" id="{0F04B71B-6E82-25B7-D4EF-AF468C6F4B9B}"/>
              </a:ext>
            </a:extLst>
          </p:cNvPr>
          <p:cNvPicPr>
            <a:picLocks noChangeAspect="1"/>
          </p:cNvPicPr>
          <p:nvPr/>
        </p:nvPicPr>
        <p:blipFill>
          <a:blip r:embed="rId3"/>
          <a:stretch>
            <a:fillRect/>
          </a:stretch>
        </p:blipFill>
        <p:spPr>
          <a:xfrm>
            <a:off x="888761" y="2017700"/>
            <a:ext cx="5125165" cy="24006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Properties Type Declaration</a:t>
            </a:r>
            <a:endParaRPr/>
          </a:p>
        </p:txBody>
      </p:sp>
      <p:sp>
        <p:nvSpPr>
          <p:cNvPr id="216" name="Google Shape;216;p3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Sama seperti di function, di properties pun, kita bisa membuat type declaration</a:t>
            </a:r>
            <a:endParaRPr/>
          </a:p>
          <a:p>
            <a:pPr marL="457200" lvl="0" indent="-311150" algn="l" rtl="0">
              <a:spcBef>
                <a:spcPts val="0"/>
              </a:spcBef>
              <a:spcAft>
                <a:spcPts val="0"/>
              </a:spcAft>
              <a:buSzPts val="1300"/>
              <a:buChar char="●"/>
            </a:pPr>
            <a:r>
              <a:rPr lang="id"/>
              <a:t>Ini membuat PHP otomatis mengecek tipe data yang sesuai dengan type declaration yang telah ditentukan</a:t>
            </a:r>
            <a:endParaRPr/>
          </a:p>
          <a:p>
            <a:pPr marL="457200" lvl="0" indent="-311150" algn="l" rtl="0">
              <a:spcBef>
                <a:spcPts val="0"/>
              </a:spcBef>
              <a:spcAft>
                <a:spcPts val="0"/>
              </a:spcAft>
              <a:buSzPts val="1300"/>
              <a:buChar char="●"/>
            </a:pPr>
            <a:r>
              <a:rPr lang="id"/>
              <a:t>Jika kita mencoba mengubah properties dengan type yang berbeda, maka otomatis akan error</a:t>
            </a:r>
            <a:endParaRPr/>
          </a:p>
          <a:p>
            <a:pPr marL="457200" lvl="0" indent="-311150" algn="l" rtl="0">
              <a:spcBef>
                <a:spcPts val="0"/>
              </a:spcBef>
              <a:spcAft>
                <a:spcPts val="0"/>
              </a:spcAft>
              <a:buSzPts val="1300"/>
              <a:buChar char="●"/>
            </a:pPr>
            <a:r>
              <a:rPr lang="id"/>
              <a:t>Ingat, bahwa PHP memiliki fitur type juggling, yang secara otomatis bisa mengkonversi ke tipe data lain</a:t>
            </a:r>
            <a:endParaRPr/>
          </a:p>
          <a:p>
            <a:pPr marL="457200" lvl="0" indent="-311150" algn="l" rtl="0">
              <a:spcBef>
                <a:spcPts val="0"/>
              </a:spcBef>
              <a:spcAft>
                <a:spcPts val="0"/>
              </a:spcAft>
              <a:buSzPts val="1300"/>
              <a:buChar char="●"/>
            </a:pPr>
            <a:r>
              <a:rPr lang="id"/>
              <a:t>Untuk menambahkan type declaration, kita bisa tambahkan setelah kata kunci var di properties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Properties dengan Type</a:t>
            </a:r>
            <a:endParaRPr/>
          </a:p>
        </p:txBody>
      </p:sp>
      <p:pic>
        <p:nvPicPr>
          <p:cNvPr id="222" name="Google Shape;222;p36"/>
          <p:cNvPicPr preferRelativeResize="0"/>
          <p:nvPr/>
        </p:nvPicPr>
        <p:blipFill>
          <a:blip r:embed="rId3">
            <a:alphaModFix/>
          </a:blip>
          <a:stretch>
            <a:fillRect/>
          </a:stretch>
        </p:blipFill>
        <p:spPr>
          <a:xfrm>
            <a:off x="152400" y="2006250"/>
            <a:ext cx="8743950" cy="2314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Default Properties Value</a:t>
            </a:r>
            <a:endParaRPr/>
          </a:p>
        </p:txBody>
      </p:sp>
      <p:sp>
        <p:nvSpPr>
          <p:cNvPr id="228" name="Google Shape;228;p3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Sama seperti variable, di properties juga kita bisa langsung mengisi value nya</a:t>
            </a:r>
            <a:endParaRPr/>
          </a:p>
          <a:p>
            <a:pPr marL="457200" lvl="0" indent="-311150" algn="l" rtl="0">
              <a:spcBef>
                <a:spcPts val="0"/>
              </a:spcBef>
              <a:spcAft>
                <a:spcPts val="0"/>
              </a:spcAft>
              <a:buSzPts val="1300"/>
              <a:buChar char="●"/>
            </a:pPr>
            <a:r>
              <a:rPr lang="id"/>
              <a:t>Ini mirip seperti default value, jadi jika tidak diubah di object, maka properties akan memiliki value tersebut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Properties Default Value</a:t>
            </a:r>
            <a:endParaRPr/>
          </a:p>
        </p:txBody>
      </p:sp>
      <p:pic>
        <p:nvPicPr>
          <p:cNvPr id="3" name="Picture 2" descr="A black background with colorful text&#10;&#10;AI-generated content may be incorrect.">
            <a:extLst>
              <a:ext uri="{FF2B5EF4-FFF2-40B4-BE49-F238E27FC236}">
                <a16:creationId xmlns:a16="http://schemas.microsoft.com/office/drawing/2014/main" id="{7AA2E63C-D8CD-CCD9-AAA0-78B4D7D94A65}"/>
              </a:ext>
            </a:extLst>
          </p:cNvPr>
          <p:cNvPicPr>
            <a:picLocks noChangeAspect="1"/>
          </p:cNvPicPr>
          <p:nvPr/>
        </p:nvPicPr>
        <p:blipFill>
          <a:blip r:embed="rId3"/>
          <a:stretch>
            <a:fillRect/>
          </a:stretch>
        </p:blipFill>
        <p:spPr>
          <a:xfrm>
            <a:off x="903063" y="2138302"/>
            <a:ext cx="4334480" cy="86689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Nullable Properties</a:t>
            </a:r>
            <a:endParaRPr/>
          </a:p>
        </p:txBody>
      </p:sp>
      <p:sp>
        <p:nvSpPr>
          <p:cNvPr id="240" name="Google Shape;240;p3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kita menambah type declaration di properties atau di function argument, maka secara otomatis kita tidak bisa mengirim data null ke dalam properties atau function argument tersebut</a:t>
            </a:r>
            <a:endParaRPr/>
          </a:p>
          <a:p>
            <a:pPr marL="457200" lvl="0" indent="-311150" algn="l" rtl="0">
              <a:spcBef>
                <a:spcPts val="0"/>
              </a:spcBef>
              <a:spcAft>
                <a:spcPts val="0"/>
              </a:spcAft>
              <a:buSzPts val="1300"/>
              <a:buChar char="●"/>
            </a:pPr>
            <a:r>
              <a:rPr lang="id"/>
              <a:t>Di PHP 7.4 dikenalkan nullable type, jadi kita bisa mengirim data null ke properties atau function arguments</a:t>
            </a:r>
            <a:endParaRPr/>
          </a:p>
          <a:p>
            <a:pPr marL="457200" lvl="0" indent="-311150" algn="l" rtl="0">
              <a:spcBef>
                <a:spcPts val="0"/>
              </a:spcBef>
              <a:spcAft>
                <a:spcPts val="0"/>
              </a:spcAft>
              <a:buSzPts val="1300"/>
              <a:buChar char="●"/>
            </a:pPr>
            <a:r>
              <a:rPr lang="id"/>
              <a:t>Caranya sebelum type declaration nya, kita bisa tambahkan tanda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4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Nullable Properties</a:t>
            </a:r>
            <a:endParaRPr/>
          </a:p>
        </p:txBody>
      </p:sp>
      <p:pic>
        <p:nvPicPr>
          <p:cNvPr id="3" name="Picture 2" descr="A black background with colorful text&#10;&#10;AI-generated content may be incorrect.">
            <a:extLst>
              <a:ext uri="{FF2B5EF4-FFF2-40B4-BE49-F238E27FC236}">
                <a16:creationId xmlns:a16="http://schemas.microsoft.com/office/drawing/2014/main" id="{23056A60-FB21-54EA-3D13-F4241827592A}"/>
              </a:ext>
            </a:extLst>
          </p:cNvPr>
          <p:cNvPicPr>
            <a:picLocks noChangeAspect="1"/>
          </p:cNvPicPr>
          <p:nvPr/>
        </p:nvPicPr>
        <p:blipFill>
          <a:blip r:embed="rId3"/>
          <a:stretch>
            <a:fillRect/>
          </a:stretch>
        </p:blipFill>
        <p:spPr>
          <a:xfrm>
            <a:off x="729449" y="2200178"/>
            <a:ext cx="7287105" cy="145742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41"/>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Function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Function</a:t>
            </a:r>
            <a:endParaRPr/>
          </a:p>
        </p:txBody>
      </p:sp>
      <p:sp>
        <p:nvSpPr>
          <p:cNvPr id="257" name="Google Shape;257;p4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Selain menambahkan properties, kita juga bisa menambahkan function ke object</a:t>
            </a:r>
            <a:endParaRPr/>
          </a:p>
          <a:p>
            <a:pPr marL="457200" lvl="0" indent="-311150" algn="l" rtl="0">
              <a:spcBef>
                <a:spcPts val="0"/>
              </a:spcBef>
              <a:spcAft>
                <a:spcPts val="0"/>
              </a:spcAft>
              <a:buSzPts val="1300"/>
              <a:buChar char="●"/>
            </a:pPr>
            <a:r>
              <a:rPr lang="id"/>
              <a:t>Cara dengan mendeklarasikan function tersebut di dalam block class</a:t>
            </a:r>
            <a:endParaRPr/>
          </a:p>
          <a:p>
            <a:pPr marL="457200" lvl="0" indent="-311150" algn="l" rtl="0">
              <a:spcBef>
                <a:spcPts val="0"/>
              </a:spcBef>
              <a:spcAft>
                <a:spcPts val="0"/>
              </a:spcAft>
              <a:buSzPts val="1300"/>
              <a:buChar char="●"/>
            </a:pPr>
            <a:r>
              <a:rPr lang="id"/>
              <a:t>Sama seperti function biasanya, kita juga bisa menambahkan return value dan parameter</a:t>
            </a:r>
            <a:endParaRPr/>
          </a:p>
          <a:p>
            <a:pPr marL="457200" lvl="0" indent="-311150" algn="l" rtl="0">
              <a:spcBef>
                <a:spcPts val="0"/>
              </a:spcBef>
              <a:spcAft>
                <a:spcPts val="0"/>
              </a:spcAft>
              <a:buSzPts val="1300"/>
              <a:buChar char="●"/>
            </a:pPr>
            <a:r>
              <a:rPr lang="id"/>
              <a:t>Untuk mengakses function tersebut, kita bisa menggunakan tanda -&gt; dan diikuti dengan nama method nya. Sama seperti mengakses properties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Function</a:t>
            </a:r>
            <a:endParaRPr/>
          </a:p>
        </p:txBody>
      </p:sp>
      <p:pic>
        <p:nvPicPr>
          <p:cNvPr id="263" name="Google Shape;263;p43"/>
          <p:cNvPicPr preferRelativeResize="0"/>
          <p:nvPr/>
        </p:nvPicPr>
        <p:blipFill>
          <a:blip r:embed="rId3">
            <a:alphaModFix/>
          </a:blip>
          <a:stretch>
            <a:fillRect/>
          </a:stretch>
        </p:blipFill>
        <p:spPr>
          <a:xfrm>
            <a:off x="152400" y="2006250"/>
            <a:ext cx="7136709" cy="29848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Memanggil Function</a:t>
            </a:r>
            <a:endParaRPr/>
          </a:p>
        </p:txBody>
      </p:sp>
      <p:pic>
        <p:nvPicPr>
          <p:cNvPr id="3" name="Picture 2" descr="A computer screen shot of text&#10;&#10;AI-generated content may be incorrect.">
            <a:extLst>
              <a:ext uri="{FF2B5EF4-FFF2-40B4-BE49-F238E27FC236}">
                <a16:creationId xmlns:a16="http://schemas.microsoft.com/office/drawing/2014/main" id="{02FABADA-EFA2-2128-E8FB-EEB5B5D90AE3}"/>
              </a:ext>
            </a:extLst>
          </p:cNvPr>
          <p:cNvPicPr>
            <a:picLocks noChangeAspect="1"/>
          </p:cNvPicPr>
          <p:nvPr/>
        </p:nvPicPr>
        <p:blipFill>
          <a:blip r:embed="rId3"/>
          <a:stretch>
            <a:fillRect/>
          </a:stretch>
        </p:blipFill>
        <p:spPr>
          <a:xfrm>
            <a:off x="826612" y="1932149"/>
            <a:ext cx="4410691" cy="271500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5"/>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this Keyword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This Keyword</a:t>
            </a:r>
            <a:endParaRPr/>
          </a:p>
        </p:txBody>
      </p:sp>
      <p:sp>
        <p:nvSpPr>
          <p:cNvPr id="280" name="Google Shape;280;p4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kita membuat kode di dalam function di dalam class, kita bisa menggunakan kata kunci this untuk mengakses object saat ini</a:t>
            </a:r>
            <a:endParaRPr/>
          </a:p>
          <a:p>
            <a:pPr marL="457200" lvl="0" indent="-311150" algn="l" rtl="0">
              <a:spcBef>
                <a:spcPts val="0"/>
              </a:spcBef>
              <a:spcAft>
                <a:spcPts val="0"/>
              </a:spcAft>
              <a:buSzPts val="1300"/>
              <a:buChar char="●"/>
            </a:pPr>
            <a:r>
              <a:rPr lang="id"/>
              <a:t>Misal kadang kita butuh mengakses properties atau function lain di class yang sama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This Keyword</a:t>
            </a:r>
            <a:endParaRPr/>
          </a:p>
        </p:txBody>
      </p:sp>
      <p:pic>
        <p:nvPicPr>
          <p:cNvPr id="286" name="Google Shape;286;p47"/>
          <p:cNvPicPr preferRelativeResize="0"/>
          <p:nvPr/>
        </p:nvPicPr>
        <p:blipFill>
          <a:blip r:embed="rId3">
            <a:alphaModFix/>
          </a:blip>
          <a:stretch>
            <a:fillRect/>
          </a:stretch>
        </p:blipFill>
        <p:spPr>
          <a:xfrm>
            <a:off x="152400" y="2006250"/>
            <a:ext cx="8839199" cy="276924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8"/>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Constant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4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Constant</a:t>
            </a:r>
            <a:endParaRPr/>
          </a:p>
        </p:txBody>
      </p:sp>
      <p:sp>
        <p:nvSpPr>
          <p:cNvPr id="297" name="Google Shape;297;p4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Properties di class bisa diubah, mirip seperti variable</a:t>
            </a:r>
            <a:endParaRPr/>
          </a:p>
          <a:p>
            <a:pPr marL="457200" lvl="0" indent="-311150" algn="l" rtl="0">
              <a:spcBef>
                <a:spcPts val="0"/>
              </a:spcBef>
              <a:spcAft>
                <a:spcPts val="0"/>
              </a:spcAft>
              <a:buSzPts val="1300"/>
              <a:buChar char="●"/>
            </a:pPr>
            <a:r>
              <a:rPr lang="id"/>
              <a:t>Di class juga kita membuat constant, data yang tidak bisa diubah</a:t>
            </a:r>
            <a:endParaRPr/>
          </a:p>
          <a:p>
            <a:pPr marL="457200" lvl="0" indent="-311150" algn="l" rtl="0">
              <a:spcBef>
                <a:spcPts val="0"/>
              </a:spcBef>
              <a:spcAft>
                <a:spcPts val="0"/>
              </a:spcAft>
              <a:buSzPts val="1300"/>
              <a:buChar char="●"/>
            </a:pPr>
            <a:r>
              <a:rPr lang="id"/>
              <a:t>Di materi PHP Dasar, kita belajar untuk membuat constant itu perlu menggunakan function define()</a:t>
            </a:r>
            <a:endParaRPr/>
          </a:p>
          <a:p>
            <a:pPr marL="457200" lvl="0" indent="-311150" algn="l" rtl="0">
              <a:spcBef>
                <a:spcPts val="0"/>
              </a:spcBef>
              <a:spcAft>
                <a:spcPts val="0"/>
              </a:spcAft>
              <a:buSzPts val="1300"/>
              <a:buChar char="●"/>
            </a:pPr>
            <a:r>
              <a:rPr lang="id"/>
              <a:t>Namun sejak PHP 7.4, kita bisa menggunakan kata kunci const untuk membuat constant, mirip seperti variable, namun tidak menggunakan karakter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5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Constant</a:t>
            </a:r>
            <a:endParaRPr/>
          </a:p>
        </p:txBody>
      </p:sp>
      <p:pic>
        <p:nvPicPr>
          <p:cNvPr id="303" name="Google Shape;303;p50"/>
          <p:cNvPicPr preferRelativeResize="0"/>
          <p:nvPr/>
        </p:nvPicPr>
        <p:blipFill>
          <a:blip r:embed="rId3">
            <a:alphaModFix/>
          </a:blip>
          <a:stretch>
            <a:fillRect/>
          </a:stretch>
        </p:blipFill>
        <p:spPr>
          <a:xfrm>
            <a:off x="152400" y="2006250"/>
            <a:ext cx="7772400" cy="22669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5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Constant di Class</a:t>
            </a:r>
            <a:endParaRPr/>
          </a:p>
        </p:txBody>
      </p:sp>
      <p:pic>
        <p:nvPicPr>
          <p:cNvPr id="309" name="Google Shape;309;p51"/>
          <p:cNvPicPr preferRelativeResize="0"/>
          <p:nvPr/>
        </p:nvPicPr>
        <p:blipFill>
          <a:blip r:embed="rId3">
            <a:alphaModFix/>
          </a:blip>
          <a:stretch>
            <a:fillRect/>
          </a:stretch>
        </p:blipFill>
        <p:spPr>
          <a:xfrm>
            <a:off x="152400" y="2006250"/>
            <a:ext cx="8839200" cy="27146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5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Mengakses Constant di Class</a:t>
            </a:r>
            <a:endParaRPr/>
          </a:p>
        </p:txBody>
      </p:sp>
      <p:pic>
        <p:nvPicPr>
          <p:cNvPr id="315" name="Google Shape;315;p52"/>
          <p:cNvPicPr preferRelativeResize="0"/>
          <p:nvPr/>
        </p:nvPicPr>
        <p:blipFill>
          <a:blip r:embed="rId3">
            <a:alphaModFix/>
          </a:blip>
          <a:stretch>
            <a:fillRect/>
          </a:stretch>
        </p:blipFill>
        <p:spPr>
          <a:xfrm>
            <a:off x="152400" y="2006250"/>
            <a:ext cx="8801100" cy="29051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5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self Keyword</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5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Properties vs Constant</a:t>
            </a:r>
            <a:endParaRPr/>
          </a:p>
        </p:txBody>
      </p:sp>
      <p:sp>
        <p:nvSpPr>
          <p:cNvPr id="326" name="Google Shape;326;p5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kita membuat object, properties yang terdapat di class akan secara otomatis dibuat per object, oleh karena itu untuk mengakses properties, kita perlu menggunakan object, atau jika dari dalam object tersebut sendiri, kita perlu menggunakan kata kunci this</a:t>
            </a:r>
            <a:endParaRPr/>
          </a:p>
          <a:p>
            <a:pPr marL="457200" lvl="0" indent="-311150" algn="l" rtl="0">
              <a:spcBef>
                <a:spcPts val="0"/>
              </a:spcBef>
              <a:spcAft>
                <a:spcPts val="0"/>
              </a:spcAft>
              <a:buSzPts val="1300"/>
              <a:buChar char="●"/>
            </a:pPr>
            <a:r>
              <a:rPr lang="id"/>
              <a:t>Sedangkan berbeda dengan constant, constant di class tidak akan dibuat per object. Constant itu hidupnya di class, bukan di object, oleh karena itu untuk mengaksesnya kita perlu menggunakan NamaClass::NAMA_CONSTANT</a:t>
            </a:r>
            <a:endParaRPr/>
          </a:p>
          <a:p>
            <a:pPr marL="457200" lvl="0" indent="-311150" algn="l" rtl="0">
              <a:spcBef>
                <a:spcPts val="0"/>
              </a:spcBef>
              <a:spcAft>
                <a:spcPts val="0"/>
              </a:spcAft>
              <a:buSzPts val="1300"/>
              <a:buChar char="●"/>
            </a:pPr>
            <a:r>
              <a:rPr lang="id"/>
              <a:t>Secara sederhana, properties akan dibuat satu per instance class (object), sedangkan constant dibuat satu per class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5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self Keyword</a:t>
            </a:r>
            <a:endParaRPr/>
          </a:p>
        </p:txBody>
      </p:sp>
      <p:sp>
        <p:nvSpPr>
          <p:cNvPr id="332" name="Google Shape;332;p5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Jika di dalam class (misal di function) kita ingin mengakses constant, kita perlu mengakses menggunakan NamaClass::NAMA_CONSTANT</a:t>
            </a:r>
            <a:endParaRPr/>
          </a:p>
          <a:p>
            <a:pPr marL="457200" lvl="0" indent="-311150" algn="l" rtl="0">
              <a:spcBef>
                <a:spcPts val="0"/>
              </a:spcBef>
              <a:spcAft>
                <a:spcPts val="0"/>
              </a:spcAft>
              <a:buSzPts val="1300"/>
              <a:buChar char="●"/>
            </a:pPr>
            <a:r>
              <a:rPr lang="id"/>
              <a:t>Namun jika di dalam class yang sama, kita bisa menggunakan kata kunci self untuk mempermudah</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self Keyword</a:t>
            </a:r>
            <a:endParaRPr/>
          </a:p>
        </p:txBody>
      </p:sp>
      <p:pic>
        <p:nvPicPr>
          <p:cNvPr id="338" name="Google Shape;338;p56"/>
          <p:cNvPicPr preferRelativeResize="0"/>
          <p:nvPr/>
        </p:nvPicPr>
        <p:blipFill>
          <a:blip r:embed="rId3">
            <a:alphaModFix/>
          </a:blip>
          <a:stretch>
            <a:fillRect/>
          </a:stretch>
        </p:blipFill>
        <p:spPr>
          <a:xfrm>
            <a:off x="152400" y="2006250"/>
            <a:ext cx="8839200" cy="2779097"/>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57"/>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Constructor</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5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Constructor</a:t>
            </a:r>
            <a:endParaRPr/>
          </a:p>
        </p:txBody>
      </p:sp>
      <p:sp>
        <p:nvSpPr>
          <p:cNvPr id="349" name="Google Shape;349;p5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kita membuat Object, maka kita seperti memanggil sebuah function, karena kita menggunakan kurung ()</a:t>
            </a:r>
            <a:endParaRPr/>
          </a:p>
          <a:p>
            <a:pPr marL="457200" lvl="0" indent="-311150" algn="l" rtl="0">
              <a:spcBef>
                <a:spcPts val="0"/>
              </a:spcBef>
              <a:spcAft>
                <a:spcPts val="0"/>
              </a:spcAft>
              <a:buSzPts val="1300"/>
              <a:buChar char="●"/>
            </a:pPr>
            <a:r>
              <a:rPr lang="id"/>
              <a:t>Di dalam class PHP, kita bisa membuat constructor, constructor adalah function  yang akan dipanggil saat pertama kali Object dibuat.</a:t>
            </a:r>
            <a:endParaRPr/>
          </a:p>
          <a:p>
            <a:pPr marL="457200" lvl="0" indent="-311150" algn="l" rtl="0">
              <a:spcBef>
                <a:spcPts val="0"/>
              </a:spcBef>
              <a:spcAft>
                <a:spcPts val="0"/>
              </a:spcAft>
              <a:buSzPts val="1300"/>
              <a:buChar char="●"/>
            </a:pPr>
            <a:r>
              <a:rPr lang="id"/>
              <a:t>Mirip seperti di function, kita bisa memberi parameter pada constructor</a:t>
            </a:r>
            <a:endParaRPr/>
          </a:p>
          <a:p>
            <a:pPr marL="457200" lvl="0" indent="-311150" algn="l" rtl="0">
              <a:spcBef>
                <a:spcPts val="0"/>
              </a:spcBef>
              <a:spcAft>
                <a:spcPts val="0"/>
              </a:spcAft>
              <a:buSzPts val="1300"/>
              <a:buChar char="●"/>
            </a:pPr>
            <a:r>
              <a:rPr lang="id"/>
              <a:t>Nama constructor di PHP haruslah __construct()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Membuat Constructor</a:t>
            </a:r>
            <a:endParaRPr/>
          </a:p>
        </p:txBody>
      </p:sp>
      <p:pic>
        <p:nvPicPr>
          <p:cNvPr id="355" name="Google Shape;355;p59"/>
          <p:cNvPicPr preferRelativeResize="0"/>
          <p:nvPr/>
        </p:nvPicPr>
        <p:blipFill>
          <a:blip r:embed="rId3">
            <a:alphaModFix/>
          </a:blip>
          <a:stretch>
            <a:fillRect/>
          </a:stretch>
        </p:blipFill>
        <p:spPr>
          <a:xfrm>
            <a:off x="152400" y="2006250"/>
            <a:ext cx="7419670" cy="29848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6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Menggunakan Constructor</a:t>
            </a:r>
            <a:endParaRPr/>
          </a:p>
        </p:txBody>
      </p:sp>
      <p:pic>
        <p:nvPicPr>
          <p:cNvPr id="361" name="Google Shape;361;p60"/>
          <p:cNvPicPr preferRelativeResize="0"/>
          <p:nvPr/>
        </p:nvPicPr>
        <p:blipFill>
          <a:blip r:embed="rId3">
            <a:alphaModFix/>
          </a:blip>
          <a:stretch>
            <a:fillRect/>
          </a:stretch>
        </p:blipFill>
        <p:spPr>
          <a:xfrm>
            <a:off x="152400" y="2006250"/>
            <a:ext cx="8496300" cy="20097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61"/>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Destructor</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6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Destructor</a:t>
            </a:r>
            <a:endParaRPr/>
          </a:p>
        </p:txBody>
      </p:sp>
      <p:sp>
        <p:nvSpPr>
          <p:cNvPr id="372" name="Google Shape;372;p6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Jika constructor adalah function yang akan dipanggil ketika object dibuat</a:t>
            </a:r>
            <a:endParaRPr/>
          </a:p>
          <a:p>
            <a:pPr marL="457200" lvl="0" indent="-311150" algn="l" rtl="0">
              <a:spcBef>
                <a:spcPts val="0"/>
              </a:spcBef>
              <a:spcAft>
                <a:spcPts val="0"/>
              </a:spcAft>
              <a:buSzPts val="1300"/>
              <a:buChar char="●"/>
            </a:pPr>
            <a:r>
              <a:rPr lang="id"/>
              <a:t>Destructor adalah function yang akan dipanggil ketika object dihapus dari memory</a:t>
            </a:r>
            <a:endParaRPr/>
          </a:p>
          <a:p>
            <a:pPr marL="457200" lvl="0" indent="-311150" algn="l" rtl="0">
              <a:spcBef>
                <a:spcPts val="0"/>
              </a:spcBef>
              <a:spcAft>
                <a:spcPts val="0"/>
              </a:spcAft>
              <a:buSzPts val="1300"/>
              <a:buChar char="●"/>
            </a:pPr>
            <a:r>
              <a:rPr lang="id"/>
              <a:t>Biasanya ketika object tersebut sudah tidak lagi digunakan, atau ketika aplikasi akan mati</a:t>
            </a:r>
            <a:endParaRPr/>
          </a:p>
          <a:p>
            <a:pPr marL="457200" lvl="0" indent="-311150" algn="l" rtl="0">
              <a:spcBef>
                <a:spcPts val="0"/>
              </a:spcBef>
              <a:spcAft>
                <a:spcPts val="0"/>
              </a:spcAft>
              <a:buSzPts val="1300"/>
              <a:buChar char="●"/>
            </a:pPr>
            <a:r>
              <a:rPr lang="id"/>
              <a:t>Untuk membuat function destructor, kita bisa menggunakan nama function __destruct()</a:t>
            </a:r>
            <a:endParaRPr/>
          </a:p>
          <a:p>
            <a:pPr marL="457200" lvl="0" indent="-311150" algn="l" rtl="0">
              <a:spcBef>
                <a:spcPts val="0"/>
              </a:spcBef>
              <a:spcAft>
                <a:spcPts val="0"/>
              </a:spcAft>
              <a:buSzPts val="1300"/>
              <a:buChar char="●"/>
            </a:pPr>
            <a:r>
              <a:rPr lang="id"/>
              <a:t>Khusus untuk destructor, kita tidak boleh menambahkan function argument</a:t>
            </a:r>
            <a:endParaRPr/>
          </a:p>
          <a:p>
            <a:pPr marL="457200" lvl="0" indent="-311150" algn="l" rtl="0">
              <a:spcBef>
                <a:spcPts val="0"/>
              </a:spcBef>
              <a:spcAft>
                <a:spcPts val="0"/>
              </a:spcAft>
              <a:buSzPts val="1300"/>
              <a:buChar char="●"/>
            </a:pPr>
            <a:r>
              <a:rPr lang="id"/>
              <a:t>Dalam penggunaan sehari-hari, ini misal cocok untuk menutup koneksi ke database atau menutup proses menulis ke file, sehingga tidak terjadi memory leak</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6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Destructor</a:t>
            </a:r>
            <a:endParaRPr/>
          </a:p>
        </p:txBody>
      </p:sp>
      <p:pic>
        <p:nvPicPr>
          <p:cNvPr id="378" name="Google Shape;378;p63"/>
          <p:cNvPicPr preferRelativeResize="0"/>
          <p:nvPr/>
        </p:nvPicPr>
        <p:blipFill>
          <a:blip r:embed="rId3">
            <a:alphaModFix/>
          </a:blip>
          <a:stretch>
            <a:fillRect/>
          </a:stretch>
        </p:blipFill>
        <p:spPr>
          <a:xfrm>
            <a:off x="152400" y="2006250"/>
            <a:ext cx="8839201" cy="201963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64"/>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Inheritance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6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Inheritance</a:t>
            </a:r>
            <a:endParaRPr/>
          </a:p>
        </p:txBody>
      </p:sp>
      <p:sp>
        <p:nvSpPr>
          <p:cNvPr id="389" name="Google Shape;389;p6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Inheritance atau pewarisan adalah kemampuan untuk menurunkan sebuah class ke class lain</a:t>
            </a:r>
            <a:endParaRPr/>
          </a:p>
          <a:p>
            <a:pPr marL="457200" lvl="0" indent="-311150" algn="l" rtl="0">
              <a:spcBef>
                <a:spcPts val="0"/>
              </a:spcBef>
              <a:spcAft>
                <a:spcPts val="0"/>
              </a:spcAft>
              <a:buSzPts val="1300"/>
              <a:buChar char="●"/>
            </a:pPr>
            <a:r>
              <a:rPr lang="id"/>
              <a:t>Dalam artian, kita bisa membuat class Parent dan class Child</a:t>
            </a:r>
            <a:endParaRPr/>
          </a:p>
          <a:p>
            <a:pPr marL="457200" lvl="0" indent="-311150" algn="l" rtl="0">
              <a:spcBef>
                <a:spcPts val="0"/>
              </a:spcBef>
              <a:spcAft>
                <a:spcPts val="0"/>
              </a:spcAft>
              <a:buSzPts val="1300"/>
              <a:buChar char="●"/>
            </a:pPr>
            <a:r>
              <a:rPr lang="id"/>
              <a:t>Class Child, hanya bisa punya satu class Parent, namun satu class Parent bisa punya banyak class Child</a:t>
            </a:r>
            <a:endParaRPr/>
          </a:p>
          <a:p>
            <a:pPr marL="457200" lvl="0" indent="-311150" algn="l" rtl="0">
              <a:spcBef>
                <a:spcPts val="0"/>
              </a:spcBef>
              <a:spcAft>
                <a:spcPts val="0"/>
              </a:spcAft>
              <a:buSzPts val="1300"/>
              <a:buChar char="●"/>
            </a:pPr>
            <a:r>
              <a:rPr lang="id"/>
              <a:t>Saat sebuah class diturunkan, maka semua properties dan function yang ada di class Parent, secara otomatis akan dimiliki oleh class Child</a:t>
            </a:r>
            <a:endParaRPr/>
          </a:p>
          <a:p>
            <a:pPr marL="457200" lvl="0" indent="-311150" algn="l" rtl="0">
              <a:spcBef>
                <a:spcPts val="0"/>
              </a:spcBef>
              <a:spcAft>
                <a:spcPts val="0"/>
              </a:spcAft>
              <a:buSzPts val="1300"/>
              <a:buChar char="●"/>
            </a:pPr>
            <a:r>
              <a:rPr lang="id"/>
              <a:t>Untuk melakukan pewarisan, di class Child, kita harus menggunakan kata kunci extends lalu diikuti dengan nama class parent nya.</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6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Inheritance</a:t>
            </a:r>
            <a:endParaRPr/>
          </a:p>
        </p:txBody>
      </p:sp>
      <p:pic>
        <p:nvPicPr>
          <p:cNvPr id="395" name="Google Shape;395;p66"/>
          <p:cNvPicPr preferRelativeResize="0"/>
          <p:nvPr/>
        </p:nvPicPr>
        <p:blipFill>
          <a:blip r:embed="rId3">
            <a:alphaModFix/>
          </a:blip>
          <a:stretch>
            <a:fillRect/>
          </a:stretch>
        </p:blipFill>
        <p:spPr>
          <a:xfrm>
            <a:off x="152400" y="2006250"/>
            <a:ext cx="6212866" cy="29848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6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Mengakses Method Parent</a:t>
            </a:r>
            <a:endParaRPr/>
          </a:p>
        </p:txBody>
      </p:sp>
      <p:pic>
        <p:nvPicPr>
          <p:cNvPr id="401" name="Google Shape;401;p67"/>
          <p:cNvPicPr preferRelativeResize="0"/>
          <p:nvPr/>
        </p:nvPicPr>
        <p:blipFill>
          <a:blip r:embed="rId3">
            <a:alphaModFix/>
          </a:blip>
          <a:stretch>
            <a:fillRect/>
          </a:stretch>
        </p:blipFill>
        <p:spPr>
          <a:xfrm>
            <a:off x="152400" y="2006250"/>
            <a:ext cx="8324850" cy="26384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68"/>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Namespace</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6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Namespace</a:t>
            </a:r>
            <a:endParaRPr/>
          </a:p>
        </p:txBody>
      </p:sp>
      <p:sp>
        <p:nvSpPr>
          <p:cNvPr id="412" name="Google Shape;412;p6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kita membuat aplikasi, bisa dipastikan kita akan banyak sekali membuat class</a:t>
            </a:r>
            <a:endParaRPr/>
          </a:p>
          <a:p>
            <a:pPr marL="457200" lvl="0" indent="-311150" algn="l" rtl="0">
              <a:spcBef>
                <a:spcPts val="0"/>
              </a:spcBef>
              <a:spcAft>
                <a:spcPts val="0"/>
              </a:spcAft>
              <a:buSzPts val="1300"/>
              <a:buChar char="●"/>
            </a:pPr>
            <a:r>
              <a:rPr lang="id"/>
              <a:t>Jika class terlalu banyak, kadang akan menyulitkan kita untuk mencari atau mengklasifikasikan jenis-jenis class</a:t>
            </a:r>
            <a:endParaRPr/>
          </a:p>
          <a:p>
            <a:pPr marL="457200" lvl="0" indent="-311150" algn="l" rtl="0">
              <a:spcBef>
                <a:spcPts val="0"/>
              </a:spcBef>
              <a:spcAft>
                <a:spcPts val="0"/>
              </a:spcAft>
              <a:buSzPts val="1300"/>
              <a:buChar char="●"/>
            </a:pPr>
            <a:r>
              <a:rPr lang="id"/>
              <a:t>PHP memiliki fitur namespace, dimana kita bisa menyimpan class-class kita di dalam namespace</a:t>
            </a:r>
            <a:endParaRPr/>
          </a:p>
          <a:p>
            <a:pPr marL="457200" lvl="0" indent="-311150" algn="l" rtl="0">
              <a:spcBef>
                <a:spcPts val="0"/>
              </a:spcBef>
              <a:spcAft>
                <a:spcPts val="0"/>
              </a:spcAft>
              <a:buSzPts val="1300"/>
              <a:buChar char="●"/>
            </a:pPr>
            <a:r>
              <a:rPr lang="id"/>
              <a:t>Namespace bisa nested, dan jika kita ingin mengakses class yang terdapat di namespace, kita perlu menyebutkan nama namespace nya</a:t>
            </a:r>
            <a:endParaRPr/>
          </a:p>
          <a:p>
            <a:pPr marL="457200" lvl="0" indent="-311150" algn="l" rtl="0">
              <a:spcBef>
                <a:spcPts val="0"/>
              </a:spcBef>
              <a:spcAft>
                <a:spcPts val="0"/>
              </a:spcAft>
              <a:buSzPts val="1300"/>
              <a:buChar char="●"/>
            </a:pPr>
            <a:r>
              <a:rPr lang="id"/>
              <a:t>Namespace bagus ketika kita punya beberapa class yang sama, dengan menggunakan namespace nama class sama tidak akan menjadikan error di PHP</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7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Tanpa Namespace</a:t>
            </a:r>
            <a:endParaRPr/>
          </a:p>
        </p:txBody>
      </p:sp>
      <p:pic>
        <p:nvPicPr>
          <p:cNvPr id="418" name="Google Shape;418;p70"/>
          <p:cNvPicPr preferRelativeResize="0"/>
          <p:nvPr/>
        </p:nvPicPr>
        <p:blipFill>
          <a:blip r:embed="rId3">
            <a:alphaModFix/>
          </a:blip>
          <a:stretch>
            <a:fillRect/>
          </a:stretch>
        </p:blipFill>
        <p:spPr>
          <a:xfrm>
            <a:off x="152400" y="2006250"/>
            <a:ext cx="8349401" cy="29848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7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Membuat Namespace</a:t>
            </a:r>
            <a:endParaRPr/>
          </a:p>
        </p:txBody>
      </p:sp>
      <p:sp>
        <p:nvSpPr>
          <p:cNvPr id="424" name="Google Shape;424;p7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Untuk membuat namespace, kita bisa menggunakan kata kunci namespace</a:t>
            </a:r>
            <a:endParaRPr/>
          </a:p>
          <a:p>
            <a:pPr marL="457200" lvl="0" indent="-311150" algn="l" rtl="0">
              <a:spcBef>
                <a:spcPts val="0"/>
              </a:spcBef>
              <a:spcAft>
                <a:spcPts val="0"/>
              </a:spcAft>
              <a:buSzPts val="1300"/>
              <a:buChar char="●"/>
            </a:pPr>
            <a:r>
              <a:rPr lang="id"/>
              <a:t>Jika kita ingin membuat sub namespace, kita cukup gunakan karakter \ setelah namespace sebelumnya</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7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Membuat Namespace</a:t>
            </a:r>
            <a:endParaRPr/>
          </a:p>
        </p:txBody>
      </p:sp>
      <p:pic>
        <p:nvPicPr>
          <p:cNvPr id="430" name="Google Shape;430;p72"/>
          <p:cNvPicPr preferRelativeResize="0"/>
          <p:nvPr/>
        </p:nvPicPr>
        <p:blipFill>
          <a:blip r:embed="rId3">
            <a:alphaModFix/>
          </a:blip>
          <a:stretch>
            <a:fillRect/>
          </a:stretch>
        </p:blipFill>
        <p:spPr>
          <a:xfrm>
            <a:off x="152400" y="2006250"/>
            <a:ext cx="6202204" cy="29848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7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Membuat Object dari Namespace</a:t>
            </a:r>
            <a:endParaRPr/>
          </a:p>
        </p:txBody>
      </p:sp>
      <p:pic>
        <p:nvPicPr>
          <p:cNvPr id="436" name="Google Shape;436;p73"/>
          <p:cNvPicPr preferRelativeResize="0"/>
          <p:nvPr/>
        </p:nvPicPr>
        <p:blipFill>
          <a:blip r:embed="rId3">
            <a:alphaModFix/>
          </a:blip>
          <a:stretch>
            <a:fillRect/>
          </a:stretch>
        </p:blipFill>
        <p:spPr>
          <a:xfrm>
            <a:off x="152400" y="2006250"/>
            <a:ext cx="8839200" cy="1810226"/>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7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Function dan Constant di Namespace</a:t>
            </a:r>
            <a:endParaRPr/>
          </a:p>
        </p:txBody>
      </p:sp>
      <p:sp>
        <p:nvSpPr>
          <p:cNvPr id="442" name="Google Shape;442;p7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Selain class, kita juga menggunakan function dan constant di namespace</a:t>
            </a:r>
            <a:endParaRPr/>
          </a:p>
          <a:p>
            <a:pPr marL="457200" lvl="0" indent="-311150" algn="l" rtl="0">
              <a:spcBef>
                <a:spcPts val="0"/>
              </a:spcBef>
              <a:spcAft>
                <a:spcPts val="0"/>
              </a:spcAft>
              <a:buSzPts val="1300"/>
              <a:buChar char="●"/>
            </a:pPr>
            <a:r>
              <a:rPr lang="id"/>
              <a:t>Dan jika kita ingin menggunakan function atau constant tersebut, kita bisa menggunakannya dengan diawali dengan nama namespace nya</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7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Function dan Constant di Namespace</a:t>
            </a:r>
            <a:endParaRPr/>
          </a:p>
        </p:txBody>
      </p:sp>
      <p:pic>
        <p:nvPicPr>
          <p:cNvPr id="448" name="Google Shape;448;p75"/>
          <p:cNvPicPr preferRelativeResize="0"/>
          <p:nvPr/>
        </p:nvPicPr>
        <p:blipFill>
          <a:blip r:embed="rId3">
            <a:alphaModFix/>
          </a:blip>
          <a:stretch>
            <a:fillRect/>
          </a:stretch>
        </p:blipFill>
        <p:spPr>
          <a:xfrm>
            <a:off x="152400" y="2006250"/>
            <a:ext cx="7877175" cy="29718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7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Global Namespace</a:t>
            </a:r>
            <a:endParaRPr/>
          </a:p>
        </p:txBody>
      </p:sp>
      <p:sp>
        <p:nvSpPr>
          <p:cNvPr id="454" name="Google Shape;454;p7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Secara default saat kita membuat kode di PHP sebenarnya itu disimpan di global namespace</a:t>
            </a:r>
            <a:endParaRPr/>
          </a:p>
          <a:p>
            <a:pPr marL="457200" lvl="0" indent="-311150" algn="l" rtl="0">
              <a:spcBef>
                <a:spcPts val="0"/>
              </a:spcBef>
              <a:spcAft>
                <a:spcPts val="0"/>
              </a:spcAft>
              <a:buSzPts val="1300"/>
              <a:buChar char="●"/>
            </a:pPr>
            <a:r>
              <a:rPr lang="id"/>
              <a:t>Global namespace adalah namespace yang tidak memiliki nama namespace</a:t>
            </a:r>
            <a:endParaRPr/>
          </a:p>
          <a:p>
            <a:pPr marL="0" lvl="0" indent="0" algn="l" rtl="0">
              <a:spcBef>
                <a:spcPts val="1600"/>
              </a:spcBef>
              <a:spcAft>
                <a:spcPts val="1600"/>
              </a:spcAft>
              <a:buNone/>
            </a:pP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7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Global Namespace</a:t>
            </a:r>
            <a:endParaRPr/>
          </a:p>
        </p:txBody>
      </p:sp>
      <p:pic>
        <p:nvPicPr>
          <p:cNvPr id="460" name="Google Shape;460;p77"/>
          <p:cNvPicPr preferRelativeResize="0"/>
          <p:nvPr/>
        </p:nvPicPr>
        <p:blipFill>
          <a:blip r:embed="rId3">
            <a:alphaModFix/>
          </a:blip>
          <a:stretch>
            <a:fillRect/>
          </a:stretch>
        </p:blipFill>
        <p:spPr>
          <a:xfrm>
            <a:off x="152400" y="2006250"/>
            <a:ext cx="8029575" cy="20193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78"/>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Import</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7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use Keyword</a:t>
            </a:r>
            <a:endParaRPr/>
          </a:p>
        </p:txBody>
      </p:sp>
      <p:sp>
        <p:nvSpPr>
          <p:cNvPr id="471" name="Google Shape;471;p7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Sebelumnya kita sudah tahu bahwa untuk menggunakan class, function atau constant di namespace kita perlu menyebutkan nama namespace nya di awal</a:t>
            </a:r>
            <a:endParaRPr/>
          </a:p>
          <a:p>
            <a:pPr marL="457200" lvl="0" indent="-311150" algn="l" rtl="0">
              <a:spcBef>
                <a:spcPts val="0"/>
              </a:spcBef>
              <a:spcAft>
                <a:spcPts val="0"/>
              </a:spcAft>
              <a:buSzPts val="1300"/>
              <a:buChar char="●"/>
            </a:pPr>
            <a:r>
              <a:rPr lang="id"/>
              <a:t>Jika terlalu sering menggunakan class, function atau constant yang sama, maka terlalu banyak duplikasi dengan menyebut namespace yang sama berkali-kali</a:t>
            </a:r>
            <a:endParaRPr/>
          </a:p>
          <a:p>
            <a:pPr marL="457200" lvl="0" indent="-311150" algn="l" rtl="0">
              <a:spcBef>
                <a:spcPts val="0"/>
              </a:spcBef>
              <a:spcAft>
                <a:spcPts val="0"/>
              </a:spcAft>
              <a:buSzPts val="1300"/>
              <a:buChar char="●"/>
            </a:pPr>
            <a:r>
              <a:rPr lang="id"/>
              <a:t>Hal ini bisa kita hindari dengan cara mengimport class, function atau constant tersebut dengan menggunakan kata kunci use</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8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use Keyword</a:t>
            </a:r>
            <a:endParaRPr/>
          </a:p>
        </p:txBody>
      </p:sp>
      <p:pic>
        <p:nvPicPr>
          <p:cNvPr id="477" name="Google Shape;477;p80"/>
          <p:cNvPicPr preferRelativeResize="0"/>
          <p:nvPr/>
        </p:nvPicPr>
        <p:blipFill>
          <a:blip r:embed="rId3">
            <a:alphaModFix/>
          </a:blip>
          <a:stretch>
            <a:fillRect/>
          </a:stretch>
        </p:blipFill>
        <p:spPr>
          <a:xfrm>
            <a:off x="152400" y="2006250"/>
            <a:ext cx="7122350" cy="29848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8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Alias</a:t>
            </a:r>
            <a:endParaRPr/>
          </a:p>
        </p:txBody>
      </p:sp>
      <p:sp>
        <p:nvSpPr>
          <p:cNvPr id="483" name="Google Shape;483;p8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kita menggunakan use, artinya kita tidak perlu lagi menggunakan nama namespace diawal class ketika kita ingin membuat class tersebut</a:t>
            </a:r>
            <a:endParaRPr/>
          </a:p>
          <a:p>
            <a:pPr marL="457200" lvl="0" indent="-311150" algn="l" rtl="0">
              <a:spcBef>
                <a:spcPts val="0"/>
              </a:spcBef>
              <a:spcAft>
                <a:spcPts val="0"/>
              </a:spcAft>
              <a:buSzPts val="1300"/>
              <a:buChar char="●"/>
            </a:pPr>
            <a:r>
              <a:rPr lang="id"/>
              <a:t>Namun bagaimana jika kita ternyata nama class nya sama?</a:t>
            </a:r>
            <a:endParaRPr/>
          </a:p>
          <a:p>
            <a:pPr marL="457200" lvl="0" indent="-311150" algn="l" rtl="0">
              <a:spcBef>
                <a:spcPts val="0"/>
              </a:spcBef>
              <a:spcAft>
                <a:spcPts val="0"/>
              </a:spcAft>
              <a:buSzPts val="1300"/>
              <a:buChar char="●"/>
            </a:pPr>
            <a:r>
              <a:rPr lang="id"/>
              <a:t>Untungnya PHP memiliki fitur yang namanya alias</a:t>
            </a:r>
            <a:endParaRPr/>
          </a:p>
          <a:p>
            <a:pPr marL="457200" lvl="0" indent="-311150" algn="l" rtl="0">
              <a:spcBef>
                <a:spcPts val="0"/>
              </a:spcBef>
              <a:spcAft>
                <a:spcPts val="0"/>
              </a:spcAft>
              <a:buSzPts val="1300"/>
              <a:buChar char="●"/>
            </a:pPr>
            <a:r>
              <a:rPr lang="id"/>
              <a:t>Alias adalah kemampuan membuat nama lain dari class, function atau constant yang ada</a:t>
            </a:r>
            <a:endParaRPr/>
          </a:p>
          <a:p>
            <a:pPr marL="457200" lvl="0" indent="-311150" algn="l" rtl="0">
              <a:spcBef>
                <a:spcPts val="0"/>
              </a:spcBef>
              <a:spcAft>
                <a:spcPts val="0"/>
              </a:spcAft>
              <a:buSzPts val="1300"/>
              <a:buChar char="●"/>
            </a:pPr>
            <a:r>
              <a:rPr lang="id"/>
              <a:t>Kita bisa menggunakan kata kunci as setelah melakukan use</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8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Alias</a:t>
            </a:r>
            <a:endParaRPr/>
          </a:p>
        </p:txBody>
      </p:sp>
      <p:pic>
        <p:nvPicPr>
          <p:cNvPr id="489" name="Google Shape;489;p82"/>
          <p:cNvPicPr preferRelativeResize="0"/>
          <p:nvPr/>
        </p:nvPicPr>
        <p:blipFill>
          <a:blip r:embed="rId3">
            <a:alphaModFix/>
          </a:blip>
          <a:stretch>
            <a:fillRect/>
          </a:stretch>
        </p:blipFill>
        <p:spPr>
          <a:xfrm>
            <a:off x="152400" y="2006250"/>
            <a:ext cx="7796010" cy="29848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8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Group use Declaration</a:t>
            </a:r>
            <a:endParaRPr/>
          </a:p>
        </p:txBody>
      </p:sp>
      <p:sp>
        <p:nvSpPr>
          <p:cNvPr id="495" name="Google Shape;495;p8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Kadang kita butuh melakukan import banyak hal di satu namespace yang sama</a:t>
            </a:r>
            <a:endParaRPr/>
          </a:p>
          <a:p>
            <a:pPr marL="457200" lvl="0" indent="-311150" algn="l" rtl="0">
              <a:spcBef>
                <a:spcPts val="0"/>
              </a:spcBef>
              <a:spcAft>
                <a:spcPts val="0"/>
              </a:spcAft>
              <a:buSzPts val="1300"/>
              <a:buChar char="●"/>
            </a:pPr>
            <a:r>
              <a:rPr lang="id"/>
              <a:t>PHP memiliki fitur grup use, dimana kita bisa import beberapa class, function atau constant dalam satu perintah use</a:t>
            </a:r>
            <a:endParaRPr/>
          </a:p>
          <a:p>
            <a:pPr marL="457200" lvl="0" indent="-311150" algn="l" rtl="0">
              <a:spcBef>
                <a:spcPts val="0"/>
              </a:spcBef>
              <a:spcAft>
                <a:spcPts val="0"/>
              </a:spcAft>
              <a:buSzPts val="1300"/>
              <a:buChar char="●"/>
            </a:pPr>
            <a:r>
              <a:rPr lang="id"/>
              <a:t>Untuk melakukan itu, kita bisa menggunakan kurung { }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8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Group use Declaration</a:t>
            </a:r>
            <a:endParaRPr/>
          </a:p>
        </p:txBody>
      </p:sp>
      <p:pic>
        <p:nvPicPr>
          <p:cNvPr id="501" name="Google Shape;501;p84"/>
          <p:cNvPicPr preferRelativeResize="0"/>
          <p:nvPr/>
        </p:nvPicPr>
        <p:blipFill>
          <a:blip r:embed="rId3">
            <a:alphaModFix/>
          </a:blip>
          <a:stretch>
            <a:fillRect/>
          </a:stretch>
        </p:blipFill>
        <p:spPr>
          <a:xfrm>
            <a:off x="152400" y="2006250"/>
            <a:ext cx="8487354" cy="2984849"/>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85"/>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Visibility</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8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Visibility</a:t>
            </a:r>
            <a:endParaRPr/>
          </a:p>
        </p:txBody>
      </p:sp>
      <p:sp>
        <p:nvSpPr>
          <p:cNvPr id="512" name="Google Shape;512;p8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Visibility / Access modifier adalah kemampuan properties, function dan constant dapat diakses dari mana saja</a:t>
            </a:r>
            <a:endParaRPr/>
          </a:p>
          <a:p>
            <a:pPr marL="457200" lvl="0" indent="-311150" algn="l" rtl="0">
              <a:spcBef>
                <a:spcPts val="0"/>
              </a:spcBef>
              <a:spcAft>
                <a:spcPts val="0"/>
              </a:spcAft>
              <a:buSzPts val="1300"/>
              <a:buChar char="●"/>
            </a:pPr>
            <a:r>
              <a:rPr lang="id"/>
              <a:t>Secara default, properties, function dan constant yang kita buat di dalam class bisa diakses dari mana saja, atau artinya dia adalah public</a:t>
            </a:r>
            <a:endParaRPr/>
          </a:p>
          <a:p>
            <a:pPr marL="457200" lvl="0" indent="-311150" algn="l" rtl="0">
              <a:spcBef>
                <a:spcPts val="0"/>
              </a:spcBef>
              <a:spcAft>
                <a:spcPts val="0"/>
              </a:spcAft>
              <a:buSzPts val="1300"/>
              <a:buChar char="●"/>
            </a:pPr>
            <a:r>
              <a:rPr lang="id"/>
              <a:t>Selain public, masih ada beberapa visibility lainnya</a:t>
            </a:r>
            <a:endParaRPr/>
          </a:p>
          <a:p>
            <a:pPr marL="457200" lvl="0" indent="-311150" algn="l" rtl="0">
              <a:spcBef>
                <a:spcPts val="0"/>
              </a:spcBef>
              <a:spcAft>
                <a:spcPts val="0"/>
              </a:spcAft>
              <a:buSzPts val="1300"/>
              <a:buChar char="●"/>
            </a:pPr>
            <a:r>
              <a:rPr lang="id"/>
              <a:t>Secara default kata kunci var untuk properties adalah sifatnya public</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8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Access Level</a:t>
            </a:r>
            <a:endParaRPr/>
          </a:p>
        </p:txBody>
      </p:sp>
      <p:graphicFrame>
        <p:nvGraphicFramePr>
          <p:cNvPr id="518" name="Google Shape;518;p87"/>
          <p:cNvGraphicFramePr/>
          <p:nvPr/>
        </p:nvGraphicFramePr>
        <p:xfrm>
          <a:off x="954300" y="2107600"/>
          <a:ext cx="5791200" cy="1584840"/>
        </p:xfrm>
        <a:graphic>
          <a:graphicData uri="http://schemas.openxmlformats.org/drawingml/2006/table">
            <a:tbl>
              <a:tblPr>
                <a:noFill/>
                <a:tableStyleId>{B9673AF5-CA51-48C4-976C-ADCB9C662DA2}</a:tableStyleId>
              </a:tblPr>
              <a:tblGrid>
                <a:gridCol w="14478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id"/>
                        <a:t>Modifier</a:t>
                      </a:r>
                      <a:endParaRPr/>
                    </a:p>
                  </a:txBody>
                  <a:tcPr marL="91425" marR="91425" marT="91425" marB="91425">
                    <a:solidFill>
                      <a:srgbClr val="CCCCCC"/>
                    </a:solidFill>
                  </a:tcPr>
                </a:tc>
                <a:tc>
                  <a:txBody>
                    <a:bodyPr/>
                    <a:lstStyle/>
                    <a:p>
                      <a:pPr marL="0" lvl="0" indent="0" algn="l" rtl="0">
                        <a:spcBef>
                          <a:spcPts val="0"/>
                        </a:spcBef>
                        <a:spcAft>
                          <a:spcPts val="0"/>
                        </a:spcAft>
                        <a:buNone/>
                      </a:pPr>
                      <a:r>
                        <a:rPr lang="id"/>
                        <a:t>Class</a:t>
                      </a:r>
                      <a:endParaRPr/>
                    </a:p>
                  </a:txBody>
                  <a:tcPr marL="91425" marR="91425" marT="91425" marB="91425">
                    <a:solidFill>
                      <a:srgbClr val="CCCCCC"/>
                    </a:solidFill>
                  </a:tcPr>
                </a:tc>
                <a:tc>
                  <a:txBody>
                    <a:bodyPr/>
                    <a:lstStyle/>
                    <a:p>
                      <a:pPr marL="0" lvl="0" indent="0" algn="l" rtl="0">
                        <a:spcBef>
                          <a:spcPts val="0"/>
                        </a:spcBef>
                        <a:spcAft>
                          <a:spcPts val="0"/>
                        </a:spcAft>
                        <a:buNone/>
                      </a:pPr>
                      <a:r>
                        <a:rPr lang="id"/>
                        <a:t>Subclass</a:t>
                      </a:r>
                      <a:endParaRPr/>
                    </a:p>
                  </a:txBody>
                  <a:tcPr marL="91425" marR="91425" marT="91425" marB="91425">
                    <a:solidFill>
                      <a:srgbClr val="CCCCCC"/>
                    </a:solidFill>
                  </a:tcPr>
                </a:tc>
                <a:tc>
                  <a:txBody>
                    <a:bodyPr/>
                    <a:lstStyle/>
                    <a:p>
                      <a:pPr marL="0" lvl="0" indent="0" algn="l" rtl="0">
                        <a:spcBef>
                          <a:spcPts val="0"/>
                        </a:spcBef>
                        <a:spcAft>
                          <a:spcPts val="0"/>
                        </a:spcAft>
                        <a:buNone/>
                      </a:pPr>
                      <a:r>
                        <a:rPr lang="id"/>
                        <a:t>World</a:t>
                      </a:r>
                      <a:endParaRPr/>
                    </a:p>
                  </a:txBody>
                  <a:tcPr marL="91425" marR="91425" marT="91425" marB="91425">
                    <a:solidFill>
                      <a:srgbClr val="CCCCCC"/>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id"/>
                        <a:t>public</a:t>
                      </a:r>
                      <a:endParaRPr/>
                    </a:p>
                  </a:txBody>
                  <a:tcPr marL="91425" marR="91425" marT="91425" marB="91425"/>
                </a:tc>
                <a:tc>
                  <a:txBody>
                    <a:bodyPr/>
                    <a:lstStyle/>
                    <a:p>
                      <a:pPr marL="0" lvl="0" indent="0" algn="l" rtl="0">
                        <a:spcBef>
                          <a:spcPts val="0"/>
                        </a:spcBef>
                        <a:spcAft>
                          <a:spcPts val="0"/>
                        </a:spcAft>
                        <a:buNone/>
                      </a:pPr>
                      <a:r>
                        <a:rPr lang="id"/>
                        <a:t>Y</a:t>
                      </a:r>
                      <a:endParaRPr/>
                    </a:p>
                  </a:txBody>
                  <a:tcPr marL="91425" marR="91425" marT="91425" marB="91425"/>
                </a:tc>
                <a:tc>
                  <a:txBody>
                    <a:bodyPr/>
                    <a:lstStyle/>
                    <a:p>
                      <a:pPr marL="0" lvl="0" indent="0" algn="l" rtl="0">
                        <a:spcBef>
                          <a:spcPts val="0"/>
                        </a:spcBef>
                        <a:spcAft>
                          <a:spcPts val="0"/>
                        </a:spcAft>
                        <a:buNone/>
                      </a:pPr>
                      <a:r>
                        <a:rPr lang="id"/>
                        <a:t>Y</a:t>
                      </a:r>
                      <a:endParaRPr/>
                    </a:p>
                  </a:txBody>
                  <a:tcPr marL="91425" marR="91425" marT="91425" marB="91425"/>
                </a:tc>
                <a:tc>
                  <a:txBody>
                    <a:bodyPr/>
                    <a:lstStyle/>
                    <a:p>
                      <a:pPr marL="0" lvl="0" indent="0" algn="l" rtl="0">
                        <a:spcBef>
                          <a:spcPts val="0"/>
                        </a:spcBef>
                        <a:spcAft>
                          <a:spcPts val="0"/>
                        </a:spcAft>
                        <a:buNone/>
                      </a:pPr>
                      <a:r>
                        <a:rPr lang="id"/>
                        <a:t>Y</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id"/>
                        <a:t>protected</a:t>
                      </a:r>
                      <a:endParaRPr/>
                    </a:p>
                  </a:txBody>
                  <a:tcPr marL="91425" marR="91425" marT="91425" marB="91425"/>
                </a:tc>
                <a:tc>
                  <a:txBody>
                    <a:bodyPr/>
                    <a:lstStyle/>
                    <a:p>
                      <a:pPr marL="0" lvl="0" indent="0" algn="l" rtl="0">
                        <a:spcBef>
                          <a:spcPts val="0"/>
                        </a:spcBef>
                        <a:spcAft>
                          <a:spcPts val="0"/>
                        </a:spcAft>
                        <a:buNone/>
                      </a:pPr>
                      <a:r>
                        <a:rPr lang="id"/>
                        <a:t>Y</a:t>
                      </a:r>
                      <a:endParaRPr/>
                    </a:p>
                  </a:txBody>
                  <a:tcPr marL="91425" marR="91425" marT="91425" marB="91425"/>
                </a:tc>
                <a:tc>
                  <a:txBody>
                    <a:bodyPr/>
                    <a:lstStyle/>
                    <a:p>
                      <a:pPr marL="0" lvl="0" indent="0" algn="l" rtl="0">
                        <a:spcBef>
                          <a:spcPts val="0"/>
                        </a:spcBef>
                        <a:spcAft>
                          <a:spcPts val="0"/>
                        </a:spcAft>
                        <a:buNone/>
                      </a:pPr>
                      <a:r>
                        <a:rPr lang="id"/>
                        <a:t>Y</a:t>
                      </a:r>
                      <a:endParaRPr/>
                    </a:p>
                  </a:txBody>
                  <a:tcPr marL="91425" marR="91425" marT="91425" marB="91425"/>
                </a:tc>
                <a:tc>
                  <a:txBody>
                    <a:bodyPr/>
                    <a:lstStyle/>
                    <a:p>
                      <a:pPr marL="0" lvl="0" indent="0" algn="l" rtl="0">
                        <a:spcBef>
                          <a:spcPts val="0"/>
                        </a:spcBef>
                        <a:spcAft>
                          <a:spcPts val="0"/>
                        </a:spcAft>
                        <a:buNone/>
                      </a:pPr>
                      <a:r>
                        <a:rPr lang="id"/>
                        <a:t>N</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id"/>
                        <a:t>private</a:t>
                      </a:r>
                      <a:endParaRPr/>
                    </a:p>
                  </a:txBody>
                  <a:tcPr marL="91425" marR="91425" marT="91425" marB="91425"/>
                </a:tc>
                <a:tc>
                  <a:txBody>
                    <a:bodyPr/>
                    <a:lstStyle/>
                    <a:p>
                      <a:pPr marL="0" lvl="0" indent="0" algn="l" rtl="0">
                        <a:spcBef>
                          <a:spcPts val="0"/>
                        </a:spcBef>
                        <a:spcAft>
                          <a:spcPts val="0"/>
                        </a:spcAft>
                        <a:buNone/>
                      </a:pPr>
                      <a:r>
                        <a:rPr lang="id"/>
                        <a:t>Y</a:t>
                      </a:r>
                      <a:endParaRPr/>
                    </a:p>
                  </a:txBody>
                  <a:tcPr marL="91425" marR="91425" marT="91425" marB="91425"/>
                </a:tc>
                <a:tc>
                  <a:txBody>
                    <a:bodyPr/>
                    <a:lstStyle/>
                    <a:p>
                      <a:pPr marL="0" lvl="0" indent="0" algn="l" rtl="0">
                        <a:spcBef>
                          <a:spcPts val="0"/>
                        </a:spcBef>
                        <a:spcAft>
                          <a:spcPts val="0"/>
                        </a:spcAft>
                        <a:buNone/>
                      </a:pPr>
                      <a:r>
                        <a:rPr lang="id"/>
                        <a:t>N</a:t>
                      </a:r>
                      <a:endParaRPr/>
                    </a:p>
                  </a:txBody>
                  <a:tcPr marL="91425" marR="91425" marT="91425" marB="91425"/>
                </a:tc>
                <a:tc>
                  <a:txBody>
                    <a:bodyPr/>
                    <a:lstStyle/>
                    <a:p>
                      <a:pPr marL="0" lvl="0" indent="0" algn="l" rtl="0">
                        <a:spcBef>
                          <a:spcPts val="0"/>
                        </a:spcBef>
                        <a:spcAft>
                          <a:spcPts val="0"/>
                        </a:spcAft>
                        <a:buNone/>
                      </a:pPr>
                      <a:r>
                        <a:rPr lang="id"/>
                        <a:t>N</a:t>
                      </a:r>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8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Class Product</a:t>
            </a:r>
            <a:endParaRPr/>
          </a:p>
        </p:txBody>
      </p:sp>
      <p:pic>
        <p:nvPicPr>
          <p:cNvPr id="524" name="Google Shape;524;p88"/>
          <p:cNvPicPr preferRelativeResize="0"/>
          <p:nvPr/>
        </p:nvPicPr>
        <p:blipFill>
          <a:blip r:embed="rId3">
            <a:alphaModFix/>
          </a:blip>
          <a:stretch>
            <a:fillRect/>
          </a:stretch>
        </p:blipFill>
        <p:spPr>
          <a:xfrm>
            <a:off x="152400" y="2006250"/>
            <a:ext cx="6144570" cy="298485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8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Menggunakan Product</a:t>
            </a:r>
            <a:endParaRPr/>
          </a:p>
        </p:txBody>
      </p:sp>
      <p:pic>
        <p:nvPicPr>
          <p:cNvPr id="530" name="Google Shape;530;p89"/>
          <p:cNvPicPr preferRelativeResize="0"/>
          <p:nvPr/>
        </p:nvPicPr>
        <p:blipFill>
          <a:blip r:embed="rId3">
            <a:alphaModFix/>
          </a:blip>
          <a:stretch>
            <a:fillRect/>
          </a:stretch>
        </p:blipFill>
        <p:spPr>
          <a:xfrm>
            <a:off x="152400" y="2006250"/>
            <a:ext cx="7018225" cy="29848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90"/>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Function Overriding</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9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Function Overriding</a:t>
            </a:r>
            <a:endParaRPr/>
          </a:p>
        </p:txBody>
      </p:sp>
      <p:sp>
        <p:nvSpPr>
          <p:cNvPr id="541" name="Google Shape;541;p9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Function overriding adalah kemampuan mendeklarasikan ulang function di child class, yang sudah ada di parent class</a:t>
            </a:r>
            <a:endParaRPr/>
          </a:p>
          <a:p>
            <a:pPr marL="457200" lvl="0" indent="-311150" algn="l" rtl="0">
              <a:spcBef>
                <a:spcPts val="0"/>
              </a:spcBef>
              <a:spcAft>
                <a:spcPts val="0"/>
              </a:spcAft>
              <a:buSzPts val="1300"/>
              <a:buChar char="●"/>
            </a:pPr>
            <a:r>
              <a:rPr lang="id"/>
              <a:t>Saat kita melakukan proses overriding tersebut, secara otomatis ketika kita membuat object dari class child, function yang di class parent tidak bisa diakses lagi</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9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Method Overriding</a:t>
            </a:r>
            <a:endParaRPr/>
          </a:p>
        </p:txBody>
      </p:sp>
      <p:pic>
        <p:nvPicPr>
          <p:cNvPr id="547" name="Google Shape;547;p92"/>
          <p:cNvPicPr preferRelativeResize="0"/>
          <p:nvPr/>
        </p:nvPicPr>
        <p:blipFill>
          <a:blip r:embed="rId3">
            <a:alphaModFix/>
          </a:blip>
          <a:stretch>
            <a:fillRect/>
          </a:stretch>
        </p:blipFill>
        <p:spPr>
          <a:xfrm>
            <a:off x="152400" y="2006250"/>
            <a:ext cx="4943348" cy="29848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9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Mengakses Function Overriding</a:t>
            </a:r>
            <a:endParaRPr/>
          </a:p>
        </p:txBody>
      </p:sp>
      <p:pic>
        <p:nvPicPr>
          <p:cNvPr id="553" name="Google Shape;553;p93"/>
          <p:cNvPicPr preferRelativeResize="0"/>
          <p:nvPr/>
        </p:nvPicPr>
        <p:blipFill>
          <a:blip r:embed="rId3">
            <a:alphaModFix/>
          </a:blip>
          <a:stretch>
            <a:fillRect/>
          </a:stretch>
        </p:blipFill>
        <p:spPr>
          <a:xfrm>
            <a:off x="152400" y="2006250"/>
            <a:ext cx="8229600" cy="264795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94"/>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parent Keyword</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9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parent Keyword</a:t>
            </a:r>
            <a:endParaRPr/>
          </a:p>
        </p:txBody>
      </p:sp>
      <p:sp>
        <p:nvSpPr>
          <p:cNvPr id="564" name="Google Shape;564;p9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Kadang kita ingin mengakses function yang terdapat di class parent yang sudah terlanjur kita override di class child</a:t>
            </a:r>
            <a:endParaRPr/>
          </a:p>
          <a:p>
            <a:pPr marL="457200" lvl="0" indent="-311150" algn="l" rtl="0">
              <a:spcBef>
                <a:spcPts val="0"/>
              </a:spcBef>
              <a:spcAft>
                <a:spcPts val="0"/>
              </a:spcAft>
              <a:buSzPts val="1300"/>
              <a:buChar char="●"/>
            </a:pPr>
            <a:r>
              <a:rPr lang="id"/>
              <a:t>Untuk mengakses function milik class parent, kita bisa menggunakan kata kunci parent</a:t>
            </a:r>
            <a:endParaRPr/>
          </a:p>
          <a:p>
            <a:pPr marL="457200" lvl="0" indent="-311150" algn="l" rtl="0">
              <a:spcBef>
                <a:spcPts val="0"/>
              </a:spcBef>
              <a:spcAft>
                <a:spcPts val="0"/>
              </a:spcAft>
              <a:buSzPts val="1300"/>
              <a:buChar char="●"/>
            </a:pPr>
            <a:r>
              <a:rPr lang="id"/>
              <a:t>Sederhananya, parent digunakan untuk mengakses class parent</a:t>
            </a:r>
            <a:endParaRPr/>
          </a:p>
          <a:p>
            <a:pPr marL="0" lvl="0" indent="0" algn="l" rtl="0">
              <a:spcBef>
                <a:spcPts val="1600"/>
              </a:spcBef>
              <a:spcAft>
                <a:spcPts val="1600"/>
              </a:spcAft>
              <a:buNone/>
            </a:pP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9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Parent Keyword</a:t>
            </a:r>
            <a:endParaRPr/>
          </a:p>
        </p:txBody>
      </p:sp>
      <p:pic>
        <p:nvPicPr>
          <p:cNvPr id="570" name="Google Shape;570;p96"/>
          <p:cNvPicPr preferRelativeResize="0"/>
          <p:nvPr/>
        </p:nvPicPr>
        <p:blipFill>
          <a:blip r:embed="rId3">
            <a:alphaModFix/>
          </a:blip>
          <a:stretch>
            <a:fillRect/>
          </a:stretch>
        </p:blipFill>
        <p:spPr>
          <a:xfrm>
            <a:off x="152400" y="2006250"/>
            <a:ext cx="3600524" cy="2984850"/>
          </a:xfrm>
          <a:prstGeom prst="rect">
            <a:avLst/>
          </a:prstGeom>
          <a:noFill/>
          <a:ln>
            <a:noFill/>
          </a:ln>
        </p:spPr>
      </p:pic>
      <p:pic>
        <p:nvPicPr>
          <p:cNvPr id="571" name="Google Shape;571;p96"/>
          <p:cNvPicPr preferRelativeResize="0"/>
          <p:nvPr/>
        </p:nvPicPr>
        <p:blipFill>
          <a:blip r:embed="rId4">
            <a:alphaModFix/>
          </a:blip>
          <a:stretch>
            <a:fillRect/>
          </a:stretch>
        </p:blipFill>
        <p:spPr>
          <a:xfrm>
            <a:off x="3905324" y="2006250"/>
            <a:ext cx="3859827" cy="298485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97"/>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Constructor Overriding</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9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Constructor Overriding</a:t>
            </a:r>
            <a:endParaRPr/>
          </a:p>
        </p:txBody>
      </p:sp>
      <p:sp>
        <p:nvSpPr>
          <p:cNvPr id="582" name="Google Shape;582;p9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Karena constructor sama seperti function, maka constructor-pun bisa kita deklarasikan ulang di class Child nya</a:t>
            </a:r>
            <a:endParaRPr/>
          </a:p>
          <a:p>
            <a:pPr marL="457200" lvl="0" indent="-311150" algn="l" rtl="0">
              <a:spcBef>
                <a:spcPts val="0"/>
              </a:spcBef>
              <a:spcAft>
                <a:spcPts val="0"/>
              </a:spcAft>
              <a:buSzPts val="1300"/>
              <a:buChar char="●"/>
            </a:pPr>
            <a:r>
              <a:rPr lang="id"/>
              <a:t>Sebenarnya di PHP, kita bisa meng-override function dengan arguments yang berbeda, namun sangat tidak disarankan</a:t>
            </a:r>
            <a:endParaRPr/>
          </a:p>
          <a:p>
            <a:pPr marL="457200" lvl="0" indent="-311150" algn="l" rtl="0">
              <a:spcBef>
                <a:spcPts val="0"/>
              </a:spcBef>
              <a:spcAft>
                <a:spcPts val="0"/>
              </a:spcAft>
              <a:buSzPts val="1300"/>
              <a:buChar char="●"/>
            </a:pPr>
            <a:r>
              <a:rPr lang="id"/>
              <a:t>Jika kita melakukan override function dengan arguments berbeda, maka PHP akan menampilkan WARNING</a:t>
            </a:r>
            <a:endParaRPr/>
          </a:p>
          <a:p>
            <a:pPr marL="457200" lvl="0" indent="-311150" algn="l" rtl="0">
              <a:spcBef>
                <a:spcPts val="0"/>
              </a:spcBef>
              <a:spcAft>
                <a:spcPts val="0"/>
              </a:spcAft>
              <a:buSzPts val="1300"/>
              <a:buChar char="●"/>
            </a:pPr>
            <a:r>
              <a:rPr lang="id"/>
              <a:t>Namun berbeda dengan constructor overriding, kita boleh meng-override dengan mengubah arguments nya, namun direkomendasikan untuk memanggil parent constructor</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9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Merubah Arguments Overriding</a:t>
            </a:r>
            <a:endParaRPr/>
          </a:p>
        </p:txBody>
      </p:sp>
      <p:pic>
        <p:nvPicPr>
          <p:cNvPr id="588" name="Google Shape;588;p99"/>
          <p:cNvPicPr preferRelativeResize="0"/>
          <p:nvPr/>
        </p:nvPicPr>
        <p:blipFill>
          <a:blip r:embed="rId3">
            <a:alphaModFix/>
          </a:blip>
          <a:stretch>
            <a:fillRect/>
          </a:stretch>
        </p:blipFill>
        <p:spPr>
          <a:xfrm>
            <a:off x="152400" y="2006250"/>
            <a:ext cx="8600134" cy="298485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10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Constructor Overriding (1)</a:t>
            </a:r>
            <a:endParaRPr/>
          </a:p>
        </p:txBody>
      </p:sp>
      <p:pic>
        <p:nvPicPr>
          <p:cNvPr id="594" name="Google Shape;594;p100"/>
          <p:cNvPicPr preferRelativeResize="0"/>
          <p:nvPr/>
        </p:nvPicPr>
        <p:blipFill>
          <a:blip r:embed="rId3">
            <a:alphaModFix/>
          </a:blip>
          <a:stretch>
            <a:fillRect/>
          </a:stretch>
        </p:blipFill>
        <p:spPr>
          <a:xfrm>
            <a:off x="152400" y="2006250"/>
            <a:ext cx="8007742" cy="298485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10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Constructor Overriding (2)</a:t>
            </a:r>
            <a:endParaRPr/>
          </a:p>
        </p:txBody>
      </p:sp>
      <p:pic>
        <p:nvPicPr>
          <p:cNvPr id="600" name="Google Shape;600;p101"/>
          <p:cNvPicPr preferRelativeResize="0"/>
          <p:nvPr/>
        </p:nvPicPr>
        <p:blipFill>
          <a:blip r:embed="rId3">
            <a:alphaModFix/>
          </a:blip>
          <a:stretch>
            <a:fillRect/>
          </a:stretch>
        </p:blipFill>
        <p:spPr>
          <a:xfrm>
            <a:off x="152400" y="2006250"/>
            <a:ext cx="8839202" cy="2305492"/>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102"/>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Polymorphism</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10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Polymorphism</a:t>
            </a:r>
            <a:endParaRPr/>
          </a:p>
        </p:txBody>
      </p:sp>
      <p:sp>
        <p:nvSpPr>
          <p:cNvPr id="611" name="Google Shape;611;p10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Polymorphism berasal dari bahasa Yunani yang berarti banyak bentuk.</a:t>
            </a:r>
            <a:endParaRPr/>
          </a:p>
          <a:p>
            <a:pPr marL="457200" lvl="0" indent="-311150" algn="l" rtl="0">
              <a:spcBef>
                <a:spcPts val="0"/>
              </a:spcBef>
              <a:spcAft>
                <a:spcPts val="0"/>
              </a:spcAft>
              <a:buSzPts val="1300"/>
              <a:buChar char="●"/>
            </a:pPr>
            <a:r>
              <a:rPr lang="id"/>
              <a:t>Dalam OOP, Polymorphism adalah kemampuan sebuah object berubah bentuk menjadi bentuk lain</a:t>
            </a:r>
            <a:endParaRPr/>
          </a:p>
          <a:p>
            <a:pPr marL="457200" lvl="0" indent="-311150" algn="l" rtl="0">
              <a:spcBef>
                <a:spcPts val="0"/>
              </a:spcBef>
              <a:spcAft>
                <a:spcPts val="0"/>
              </a:spcAft>
              <a:buSzPts val="1300"/>
              <a:buChar char="●"/>
            </a:pPr>
            <a:r>
              <a:rPr lang="id"/>
              <a:t>Polymorphism erat hubungannya dengan Inheritance</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10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Inheritance</a:t>
            </a:r>
            <a:endParaRPr/>
          </a:p>
        </p:txBody>
      </p:sp>
      <p:pic>
        <p:nvPicPr>
          <p:cNvPr id="617" name="Google Shape;617;p104"/>
          <p:cNvPicPr preferRelativeResize="0"/>
          <p:nvPr/>
        </p:nvPicPr>
        <p:blipFill>
          <a:blip r:embed="rId3">
            <a:alphaModFix/>
          </a:blip>
          <a:stretch>
            <a:fillRect/>
          </a:stretch>
        </p:blipFill>
        <p:spPr>
          <a:xfrm>
            <a:off x="152400" y="2006250"/>
            <a:ext cx="6189941" cy="298485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10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Polymorphism</a:t>
            </a:r>
            <a:endParaRPr/>
          </a:p>
        </p:txBody>
      </p:sp>
      <p:pic>
        <p:nvPicPr>
          <p:cNvPr id="623" name="Google Shape;623;p105"/>
          <p:cNvPicPr preferRelativeResize="0"/>
          <p:nvPr/>
        </p:nvPicPr>
        <p:blipFill>
          <a:blip r:embed="rId3">
            <a:alphaModFix/>
          </a:blip>
          <a:stretch>
            <a:fillRect/>
          </a:stretch>
        </p:blipFill>
        <p:spPr>
          <a:xfrm>
            <a:off x="152400" y="2006250"/>
            <a:ext cx="8839199" cy="297566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10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Function Argument Polymorphism</a:t>
            </a:r>
            <a:endParaRPr/>
          </a:p>
        </p:txBody>
      </p:sp>
      <p:pic>
        <p:nvPicPr>
          <p:cNvPr id="629" name="Google Shape;629;p106"/>
          <p:cNvPicPr preferRelativeResize="0"/>
          <p:nvPr/>
        </p:nvPicPr>
        <p:blipFill>
          <a:blip r:embed="rId3">
            <a:alphaModFix/>
          </a:blip>
          <a:stretch>
            <a:fillRect/>
          </a:stretch>
        </p:blipFill>
        <p:spPr>
          <a:xfrm>
            <a:off x="152400" y="2006250"/>
            <a:ext cx="8839201" cy="2708366"/>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107"/>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Type Check &amp; Casts</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10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Type Check &amp; Casts</a:t>
            </a:r>
            <a:endParaRPr/>
          </a:p>
        </p:txBody>
      </p:sp>
      <p:sp>
        <p:nvSpPr>
          <p:cNvPr id="640" name="Google Shape;640;p10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Sebelumnya kita sudah tau cara melakukan konversi tipe data bukan class</a:t>
            </a:r>
            <a:endParaRPr/>
          </a:p>
          <a:p>
            <a:pPr marL="457200" lvl="0" indent="-311150" algn="l" rtl="0">
              <a:spcBef>
                <a:spcPts val="0"/>
              </a:spcBef>
              <a:spcAft>
                <a:spcPts val="0"/>
              </a:spcAft>
              <a:buSzPts val="1300"/>
              <a:buChar char="●"/>
            </a:pPr>
            <a:r>
              <a:rPr lang="id"/>
              <a:t>Khusus untuk tipe data object, kita tidak perlu melakukan konversi secara eksplisit</a:t>
            </a:r>
            <a:endParaRPr/>
          </a:p>
          <a:p>
            <a:pPr marL="457200" lvl="0" indent="-311150" algn="l" rtl="0">
              <a:spcBef>
                <a:spcPts val="0"/>
              </a:spcBef>
              <a:spcAft>
                <a:spcPts val="0"/>
              </a:spcAft>
              <a:buSzPts val="1300"/>
              <a:buChar char="●"/>
            </a:pPr>
            <a:r>
              <a:rPr lang="id"/>
              <a:t>Namun agar aman, sebelum melakukan casts, pastikan kita melakukan type check (pengecekan tipe data), dengan menggunakan kata kunci instanceof</a:t>
            </a:r>
            <a:endParaRPr/>
          </a:p>
          <a:p>
            <a:pPr marL="457200" lvl="0" indent="-311150" algn="l" rtl="0">
              <a:spcBef>
                <a:spcPts val="0"/>
              </a:spcBef>
              <a:spcAft>
                <a:spcPts val="0"/>
              </a:spcAft>
              <a:buSzPts val="1300"/>
              <a:buChar char="●"/>
            </a:pPr>
            <a:r>
              <a:rPr lang="id"/>
              <a:t>Hasil operator instanceof adalah boolean, true jika tipe data sesuai, false jika tidak sesuai</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10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Type Check &amp; Casts</a:t>
            </a:r>
            <a:endParaRPr/>
          </a:p>
        </p:txBody>
      </p:sp>
      <p:pic>
        <p:nvPicPr>
          <p:cNvPr id="646" name="Google Shape;646;p109"/>
          <p:cNvPicPr preferRelativeResize="0"/>
          <p:nvPr/>
        </p:nvPicPr>
        <p:blipFill>
          <a:blip r:embed="rId3">
            <a:alphaModFix/>
          </a:blip>
          <a:stretch>
            <a:fillRect/>
          </a:stretch>
        </p:blipFill>
        <p:spPr>
          <a:xfrm>
            <a:off x="152400" y="2006250"/>
            <a:ext cx="8839198" cy="2898749"/>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10"/>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Abstract Class</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11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Abstract Class</a:t>
            </a:r>
            <a:endParaRPr/>
          </a:p>
        </p:txBody>
      </p:sp>
      <p:sp>
        <p:nvSpPr>
          <p:cNvPr id="657" name="Google Shape;657;p11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kita membuat class, kita bisa menjadikan sebuah class sebagai abstract class.</a:t>
            </a:r>
            <a:endParaRPr/>
          </a:p>
          <a:p>
            <a:pPr marL="457200" lvl="0" indent="-311150" algn="l" rtl="0">
              <a:spcBef>
                <a:spcPts val="0"/>
              </a:spcBef>
              <a:spcAft>
                <a:spcPts val="0"/>
              </a:spcAft>
              <a:buSzPts val="1300"/>
              <a:buChar char="●"/>
            </a:pPr>
            <a:r>
              <a:rPr lang="id"/>
              <a:t>Abstract class artinya, class tersebut tidak bisa dibuat sebagai object secara langsung, hanya bisa diturunkan</a:t>
            </a:r>
            <a:endParaRPr/>
          </a:p>
          <a:p>
            <a:pPr marL="457200" lvl="0" indent="-311150" algn="l" rtl="0">
              <a:spcBef>
                <a:spcPts val="0"/>
              </a:spcBef>
              <a:spcAft>
                <a:spcPts val="0"/>
              </a:spcAft>
              <a:buSzPts val="1300"/>
              <a:buChar char="●"/>
            </a:pPr>
            <a:r>
              <a:rPr lang="id"/>
              <a:t>Untuk membuat sebuah class menjadi abstract, kita bisa menggunakan kata kunci abstract sebelum kata kunci class</a:t>
            </a:r>
            <a:endParaRPr/>
          </a:p>
          <a:p>
            <a:pPr marL="457200" lvl="0" indent="-311150" algn="l" rtl="0">
              <a:spcBef>
                <a:spcPts val="0"/>
              </a:spcBef>
              <a:spcAft>
                <a:spcPts val="0"/>
              </a:spcAft>
              <a:buSzPts val="1300"/>
              <a:buChar char="●"/>
            </a:pPr>
            <a:r>
              <a:rPr lang="id"/>
              <a:t>Sehingga Abstract Class bisa kita gunakan sebagai kontrak child class</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112"/>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Abstract Class</a:t>
            </a:r>
            <a:endParaRPr/>
          </a:p>
        </p:txBody>
      </p:sp>
      <p:pic>
        <p:nvPicPr>
          <p:cNvPr id="663" name="Google Shape;663;p112"/>
          <p:cNvPicPr preferRelativeResize="0"/>
          <p:nvPr/>
        </p:nvPicPr>
        <p:blipFill>
          <a:blip r:embed="rId3">
            <a:alphaModFix/>
          </a:blip>
          <a:stretch>
            <a:fillRect/>
          </a:stretch>
        </p:blipFill>
        <p:spPr>
          <a:xfrm>
            <a:off x="152400" y="2006250"/>
            <a:ext cx="7225231" cy="298485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113"/>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Membuat Abstract Class</a:t>
            </a:r>
            <a:endParaRPr/>
          </a:p>
        </p:txBody>
      </p:sp>
      <p:pic>
        <p:nvPicPr>
          <p:cNvPr id="669" name="Google Shape;669;p113"/>
          <p:cNvPicPr preferRelativeResize="0"/>
          <p:nvPr/>
        </p:nvPicPr>
        <p:blipFill>
          <a:blip r:embed="rId3">
            <a:alphaModFix/>
          </a:blip>
          <a:stretch>
            <a:fillRect/>
          </a:stretch>
        </p:blipFill>
        <p:spPr>
          <a:xfrm>
            <a:off x="152400" y="2006250"/>
            <a:ext cx="8839201" cy="228990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114"/>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Abstract Function</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1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Abstract Function</a:t>
            </a:r>
            <a:endParaRPr/>
          </a:p>
        </p:txBody>
      </p:sp>
      <p:sp>
        <p:nvSpPr>
          <p:cNvPr id="680" name="Google Shape;680;p1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kita membuat class yang abstract, kita bisa membuat abstract function juga di dalam class abstract tersebut</a:t>
            </a:r>
            <a:endParaRPr/>
          </a:p>
          <a:p>
            <a:pPr marL="457200" lvl="0" indent="-311150" algn="l" rtl="0">
              <a:spcBef>
                <a:spcPts val="0"/>
              </a:spcBef>
              <a:spcAft>
                <a:spcPts val="0"/>
              </a:spcAft>
              <a:buSzPts val="1300"/>
              <a:buChar char="●"/>
            </a:pPr>
            <a:r>
              <a:rPr lang="id"/>
              <a:t>Saat kita membuat sebuah abstract function, kita tidak boleh membuat block function untuk function tersebut</a:t>
            </a:r>
            <a:endParaRPr/>
          </a:p>
          <a:p>
            <a:pPr marL="457200" lvl="0" indent="-311150" algn="l" rtl="0">
              <a:spcBef>
                <a:spcPts val="0"/>
              </a:spcBef>
              <a:spcAft>
                <a:spcPts val="0"/>
              </a:spcAft>
              <a:buSzPts val="1300"/>
              <a:buChar char="●"/>
            </a:pPr>
            <a:r>
              <a:rPr lang="id"/>
              <a:t>Artinya, abstract function wajib di override di class child</a:t>
            </a:r>
            <a:endParaRPr/>
          </a:p>
          <a:p>
            <a:pPr marL="457200" lvl="0" indent="-311150" algn="l" rtl="0">
              <a:spcBef>
                <a:spcPts val="0"/>
              </a:spcBef>
              <a:spcAft>
                <a:spcPts val="0"/>
              </a:spcAft>
              <a:buSzPts val="1300"/>
              <a:buChar char="●"/>
            </a:pPr>
            <a:r>
              <a:rPr lang="id"/>
              <a:t>Abstract function tidak boleh memiliki access modifier private</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1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Abstract Function</a:t>
            </a:r>
            <a:endParaRPr/>
          </a:p>
        </p:txBody>
      </p:sp>
      <p:pic>
        <p:nvPicPr>
          <p:cNvPr id="686" name="Google Shape;686;p116"/>
          <p:cNvPicPr preferRelativeResize="0"/>
          <p:nvPr/>
        </p:nvPicPr>
        <p:blipFill>
          <a:blip r:embed="rId3">
            <a:alphaModFix/>
          </a:blip>
          <a:stretch>
            <a:fillRect/>
          </a:stretch>
        </p:blipFill>
        <p:spPr>
          <a:xfrm>
            <a:off x="152400" y="2006250"/>
            <a:ext cx="5320346" cy="2984850"/>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1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Menggunakan Abstract Function</a:t>
            </a:r>
            <a:endParaRPr/>
          </a:p>
        </p:txBody>
      </p:sp>
      <p:pic>
        <p:nvPicPr>
          <p:cNvPr id="692" name="Google Shape;692;p117"/>
          <p:cNvPicPr preferRelativeResize="0"/>
          <p:nvPr/>
        </p:nvPicPr>
        <p:blipFill>
          <a:blip r:embed="rId3">
            <a:alphaModFix/>
          </a:blip>
          <a:stretch>
            <a:fillRect/>
          </a:stretch>
        </p:blipFill>
        <p:spPr>
          <a:xfrm>
            <a:off x="152400" y="2006250"/>
            <a:ext cx="7858125" cy="280035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118"/>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Getter dan Setter</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11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Encapsulation</a:t>
            </a:r>
            <a:endParaRPr/>
          </a:p>
        </p:txBody>
      </p:sp>
      <p:sp>
        <p:nvSpPr>
          <p:cNvPr id="703" name="Google Shape;703;p11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Encapsulation artinya memastikan data sensitif sebuah object tersembunyi dari akses luar</a:t>
            </a:r>
            <a:endParaRPr/>
          </a:p>
          <a:p>
            <a:pPr marL="457200" lvl="0" indent="-311150" algn="l" rtl="0">
              <a:spcBef>
                <a:spcPts val="0"/>
              </a:spcBef>
              <a:spcAft>
                <a:spcPts val="0"/>
              </a:spcAft>
              <a:buSzPts val="1300"/>
              <a:buChar char="●"/>
            </a:pPr>
            <a:r>
              <a:rPr lang="id"/>
              <a:t>Hal ini bertujuan agar kita bisa menjaga agar data sebuah object tetap baik dan valid</a:t>
            </a:r>
            <a:endParaRPr/>
          </a:p>
          <a:p>
            <a:pPr marL="457200" lvl="0" indent="-311150" algn="l" rtl="0">
              <a:spcBef>
                <a:spcPts val="0"/>
              </a:spcBef>
              <a:spcAft>
                <a:spcPts val="0"/>
              </a:spcAft>
              <a:buSzPts val="1300"/>
              <a:buChar char="●"/>
            </a:pPr>
            <a:r>
              <a:rPr lang="id"/>
              <a:t>Untuk mencapai ini, biasanya kita akan membuat semua properties menggunakan access modifier private, sehingga tidak bisa diakses atau diubah dari luar</a:t>
            </a:r>
            <a:endParaRPr/>
          </a:p>
          <a:p>
            <a:pPr marL="457200" lvl="0" indent="-311150" algn="l" rtl="0">
              <a:spcBef>
                <a:spcPts val="0"/>
              </a:spcBef>
              <a:spcAft>
                <a:spcPts val="0"/>
              </a:spcAft>
              <a:buSzPts val="1300"/>
              <a:buChar char="●"/>
            </a:pPr>
            <a:r>
              <a:rPr lang="id"/>
              <a:t>Agar bisa diubah, kita akan menyediakan function untuk mengubah dan mendapatkan properties tersebut</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12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Getter dan Setter</a:t>
            </a:r>
            <a:endParaRPr/>
          </a:p>
        </p:txBody>
      </p:sp>
      <p:sp>
        <p:nvSpPr>
          <p:cNvPr id="709" name="Google Shape;709;p120"/>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Di PHP, proses encapsulation sudah dibuat standarisasinya, dimana kita bisa menggunakan Getter dan Setter method.</a:t>
            </a:r>
            <a:endParaRPr/>
          </a:p>
          <a:p>
            <a:pPr marL="457200" lvl="0" indent="-311150" algn="l" rtl="0">
              <a:spcBef>
                <a:spcPts val="0"/>
              </a:spcBef>
              <a:spcAft>
                <a:spcPts val="0"/>
              </a:spcAft>
              <a:buSzPts val="1300"/>
              <a:buChar char="●"/>
            </a:pPr>
            <a:r>
              <a:rPr lang="id"/>
              <a:t>Getter adalah function yang dibuat untuk mengambil data field</a:t>
            </a:r>
            <a:endParaRPr/>
          </a:p>
          <a:p>
            <a:pPr marL="457200" lvl="0" indent="-311150" algn="l" rtl="0">
              <a:spcBef>
                <a:spcPts val="0"/>
              </a:spcBef>
              <a:spcAft>
                <a:spcPts val="0"/>
              </a:spcAft>
              <a:buSzPts val="1300"/>
              <a:buChar char="●"/>
            </a:pPr>
            <a:r>
              <a:rPr lang="id"/>
              <a:t>Setter ada function untuk mengubah data field</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12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Getter dan Setter Method</a:t>
            </a:r>
            <a:endParaRPr/>
          </a:p>
        </p:txBody>
      </p:sp>
      <p:graphicFrame>
        <p:nvGraphicFramePr>
          <p:cNvPr id="715" name="Google Shape;715;p121"/>
          <p:cNvGraphicFramePr/>
          <p:nvPr/>
        </p:nvGraphicFramePr>
        <p:xfrm>
          <a:off x="952500" y="2190750"/>
          <a:ext cx="7239000" cy="1188630"/>
        </p:xfrm>
        <a:graphic>
          <a:graphicData uri="http://schemas.openxmlformats.org/drawingml/2006/table">
            <a:tbl>
              <a:tblPr>
                <a:noFill/>
                <a:tableStyleId>{B9673AF5-CA51-48C4-976C-ADCB9C662DA2}</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id"/>
                        <a:t>Tipe Data</a:t>
                      </a:r>
                      <a:endParaRPr/>
                    </a:p>
                  </a:txBody>
                  <a:tcPr marL="91425" marR="91425" marT="91425" marB="91425">
                    <a:solidFill>
                      <a:srgbClr val="CCCCCC"/>
                    </a:solidFill>
                  </a:tcPr>
                </a:tc>
                <a:tc>
                  <a:txBody>
                    <a:bodyPr/>
                    <a:lstStyle/>
                    <a:p>
                      <a:pPr marL="0" lvl="0" indent="0" algn="l" rtl="0">
                        <a:spcBef>
                          <a:spcPts val="0"/>
                        </a:spcBef>
                        <a:spcAft>
                          <a:spcPts val="0"/>
                        </a:spcAft>
                        <a:buNone/>
                      </a:pPr>
                      <a:r>
                        <a:rPr lang="id"/>
                        <a:t>Getter Method</a:t>
                      </a:r>
                      <a:endParaRPr/>
                    </a:p>
                  </a:txBody>
                  <a:tcPr marL="91425" marR="91425" marT="91425" marB="91425">
                    <a:solidFill>
                      <a:srgbClr val="CCCCCC"/>
                    </a:solidFill>
                  </a:tcPr>
                </a:tc>
                <a:tc>
                  <a:txBody>
                    <a:bodyPr/>
                    <a:lstStyle/>
                    <a:p>
                      <a:pPr marL="0" lvl="0" indent="0" algn="l" rtl="0">
                        <a:spcBef>
                          <a:spcPts val="0"/>
                        </a:spcBef>
                        <a:spcAft>
                          <a:spcPts val="0"/>
                        </a:spcAft>
                        <a:buNone/>
                      </a:pPr>
                      <a:r>
                        <a:rPr lang="id"/>
                        <a:t>Setter Method</a:t>
                      </a:r>
                      <a:endParaRPr/>
                    </a:p>
                  </a:txBody>
                  <a:tcPr marL="91425" marR="91425" marT="91425" marB="91425">
                    <a:solidFill>
                      <a:srgbClr val="CCCCCC"/>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id"/>
                        <a:t>boolean</a:t>
                      </a:r>
                      <a:endParaRPr/>
                    </a:p>
                  </a:txBody>
                  <a:tcPr marL="91425" marR="91425" marT="91425" marB="91425"/>
                </a:tc>
                <a:tc>
                  <a:txBody>
                    <a:bodyPr/>
                    <a:lstStyle/>
                    <a:p>
                      <a:pPr marL="0" lvl="0" indent="0" algn="l" rtl="0">
                        <a:spcBef>
                          <a:spcPts val="0"/>
                        </a:spcBef>
                        <a:spcAft>
                          <a:spcPts val="0"/>
                        </a:spcAft>
                        <a:buNone/>
                      </a:pPr>
                      <a:r>
                        <a:rPr lang="id"/>
                        <a:t>isXxx(): bool</a:t>
                      </a:r>
                      <a:endParaRPr/>
                    </a:p>
                  </a:txBody>
                  <a:tcPr marL="91425" marR="91425" marT="91425" marB="91425"/>
                </a:tc>
                <a:tc>
                  <a:txBody>
                    <a:bodyPr/>
                    <a:lstStyle/>
                    <a:p>
                      <a:pPr marL="0" lvl="0" indent="0" algn="l" rtl="0">
                        <a:spcBef>
                          <a:spcPts val="0"/>
                        </a:spcBef>
                        <a:spcAft>
                          <a:spcPts val="0"/>
                        </a:spcAft>
                        <a:buNone/>
                      </a:pPr>
                      <a:r>
                        <a:rPr lang="id"/>
                        <a:t>setXxx(bool value)</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id"/>
                        <a:t>lainnya</a:t>
                      </a:r>
                      <a:endParaRPr/>
                    </a:p>
                  </a:txBody>
                  <a:tcPr marL="91425" marR="91425" marT="91425" marB="91425"/>
                </a:tc>
                <a:tc>
                  <a:txBody>
                    <a:bodyPr/>
                    <a:lstStyle/>
                    <a:p>
                      <a:pPr marL="0" lvl="0" indent="0" algn="l" rtl="0">
                        <a:spcBef>
                          <a:spcPts val="0"/>
                        </a:spcBef>
                        <a:spcAft>
                          <a:spcPts val="0"/>
                        </a:spcAft>
                        <a:buNone/>
                      </a:pPr>
                      <a:r>
                        <a:rPr lang="id"/>
                        <a:t>getXxx(): tipeData</a:t>
                      </a:r>
                      <a:endParaRPr/>
                    </a:p>
                  </a:txBody>
                  <a:tcPr marL="91425" marR="91425" marT="91425" marB="91425"/>
                </a:tc>
                <a:tc>
                  <a:txBody>
                    <a:bodyPr/>
                    <a:lstStyle/>
                    <a:p>
                      <a:pPr marL="0" lvl="0" indent="0" algn="l" rtl="0">
                        <a:spcBef>
                          <a:spcPts val="0"/>
                        </a:spcBef>
                        <a:spcAft>
                          <a:spcPts val="0"/>
                        </a:spcAft>
                        <a:buNone/>
                      </a:pPr>
                      <a:r>
                        <a:rPr lang="id"/>
                        <a:t>setXxx(tipeData value)</a:t>
                      </a:r>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12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Getter dan Setter</a:t>
            </a:r>
            <a:endParaRPr/>
          </a:p>
        </p:txBody>
      </p:sp>
      <p:pic>
        <p:nvPicPr>
          <p:cNvPr id="721" name="Google Shape;721;p122"/>
          <p:cNvPicPr preferRelativeResize="0"/>
          <p:nvPr/>
        </p:nvPicPr>
        <p:blipFill>
          <a:blip r:embed="rId3">
            <a:alphaModFix/>
          </a:blip>
          <a:stretch>
            <a:fillRect/>
          </a:stretch>
        </p:blipFill>
        <p:spPr>
          <a:xfrm>
            <a:off x="4709899" y="2006250"/>
            <a:ext cx="4256925" cy="2026075"/>
          </a:xfrm>
          <a:prstGeom prst="rect">
            <a:avLst/>
          </a:prstGeom>
          <a:noFill/>
          <a:ln>
            <a:noFill/>
          </a:ln>
        </p:spPr>
      </p:pic>
      <p:pic>
        <p:nvPicPr>
          <p:cNvPr id="722" name="Google Shape;722;p122"/>
          <p:cNvPicPr preferRelativeResize="0"/>
          <p:nvPr/>
        </p:nvPicPr>
        <p:blipFill>
          <a:blip r:embed="rId4">
            <a:alphaModFix/>
          </a:blip>
          <a:stretch>
            <a:fillRect/>
          </a:stretch>
        </p:blipFill>
        <p:spPr>
          <a:xfrm>
            <a:off x="152400" y="2006250"/>
            <a:ext cx="4402365" cy="2984849"/>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12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Menggunakan Getter dan Setter</a:t>
            </a:r>
            <a:endParaRPr/>
          </a:p>
        </p:txBody>
      </p:sp>
      <p:pic>
        <p:nvPicPr>
          <p:cNvPr id="728" name="Google Shape;728;p123"/>
          <p:cNvPicPr preferRelativeResize="0"/>
          <p:nvPr/>
        </p:nvPicPr>
        <p:blipFill>
          <a:blip r:embed="rId3">
            <a:alphaModFix/>
          </a:blip>
          <a:stretch>
            <a:fillRect/>
          </a:stretch>
        </p:blipFill>
        <p:spPr>
          <a:xfrm>
            <a:off x="152400" y="2006250"/>
            <a:ext cx="8646588" cy="298485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12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Validation di Setter</a:t>
            </a:r>
            <a:endParaRPr/>
          </a:p>
        </p:txBody>
      </p:sp>
      <p:pic>
        <p:nvPicPr>
          <p:cNvPr id="734" name="Google Shape;734;p124"/>
          <p:cNvPicPr preferRelativeResize="0"/>
          <p:nvPr/>
        </p:nvPicPr>
        <p:blipFill>
          <a:blip r:embed="rId3">
            <a:alphaModFix/>
          </a:blip>
          <a:stretch>
            <a:fillRect/>
          </a:stretch>
        </p:blipFill>
        <p:spPr>
          <a:xfrm>
            <a:off x="152400" y="2006250"/>
            <a:ext cx="8839200" cy="2214246"/>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125"/>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Interface</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12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Interface</a:t>
            </a:r>
            <a:endParaRPr/>
          </a:p>
        </p:txBody>
      </p:sp>
      <p:sp>
        <p:nvSpPr>
          <p:cNvPr id="745" name="Google Shape;745;p12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Sebelumnya kita sudah tahu bahwa abstract class bisa kita gunakan sebagai kontrak untuk class child nya.</a:t>
            </a:r>
            <a:endParaRPr/>
          </a:p>
          <a:p>
            <a:pPr marL="457200" lvl="0" indent="-311150" algn="l" rtl="0">
              <a:spcBef>
                <a:spcPts val="0"/>
              </a:spcBef>
              <a:spcAft>
                <a:spcPts val="0"/>
              </a:spcAft>
              <a:buSzPts val="1300"/>
              <a:buChar char="●"/>
            </a:pPr>
            <a:r>
              <a:rPr lang="id"/>
              <a:t>Namun sebenarnya yang lebih tepat untuk kontrak adalah Interface</a:t>
            </a:r>
            <a:endParaRPr/>
          </a:p>
          <a:p>
            <a:pPr marL="457200" lvl="0" indent="-311150" algn="l" rtl="0">
              <a:spcBef>
                <a:spcPts val="0"/>
              </a:spcBef>
              <a:spcAft>
                <a:spcPts val="0"/>
              </a:spcAft>
              <a:buSzPts val="1300"/>
              <a:buChar char="●"/>
            </a:pPr>
            <a:r>
              <a:rPr lang="id"/>
              <a:t>Jangan salah sangka bahwa Interface disini bukanlah User Interface</a:t>
            </a:r>
            <a:endParaRPr/>
          </a:p>
          <a:p>
            <a:pPr marL="457200" lvl="0" indent="-311150" algn="l" rtl="0">
              <a:spcBef>
                <a:spcPts val="0"/>
              </a:spcBef>
              <a:spcAft>
                <a:spcPts val="0"/>
              </a:spcAft>
              <a:buSzPts val="1300"/>
              <a:buChar char="●"/>
            </a:pPr>
            <a:r>
              <a:rPr lang="id"/>
              <a:t>Interface mirip seperti abstract class, yang membedakan adalah di Interface, semua method otomatis abstract, tidak memiliki block</a:t>
            </a:r>
            <a:endParaRPr/>
          </a:p>
          <a:p>
            <a:pPr marL="457200" lvl="0" indent="-311150" algn="l" rtl="0">
              <a:spcBef>
                <a:spcPts val="0"/>
              </a:spcBef>
              <a:spcAft>
                <a:spcPts val="0"/>
              </a:spcAft>
              <a:buSzPts val="1300"/>
              <a:buChar char="●"/>
            </a:pPr>
            <a:r>
              <a:rPr lang="id"/>
              <a:t>Di interface kita tidak boleh memiliki properties, kita hanya boleh memiliki constant </a:t>
            </a:r>
            <a:endParaRPr/>
          </a:p>
          <a:p>
            <a:pPr marL="457200" lvl="0" indent="-311150" algn="l" rtl="0">
              <a:spcBef>
                <a:spcPts val="0"/>
              </a:spcBef>
              <a:spcAft>
                <a:spcPts val="0"/>
              </a:spcAft>
              <a:buSzPts val="1300"/>
              <a:buChar char="●"/>
            </a:pPr>
            <a:r>
              <a:rPr lang="id"/>
              <a:t>Untuk mewariskan interface, kita tidak menggunakan kata kunci extends, melainkan implements</a:t>
            </a:r>
            <a:endParaRPr/>
          </a:p>
          <a:p>
            <a:pPr marL="457200" lvl="0" indent="-311150" algn="l" rtl="0">
              <a:spcBef>
                <a:spcPts val="0"/>
              </a:spcBef>
              <a:spcAft>
                <a:spcPts val="0"/>
              </a:spcAft>
              <a:buSzPts val="1300"/>
              <a:buChar char="●"/>
            </a:pPr>
            <a:r>
              <a:rPr lang="id"/>
              <a:t>Dan berbeda dengan class, kita bisa implements lebih dari satu interface</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12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Membuat Interface</a:t>
            </a:r>
            <a:endParaRPr/>
          </a:p>
        </p:txBody>
      </p:sp>
      <p:pic>
        <p:nvPicPr>
          <p:cNvPr id="751" name="Google Shape;751;p127"/>
          <p:cNvPicPr preferRelativeResize="0"/>
          <p:nvPr/>
        </p:nvPicPr>
        <p:blipFill>
          <a:blip r:embed="rId3">
            <a:alphaModFix/>
          </a:blip>
          <a:stretch>
            <a:fillRect/>
          </a:stretch>
        </p:blipFill>
        <p:spPr>
          <a:xfrm>
            <a:off x="152400" y="2006250"/>
            <a:ext cx="7214860" cy="298485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12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Implement Interface</a:t>
            </a:r>
            <a:endParaRPr/>
          </a:p>
        </p:txBody>
      </p:sp>
      <p:pic>
        <p:nvPicPr>
          <p:cNvPr id="757" name="Google Shape;757;p128"/>
          <p:cNvPicPr preferRelativeResize="0"/>
          <p:nvPr/>
        </p:nvPicPr>
        <p:blipFill>
          <a:blip r:embed="rId3">
            <a:alphaModFix/>
          </a:blip>
          <a:stretch>
            <a:fillRect/>
          </a:stretch>
        </p:blipFill>
        <p:spPr>
          <a:xfrm>
            <a:off x="152400" y="2006250"/>
            <a:ext cx="6030893" cy="298485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129"/>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Interface Inheritance</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13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Interface Inheritance</a:t>
            </a:r>
            <a:endParaRPr/>
          </a:p>
        </p:txBody>
      </p:sp>
      <p:sp>
        <p:nvSpPr>
          <p:cNvPr id="768" name="Google Shape;768;p130"/>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Sebelumnya kita sudah tahu kalo di PHP, child class hanya bisa punya 1 class parent</a:t>
            </a:r>
            <a:endParaRPr/>
          </a:p>
          <a:p>
            <a:pPr marL="457200" lvl="0" indent="-311150" algn="l" rtl="0">
              <a:spcBef>
                <a:spcPts val="0"/>
              </a:spcBef>
              <a:spcAft>
                <a:spcPts val="0"/>
              </a:spcAft>
              <a:buSzPts val="1300"/>
              <a:buChar char="●"/>
            </a:pPr>
            <a:r>
              <a:rPr lang="id"/>
              <a:t>Namun berbeda dengan interface, sebuah child class bisa implement lebih dari 1 interface</a:t>
            </a:r>
            <a:endParaRPr/>
          </a:p>
          <a:p>
            <a:pPr marL="457200" lvl="0" indent="-311150" algn="l" rtl="0">
              <a:spcBef>
                <a:spcPts val="0"/>
              </a:spcBef>
              <a:spcAft>
                <a:spcPts val="0"/>
              </a:spcAft>
              <a:buSzPts val="1300"/>
              <a:buChar char="●"/>
            </a:pPr>
            <a:r>
              <a:rPr lang="id"/>
              <a:t>Bahkan interface pun bisa implement interface lain, bisa lebih dari 1. Namun jika interface ingin mewarisi interface lain, kita menggunakan kata kunci extends, bukan implements</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13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Interface Inheritance</a:t>
            </a:r>
            <a:endParaRPr/>
          </a:p>
        </p:txBody>
      </p:sp>
      <p:pic>
        <p:nvPicPr>
          <p:cNvPr id="774" name="Google Shape;774;p131"/>
          <p:cNvPicPr preferRelativeResize="0"/>
          <p:nvPr/>
        </p:nvPicPr>
        <p:blipFill>
          <a:blip r:embed="rId3">
            <a:alphaModFix/>
          </a:blip>
          <a:stretch>
            <a:fillRect/>
          </a:stretch>
        </p:blipFill>
        <p:spPr>
          <a:xfrm>
            <a:off x="152400" y="2006250"/>
            <a:ext cx="5802324" cy="2984850"/>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p13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Multiple Interface Inheritance</a:t>
            </a:r>
            <a:endParaRPr/>
          </a:p>
        </p:txBody>
      </p:sp>
      <p:pic>
        <p:nvPicPr>
          <p:cNvPr id="780" name="Google Shape;780;p132"/>
          <p:cNvPicPr preferRelativeResize="0"/>
          <p:nvPr/>
        </p:nvPicPr>
        <p:blipFill>
          <a:blip r:embed="rId3">
            <a:alphaModFix/>
          </a:blip>
          <a:stretch>
            <a:fillRect/>
          </a:stretch>
        </p:blipFill>
        <p:spPr>
          <a:xfrm>
            <a:off x="152400" y="2006250"/>
            <a:ext cx="5155650" cy="298485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13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Trait</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13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Trait</a:t>
            </a:r>
            <a:endParaRPr/>
          </a:p>
        </p:txBody>
      </p:sp>
      <p:sp>
        <p:nvSpPr>
          <p:cNvPr id="791" name="Google Shape;791;p13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Selain class dan interface, di PHP terdapat feature lain bernama trait</a:t>
            </a:r>
            <a:endParaRPr/>
          </a:p>
          <a:p>
            <a:pPr marL="457200" lvl="0" indent="-311150" algn="l" rtl="0">
              <a:spcBef>
                <a:spcPts val="0"/>
              </a:spcBef>
              <a:spcAft>
                <a:spcPts val="0"/>
              </a:spcAft>
              <a:buSzPts val="1300"/>
              <a:buChar char="●"/>
            </a:pPr>
            <a:r>
              <a:rPr lang="id"/>
              <a:t>Trait mirip dengan abstract class, kita bisa membuat konkrit function atau abstract function</a:t>
            </a:r>
            <a:endParaRPr/>
          </a:p>
          <a:p>
            <a:pPr marL="457200" lvl="0" indent="-311150" algn="l" rtl="0">
              <a:spcBef>
                <a:spcPts val="0"/>
              </a:spcBef>
              <a:spcAft>
                <a:spcPts val="0"/>
              </a:spcAft>
              <a:buSzPts val="1300"/>
              <a:buChar char="●"/>
            </a:pPr>
            <a:r>
              <a:rPr lang="id"/>
              <a:t>Yang membedakan adalah, di trait bisa kita tambahkan ke dalam class lebih dari satu</a:t>
            </a:r>
            <a:endParaRPr/>
          </a:p>
          <a:p>
            <a:pPr marL="457200" lvl="0" indent="-311150" algn="l" rtl="0">
              <a:spcBef>
                <a:spcPts val="0"/>
              </a:spcBef>
              <a:spcAft>
                <a:spcPts val="0"/>
              </a:spcAft>
              <a:buSzPts val="1300"/>
              <a:buChar char="●"/>
            </a:pPr>
            <a:r>
              <a:rPr lang="id"/>
              <a:t>Trait mirip seperti ekstension, dimana kita bisa menambahkan konkrit function ke dalam class dengan trait</a:t>
            </a:r>
            <a:endParaRPr/>
          </a:p>
          <a:p>
            <a:pPr marL="457200" lvl="0" indent="-311150" algn="l" rtl="0">
              <a:spcBef>
                <a:spcPts val="0"/>
              </a:spcBef>
              <a:spcAft>
                <a:spcPts val="0"/>
              </a:spcAft>
              <a:buSzPts val="1300"/>
              <a:buChar char="●"/>
            </a:pPr>
            <a:r>
              <a:rPr lang="id"/>
              <a:t>Secara sederhana trait adalah digunakan untuk menyimpan function-function yang bisa digunakan ulang di beberapa class</a:t>
            </a:r>
            <a:endParaRPr/>
          </a:p>
          <a:p>
            <a:pPr marL="457200" lvl="0" indent="-311150" algn="l" rtl="0">
              <a:spcBef>
                <a:spcPts val="0"/>
              </a:spcBef>
              <a:spcAft>
                <a:spcPts val="0"/>
              </a:spcAft>
              <a:buSzPts val="1300"/>
              <a:buChar char="●"/>
            </a:pPr>
            <a:r>
              <a:rPr lang="id"/>
              <a:t>Untuk menggunakan trait di class, kita bisa menggunakan kata kunci use</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13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Membuat Trait</a:t>
            </a:r>
            <a:endParaRPr/>
          </a:p>
        </p:txBody>
      </p:sp>
      <p:pic>
        <p:nvPicPr>
          <p:cNvPr id="797" name="Google Shape;797;p135"/>
          <p:cNvPicPr preferRelativeResize="0"/>
          <p:nvPr/>
        </p:nvPicPr>
        <p:blipFill>
          <a:blip r:embed="rId3">
            <a:alphaModFix/>
          </a:blip>
          <a:stretch>
            <a:fillRect/>
          </a:stretch>
        </p:blipFill>
        <p:spPr>
          <a:xfrm>
            <a:off x="152400" y="2006250"/>
            <a:ext cx="6135171" cy="2984850"/>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13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Menggunakan Trait</a:t>
            </a:r>
            <a:endParaRPr/>
          </a:p>
        </p:txBody>
      </p:sp>
      <p:pic>
        <p:nvPicPr>
          <p:cNvPr id="803" name="Google Shape;803;p136"/>
          <p:cNvPicPr preferRelativeResize="0"/>
          <p:nvPr/>
        </p:nvPicPr>
        <p:blipFill>
          <a:blip r:embed="rId3">
            <a:alphaModFix/>
          </a:blip>
          <a:stretch>
            <a:fillRect/>
          </a:stretch>
        </p:blipFill>
        <p:spPr>
          <a:xfrm>
            <a:off x="152400" y="2006250"/>
            <a:ext cx="8839200" cy="1434285"/>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13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Trait Properties</a:t>
            </a:r>
            <a:endParaRPr/>
          </a:p>
        </p:txBody>
      </p:sp>
      <p:sp>
        <p:nvSpPr>
          <p:cNvPr id="809" name="Google Shape;809;p13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Berbeda dengan interface, di trait, kita bisa menambahkan properties</a:t>
            </a:r>
            <a:endParaRPr/>
          </a:p>
          <a:p>
            <a:pPr marL="457200" lvl="0" indent="-311150" algn="l" rtl="0">
              <a:spcBef>
                <a:spcPts val="0"/>
              </a:spcBef>
              <a:spcAft>
                <a:spcPts val="0"/>
              </a:spcAft>
              <a:buSzPts val="1300"/>
              <a:buChar char="●"/>
            </a:pPr>
            <a:r>
              <a:rPr lang="id"/>
              <a:t>Dengan menambahkan properties, secara otomatis class tersebut akan memiliki properties yang ada di trait</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p13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Trait Properties</a:t>
            </a:r>
            <a:endParaRPr/>
          </a:p>
        </p:txBody>
      </p:sp>
      <p:pic>
        <p:nvPicPr>
          <p:cNvPr id="815" name="Google Shape;815;p138"/>
          <p:cNvPicPr preferRelativeResize="0"/>
          <p:nvPr/>
        </p:nvPicPr>
        <p:blipFill>
          <a:blip r:embed="rId3">
            <a:alphaModFix/>
          </a:blip>
          <a:stretch>
            <a:fillRect/>
          </a:stretch>
        </p:blipFill>
        <p:spPr>
          <a:xfrm>
            <a:off x="152400" y="2006250"/>
            <a:ext cx="7543800" cy="2562225"/>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13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Menggunakan Trait Properties</a:t>
            </a:r>
            <a:endParaRPr/>
          </a:p>
        </p:txBody>
      </p:sp>
      <p:pic>
        <p:nvPicPr>
          <p:cNvPr id="821" name="Google Shape;821;p139"/>
          <p:cNvPicPr preferRelativeResize="0"/>
          <p:nvPr/>
        </p:nvPicPr>
        <p:blipFill>
          <a:blip r:embed="rId3">
            <a:alphaModFix/>
          </a:blip>
          <a:stretch>
            <a:fillRect/>
          </a:stretch>
        </p:blipFill>
        <p:spPr>
          <a:xfrm>
            <a:off x="152400" y="2006250"/>
            <a:ext cx="7419975" cy="257175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p140"/>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Trait Overriding</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4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Trait Abstract Function</a:t>
            </a:r>
            <a:endParaRPr/>
          </a:p>
        </p:txBody>
      </p:sp>
      <p:sp>
        <p:nvSpPr>
          <p:cNvPr id="832" name="Google Shape;832;p14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Selain konkrit function, di trait juga kita bisa menambahkan abstract function</a:t>
            </a:r>
            <a:endParaRPr/>
          </a:p>
          <a:p>
            <a:pPr marL="457200" lvl="0" indent="-311150" algn="l" rtl="0">
              <a:spcBef>
                <a:spcPts val="0"/>
              </a:spcBef>
              <a:spcAft>
                <a:spcPts val="0"/>
              </a:spcAft>
              <a:buSzPts val="1300"/>
              <a:buChar char="●"/>
            </a:pPr>
            <a:r>
              <a:rPr lang="id"/>
              <a:t>Jika terdapat abstract function di trait, maka secara otomatis function tersebut harus di override di class yang menggunakan trait tersebut</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14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Trait Abstract Function</a:t>
            </a:r>
            <a:endParaRPr/>
          </a:p>
        </p:txBody>
      </p:sp>
      <p:pic>
        <p:nvPicPr>
          <p:cNvPr id="838" name="Google Shape;838;p142"/>
          <p:cNvPicPr preferRelativeResize="0"/>
          <p:nvPr/>
        </p:nvPicPr>
        <p:blipFill>
          <a:blip r:embed="rId3">
            <a:alphaModFix/>
          </a:blip>
          <a:stretch>
            <a:fillRect/>
          </a:stretch>
        </p:blipFill>
        <p:spPr>
          <a:xfrm>
            <a:off x="152400" y="2006250"/>
            <a:ext cx="6650345" cy="2984849"/>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p14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Trait Overriding</a:t>
            </a:r>
            <a:endParaRPr/>
          </a:p>
        </p:txBody>
      </p:sp>
      <p:sp>
        <p:nvSpPr>
          <p:cNvPr id="844" name="Google Shape;844;p14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Jika sebuah class memiliki parent class yang memiliki function yang sama dengan function di trait, maka secara otomatis trait akan meng-override function tersebut</a:t>
            </a:r>
            <a:endParaRPr/>
          </a:p>
          <a:p>
            <a:pPr marL="457200" lvl="0" indent="-311150" algn="l" rtl="0">
              <a:spcBef>
                <a:spcPts val="0"/>
              </a:spcBef>
              <a:spcAft>
                <a:spcPts val="0"/>
              </a:spcAft>
              <a:buSzPts val="1300"/>
              <a:buChar char="●"/>
            </a:pPr>
            <a:r>
              <a:rPr lang="id"/>
              <a:t>Namun jika kita membuat function yang sama di class nya, maka secara otomatis kita akan meng-override function di trait</a:t>
            </a:r>
            <a:endParaRPr/>
          </a:p>
          <a:p>
            <a:pPr marL="457200" lvl="0" indent="-311150" algn="l" rtl="0">
              <a:spcBef>
                <a:spcPts val="0"/>
              </a:spcBef>
              <a:spcAft>
                <a:spcPts val="0"/>
              </a:spcAft>
              <a:buSzPts val="1300"/>
              <a:buChar char="●"/>
            </a:pPr>
            <a:r>
              <a:rPr lang="id"/>
              <a:t>Sehingga posisinya seperti ini ParentClass =override by=&gt; Trait =override by=&gt; ChildClass</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14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Override  Trait</a:t>
            </a:r>
            <a:endParaRPr/>
          </a:p>
        </p:txBody>
      </p:sp>
      <p:pic>
        <p:nvPicPr>
          <p:cNvPr id="850" name="Google Shape;850;p144"/>
          <p:cNvPicPr preferRelativeResize="0"/>
          <p:nvPr/>
        </p:nvPicPr>
        <p:blipFill>
          <a:blip r:embed="rId3">
            <a:alphaModFix/>
          </a:blip>
          <a:stretch>
            <a:fillRect/>
          </a:stretch>
        </p:blipFill>
        <p:spPr>
          <a:xfrm>
            <a:off x="152400" y="2006250"/>
            <a:ext cx="6277417" cy="298485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14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Trait Visibility Override</a:t>
            </a:r>
            <a:endParaRPr/>
          </a:p>
        </p:txBody>
      </p:sp>
      <p:sp>
        <p:nvSpPr>
          <p:cNvPr id="856" name="Google Shape;856;p14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Selain melakukan override function di class, kita juga bisa melakukan override visibility function yang terdapat di trait</a:t>
            </a:r>
            <a:endParaRPr/>
          </a:p>
          <a:p>
            <a:pPr marL="457200" lvl="0" indent="-311150" algn="l" rtl="0">
              <a:spcBef>
                <a:spcPts val="0"/>
              </a:spcBef>
              <a:spcAft>
                <a:spcPts val="0"/>
              </a:spcAft>
              <a:buSzPts val="1300"/>
              <a:buChar char="●"/>
            </a:pPr>
            <a:r>
              <a:rPr lang="id"/>
              <a:t>Namun untuk melakukan ini tidak perlu membuat function baru di class, kita bisa gunakan secara sederhana ketika menggunakan trait nya</a:t>
            </a:r>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1" name="Google Shape;861;p14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Trait Visibility Override</a:t>
            </a:r>
            <a:endParaRPr/>
          </a:p>
        </p:txBody>
      </p:sp>
      <p:pic>
        <p:nvPicPr>
          <p:cNvPr id="862" name="Google Shape;862;p146"/>
          <p:cNvPicPr preferRelativeResize="0"/>
          <p:nvPr/>
        </p:nvPicPr>
        <p:blipFill>
          <a:blip r:embed="rId3">
            <a:alphaModFix/>
          </a:blip>
          <a:stretch>
            <a:fillRect/>
          </a:stretch>
        </p:blipFill>
        <p:spPr>
          <a:xfrm>
            <a:off x="152400" y="2006250"/>
            <a:ext cx="7562850" cy="2238375"/>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147"/>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Trait Conflict</a:t>
            </a:r>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14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Trait Conflict</a:t>
            </a:r>
            <a:endParaRPr/>
          </a:p>
        </p:txBody>
      </p:sp>
      <p:sp>
        <p:nvSpPr>
          <p:cNvPr id="873" name="Google Shape;873;p14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Jika kita menggunakan lebih dari satu trait, lalu terdapat function yang sama di trait tersebut</a:t>
            </a:r>
            <a:endParaRPr/>
          </a:p>
          <a:p>
            <a:pPr marL="457200" lvl="0" indent="-311150" algn="l" rtl="0">
              <a:spcBef>
                <a:spcPts val="0"/>
              </a:spcBef>
              <a:spcAft>
                <a:spcPts val="0"/>
              </a:spcAft>
              <a:buSzPts val="1300"/>
              <a:buChar char="●"/>
            </a:pPr>
            <a:r>
              <a:rPr lang="id"/>
              <a:t>Maka hal tersebut akan menyebabkan konflik</a:t>
            </a:r>
            <a:endParaRPr/>
          </a:p>
          <a:p>
            <a:pPr marL="457200" lvl="0" indent="-311150" algn="l" rtl="0">
              <a:spcBef>
                <a:spcPts val="0"/>
              </a:spcBef>
              <a:spcAft>
                <a:spcPts val="0"/>
              </a:spcAft>
              <a:buSzPts val="1300"/>
              <a:buChar char="●"/>
            </a:pPr>
            <a:r>
              <a:rPr lang="id"/>
              <a:t>Jika terjadi konflik seperti ini, kita bisa mengatasinya dengan menggunakan kata kunci insteadof</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Trait Conflict (1)</a:t>
            </a:r>
            <a:endParaRPr/>
          </a:p>
        </p:txBody>
      </p:sp>
      <p:pic>
        <p:nvPicPr>
          <p:cNvPr id="879" name="Google Shape;879;p149"/>
          <p:cNvPicPr preferRelativeResize="0"/>
          <p:nvPr/>
        </p:nvPicPr>
        <p:blipFill>
          <a:blip r:embed="rId3">
            <a:alphaModFix/>
          </a:blip>
          <a:stretch>
            <a:fillRect/>
          </a:stretch>
        </p:blipFill>
        <p:spPr>
          <a:xfrm>
            <a:off x="152400" y="2006250"/>
            <a:ext cx="2833195" cy="2984850"/>
          </a:xfrm>
          <a:prstGeom prst="rect">
            <a:avLst/>
          </a:prstGeom>
          <a:noFill/>
          <a:ln>
            <a:noFill/>
          </a:ln>
        </p:spPr>
      </p:pic>
      <p:pic>
        <p:nvPicPr>
          <p:cNvPr id="880" name="Google Shape;880;p149"/>
          <p:cNvPicPr preferRelativeResize="0"/>
          <p:nvPr/>
        </p:nvPicPr>
        <p:blipFill>
          <a:blip r:embed="rId4">
            <a:alphaModFix/>
          </a:blip>
          <a:stretch>
            <a:fillRect/>
          </a:stretch>
        </p:blipFill>
        <p:spPr>
          <a:xfrm>
            <a:off x="3137995" y="2006250"/>
            <a:ext cx="2929318" cy="2984850"/>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15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Trait Conflict (2)</a:t>
            </a:r>
            <a:endParaRPr/>
          </a:p>
        </p:txBody>
      </p:sp>
      <p:pic>
        <p:nvPicPr>
          <p:cNvPr id="886" name="Google Shape;886;p150"/>
          <p:cNvPicPr preferRelativeResize="0"/>
          <p:nvPr/>
        </p:nvPicPr>
        <p:blipFill>
          <a:blip r:embed="rId3">
            <a:alphaModFix/>
          </a:blip>
          <a:stretch>
            <a:fillRect/>
          </a:stretch>
        </p:blipFill>
        <p:spPr>
          <a:xfrm>
            <a:off x="152400" y="2006250"/>
            <a:ext cx="4669730" cy="2984851"/>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p151"/>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Trait Inheritance</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p15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Trait Inheritance</a:t>
            </a:r>
            <a:endParaRPr/>
          </a:p>
        </p:txBody>
      </p:sp>
      <p:sp>
        <p:nvSpPr>
          <p:cNvPr id="897" name="Google Shape;897;p15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Sebelumnya kita sudah tahu bahwa class bisa menggunakan trait lebih dari satu</a:t>
            </a:r>
            <a:endParaRPr/>
          </a:p>
          <a:p>
            <a:pPr marL="457200" lvl="0" indent="-311150" algn="l" rtl="0">
              <a:spcBef>
                <a:spcPts val="0"/>
              </a:spcBef>
              <a:spcAft>
                <a:spcPts val="0"/>
              </a:spcAft>
              <a:buSzPts val="1300"/>
              <a:buChar char="●"/>
            </a:pPr>
            <a:r>
              <a:rPr lang="id"/>
              <a:t>Lantas bagaimana dengan trait yang menggunakan trait lain?</a:t>
            </a:r>
            <a:endParaRPr/>
          </a:p>
          <a:p>
            <a:pPr marL="457200" lvl="0" indent="-311150" algn="l" rtl="0">
              <a:spcBef>
                <a:spcPts val="0"/>
              </a:spcBef>
              <a:spcAft>
                <a:spcPts val="0"/>
              </a:spcAft>
              <a:buSzPts val="1300"/>
              <a:buChar char="●"/>
            </a:pPr>
            <a:r>
              <a:rPr lang="id"/>
              <a:t>Trait bisa menggunakan trait lain, mirip seperti interface yang bisa implement interface lain</a:t>
            </a:r>
            <a:endParaRPr/>
          </a:p>
          <a:p>
            <a:pPr marL="457200" lvl="0" indent="-311150" algn="l" rtl="0">
              <a:spcBef>
                <a:spcPts val="0"/>
              </a:spcBef>
              <a:spcAft>
                <a:spcPts val="0"/>
              </a:spcAft>
              <a:buSzPts val="1300"/>
              <a:buChar char="●"/>
            </a:pPr>
            <a:r>
              <a:rPr lang="id"/>
              <a:t>Untuk menggunakan trait lain dari trait, penggunaannya sama seperti dengan penggunaan trait di class</a:t>
            </a:r>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15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Trait Inheritance</a:t>
            </a:r>
            <a:endParaRPr/>
          </a:p>
        </p:txBody>
      </p:sp>
      <p:pic>
        <p:nvPicPr>
          <p:cNvPr id="903" name="Google Shape;903;p153"/>
          <p:cNvPicPr preferRelativeResize="0"/>
          <p:nvPr/>
        </p:nvPicPr>
        <p:blipFill>
          <a:blip r:embed="rId3">
            <a:alphaModFix/>
          </a:blip>
          <a:stretch>
            <a:fillRect/>
          </a:stretch>
        </p:blipFill>
        <p:spPr>
          <a:xfrm>
            <a:off x="152400" y="2006250"/>
            <a:ext cx="6838950" cy="2714625"/>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p154"/>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Final Class</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p15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Final Class</a:t>
            </a:r>
            <a:endParaRPr/>
          </a:p>
        </p:txBody>
      </p:sp>
      <p:sp>
        <p:nvSpPr>
          <p:cNvPr id="914" name="Google Shape;914;p15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Kata kunci final bisa digunakan di class, dimana jika kita menggunakan kata kunci final sebelum class, maka kita menandakan bahwa class tersebut tidak bisa diwariskan lagi</a:t>
            </a:r>
            <a:endParaRPr/>
          </a:p>
          <a:p>
            <a:pPr marL="457200" lvl="0" indent="-311150" algn="l" rtl="0">
              <a:spcBef>
                <a:spcPts val="0"/>
              </a:spcBef>
              <a:spcAft>
                <a:spcPts val="0"/>
              </a:spcAft>
              <a:buSzPts val="1300"/>
              <a:buChar char="●"/>
            </a:pPr>
            <a:r>
              <a:rPr lang="id"/>
              <a:t>Secara otomatis semua class child nya akan error</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p15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Final Class</a:t>
            </a:r>
            <a:endParaRPr/>
          </a:p>
        </p:txBody>
      </p:sp>
      <p:pic>
        <p:nvPicPr>
          <p:cNvPr id="920" name="Google Shape;920;p156"/>
          <p:cNvPicPr preferRelativeResize="0"/>
          <p:nvPr/>
        </p:nvPicPr>
        <p:blipFill>
          <a:blip r:embed="rId3">
            <a:alphaModFix/>
          </a:blip>
          <a:stretch>
            <a:fillRect/>
          </a:stretch>
        </p:blipFill>
        <p:spPr>
          <a:xfrm>
            <a:off x="152400" y="2006250"/>
            <a:ext cx="6618307" cy="298485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157"/>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Final Function</a:t>
            </a:r>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15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Final Function</a:t>
            </a:r>
            <a:endParaRPr/>
          </a:p>
        </p:txBody>
      </p:sp>
      <p:sp>
        <p:nvSpPr>
          <p:cNvPr id="931" name="Google Shape;931;p15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Kata kunci final juga bisa digunakan di function</a:t>
            </a:r>
            <a:endParaRPr/>
          </a:p>
          <a:p>
            <a:pPr marL="457200" lvl="0" indent="-311150" algn="l" rtl="0">
              <a:spcBef>
                <a:spcPts val="0"/>
              </a:spcBef>
              <a:spcAft>
                <a:spcPts val="0"/>
              </a:spcAft>
              <a:buSzPts val="1300"/>
              <a:buChar char="●"/>
            </a:pPr>
            <a:r>
              <a:rPr lang="id"/>
              <a:t>Jika sebuah function kita tambahkan kata kunci final, maka artinya function tersebut tidak bisa di override lagi di class child nya</a:t>
            </a:r>
            <a:endParaRPr/>
          </a:p>
          <a:p>
            <a:pPr marL="457200" lvl="0" indent="-311150" algn="l" rtl="0">
              <a:spcBef>
                <a:spcPts val="0"/>
              </a:spcBef>
              <a:spcAft>
                <a:spcPts val="0"/>
              </a:spcAft>
              <a:buSzPts val="1300"/>
              <a:buChar char="●"/>
            </a:pPr>
            <a:r>
              <a:rPr lang="id"/>
              <a:t>Ini sangat cocok jika kita ingin mengunci implementasi dari sebuah method agar tidak bisa diubah lagi oleh class child nya</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p15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Final Method</a:t>
            </a:r>
            <a:endParaRPr/>
          </a:p>
        </p:txBody>
      </p:sp>
      <p:pic>
        <p:nvPicPr>
          <p:cNvPr id="937" name="Google Shape;937;p159"/>
          <p:cNvPicPr preferRelativeResize="0"/>
          <p:nvPr/>
        </p:nvPicPr>
        <p:blipFill>
          <a:blip r:embed="rId3">
            <a:alphaModFix/>
          </a:blip>
          <a:stretch>
            <a:fillRect/>
          </a:stretch>
        </p:blipFill>
        <p:spPr>
          <a:xfrm>
            <a:off x="152400" y="2006250"/>
            <a:ext cx="6190579" cy="2984850"/>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160"/>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Anonymous Class</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p16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Anonymous Class</a:t>
            </a:r>
            <a:endParaRPr/>
          </a:p>
        </p:txBody>
      </p:sp>
      <p:sp>
        <p:nvSpPr>
          <p:cNvPr id="948" name="Google Shape;948;p16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Anonymous class atau class tanpa nama.</a:t>
            </a:r>
            <a:endParaRPr/>
          </a:p>
          <a:p>
            <a:pPr marL="457200" lvl="0" indent="-311150" algn="l" rtl="0">
              <a:spcBef>
                <a:spcPts val="0"/>
              </a:spcBef>
              <a:spcAft>
                <a:spcPts val="0"/>
              </a:spcAft>
              <a:buSzPts val="1300"/>
              <a:buChar char="●"/>
            </a:pPr>
            <a:r>
              <a:rPr lang="id"/>
              <a:t>Adalah kemampuan mendeklarasikan class, sekaligus meng-instansiasi object-nya secara langsung</a:t>
            </a:r>
            <a:endParaRPr/>
          </a:p>
          <a:p>
            <a:pPr marL="457200" lvl="0" indent="-311150" algn="l" rtl="0">
              <a:spcBef>
                <a:spcPts val="0"/>
              </a:spcBef>
              <a:spcAft>
                <a:spcPts val="0"/>
              </a:spcAft>
              <a:buSzPts val="1300"/>
              <a:buChar char="●"/>
            </a:pPr>
            <a:r>
              <a:rPr lang="id"/>
              <a:t>Anonymous class sangat cocok ketika kita berhadapan dengan kasus membuat implementasi interface atau abstract class sederhana, tanpa harus membuat implementasi class nya</a:t>
            </a:r>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p16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Anonymous Class</a:t>
            </a:r>
            <a:endParaRPr/>
          </a:p>
        </p:txBody>
      </p:sp>
      <p:pic>
        <p:nvPicPr>
          <p:cNvPr id="954" name="Google Shape;954;p162"/>
          <p:cNvPicPr preferRelativeResize="0"/>
          <p:nvPr/>
        </p:nvPicPr>
        <p:blipFill>
          <a:blip r:embed="rId3">
            <a:alphaModFix/>
          </a:blip>
          <a:stretch>
            <a:fillRect/>
          </a:stretch>
        </p:blipFill>
        <p:spPr>
          <a:xfrm>
            <a:off x="152400" y="2006250"/>
            <a:ext cx="4918284" cy="2984849"/>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p16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Constructor di Anonymous Class</a:t>
            </a:r>
            <a:endParaRPr/>
          </a:p>
        </p:txBody>
      </p:sp>
      <p:sp>
        <p:nvSpPr>
          <p:cNvPr id="960" name="Google Shape;960;p16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Anonymous class juga mendukung constructor</a:t>
            </a:r>
            <a:endParaRPr/>
          </a:p>
          <a:p>
            <a:pPr marL="457200" lvl="0" indent="-311150" algn="l" rtl="0">
              <a:spcBef>
                <a:spcPts val="0"/>
              </a:spcBef>
              <a:spcAft>
                <a:spcPts val="0"/>
              </a:spcAft>
              <a:buSzPts val="1300"/>
              <a:buChar char="●"/>
            </a:pPr>
            <a:r>
              <a:rPr lang="id"/>
              <a:t>Jadi kita bisa menambahkan constructor jika kita mau</a:t>
            </a:r>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p16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Constructor di Anonymous Class</a:t>
            </a:r>
            <a:endParaRPr/>
          </a:p>
        </p:txBody>
      </p:sp>
      <p:pic>
        <p:nvPicPr>
          <p:cNvPr id="966" name="Google Shape;966;p164"/>
          <p:cNvPicPr preferRelativeResize="0"/>
          <p:nvPr/>
        </p:nvPicPr>
        <p:blipFill>
          <a:blip r:embed="rId3">
            <a:alphaModFix/>
          </a:blip>
          <a:stretch>
            <a:fillRect/>
          </a:stretch>
        </p:blipFill>
        <p:spPr>
          <a:xfrm>
            <a:off x="152400" y="2006250"/>
            <a:ext cx="6126798" cy="2984851"/>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p165"/>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static Keyword</a:t>
            </a:r>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p16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static Keyword</a:t>
            </a:r>
            <a:endParaRPr/>
          </a:p>
        </p:txBody>
      </p:sp>
      <p:sp>
        <p:nvSpPr>
          <p:cNvPr id="977" name="Google Shape;977;p16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Kata kunci static adalah keyword yang bisa kita gunakan untuk membuat properties atau function di class bisa diakses secara langsung tanpa menginstansiasi class terlebih dahulu</a:t>
            </a:r>
            <a:endParaRPr/>
          </a:p>
          <a:p>
            <a:pPr marL="457200" lvl="0" indent="-311150" algn="l" rtl="0">
              <a:spcBef>
                <a:spcPts val="0"/>
              </a:spcBef>
              <a:spcAft>
                <a:spcPts val="0"/>
              </a:spcAft>
              <a:buSzPts val="1300"/>
              <a:buChar char="●"/>
            </a:pPr>
            <a:r>
              <a:rPr lang="id"/>
              <a:t>Namun ingat, saat kita buat static properties atau function, secara otomatis hal itu tidak akan berhubungan lagi dengan class instance yang kita buat</a:t>
            </a:r>
            <a:endParaRPr/>
          </a:p>
          <a:p>
            <a:pPr marL="457200" lvl="0" indent="-311150" algn="l" rtl="0">
              <a:spcBef>
                <a:spcPts val="0"/>
              </a:spcBef>
              <a:spcAft>
                <a:spcPts val="0"/>
              </a:spcAft>
              <a:buSzPts val="1300"/>
              <a:buChar char="●"/>
            </a:pPr>
            <a:r>
              <a:rPr lang="id"/>
              <a:t>Untuk cara mengakses static properties dan function sama seperti mengakses constant, kita bisa menggunakan operator ::</a:t>
            </a:r>
            <a:endParaRPr/>
          </a:p>
          <a:p>
            <a:pPr marL="457200" lvl="0" indent="-311150" algn="l" rtl="0">
              <a:spcBef>
                <a:spcPts val="0"/>
              </a:spcBef>
              <a:spcAft>
                <a:spcPts val="0"/>
              </a:spcAft>
              <a:buSzPts val="1300"/>
              <a:buChar char="●"/>
            </a:pPr>
            <a:r>
              <a:rPr lang="id"/>
              <a:t>static function tidak bisa mengakses function biasa, karena function biasa menempel pada class instance sedangkan static function tidak</a:t>
            </a:r>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p16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Static Properties</a:t>
            </a:r>
            <a:endParaRPr/>
          </a:p>
        </p:txBody>
      </p:sp>
      <p:pic>
        <p:nvPicPr>
          <p:cNvPr id="983" name="Google Shape;983;p167"/>
          <p:cNvPicPr preferRelativeResize="0"/>
          <p:nvPr/>
        </p:nvPicPr>
        <p:blipFill>
          <a:blip r:embed="rId3">
            <a:alphaModFix/>
          </a:blip>
          <a:stretch>
            <a:fillRect/>
          </a:stretch>
        </p:blipFill>
        <p:spPr>
          <a:xfrm>
            <a:off x="152400" y="2006250"/>
            <a:ext cx="8724900" cy="2381250"/>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p16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Static Function</a:t>
            </a:r>
            <a:endParaRPr/>
          </a:p>
        </p:txBody>
      </p:sp>
      <p:pic>
        <p:nvPicPr>
          <p:cNvPr id="989" name="Google Shape;989;p168"/>
          <p:cNvPicPr preferRelativeResize="0"/>
          <p:nvPr/>
        </p:nvPicPr>
        <p:blipFill>
          <a:blip r:embed="rId3">
            <a:alphaModFix/>
          </a:blip>
          <a:stretch>
            <a:fillRect/>
          </a:stretch>
        </p:blipFill>
        <p:spPr>
          <a:xfrm>
            <a:off x="152400" y="2006250"/>
            <a:ext cx="6414111" cy="2984850"/>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169"/>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stdClass</a:t>
            </a:r>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17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stdClass</a:t>
            </a:r>
            <a:endParaRPr/>
          </a:p>
        </p:txBody>
      </p:sp>
      <p:sp>
        <p:nvSpPr>
          <p:cNvPr id="1000" name="Google Shape;1000;p170"/>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stdClass adalah class kosong bawaan dari PHP</a:t>
            </a:r>
            <a:endParaRPr/>
          </a:p>
          <a:p>
            <a:pPr marL="457200" lvl="0" indent="-311150" algn="l" rtl="0">
              <a:spcBef>
                <a:spcPts val="0"/>
              </a:spcBef>
              <a:spcAft>
                <a:spcPts val="0"/>
              </a:spcAft>
              <a:buSzPts val="1300"/>
              <a:buChar char="●"/>
            </a:pPr>
            <a:r>
              <a:rPr lang="id"/>
              <a:t>stdClass biasanya digunakan ketika kita melakukan konversi dari tipe lain menjadi tipe object</a:t>
            </a:r>
            <a:endParaRPr/>
          </a:p>
          <a:p>
            <a:pPr marL="457200" lvl="0" indent="-311150" algn="l" rtl="0">
              <a:spcBef>
                <a:spcPts val="0"/>
              </a:spcBef>
              <a:spcAft>
                <a:spcPts val="0"/>
              </a:spcAft>
              <a:buSzPts val="1300"/>
              <a:buChar char="●"/>
            </a:pPr>
            <a:r>
              <a:rPr lang="id"/>
              <a:t>stdClass sangat berguna ketika misal kita ingin melakukan konversi dari tipe data array ke object secara otomatis</a:t>
            </a:r>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p17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Konversi Array ke stdClass</a:t>
            </a:r>
            <a:endParaRPr/>
          </a:p>
        </p:txBody>
      </p:sp>
      <p:pic>
        <p:nvPicPr>
          <p:cNvPr id="1006" name="Google Shape;1006;p171"/>
          <p:cNvPicPr preferRelativeResize="0"/>
          <p:nvPr/>
        </p:nvPicPr>
        <p:blipFill>
          <a:blip r:embed="rId3">
            <a:alphaModFix/>
          </a:blip>
          <a:stretch>
            <a:fillRect/>
          </a:stretch>
        </p:blipFill>
        <p:spPr>
          <a:xfrm>
            <a:off x="152400" y="2006250"/>
            <a:ext cx="5614214" cy="298485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p172"/>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Object Iteration</a:t>
            </a:r>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p17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Object Iteration</a:t>
            </a:r>
            <a:endParaRPr/>
          </a:p>
        </p:txBody>
      </p:sp>
      <p:sp>
        <p:nvSpPr>
          <p:cNvPr id="1017" name="Google Shape;1017;p17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kita membuat object dari sebuah class, kita bisa melakukan iterasi ke semua properties yang terdapat di object tersebut menggunakan foreach</a:t>
            </a:r>
            <a:endParaRPr/>
          </a:p>
          <a:p>
            <a:pPr marL="457200" lvl="0" indent="-311150" algn="l" rtl="0">
              <a:spcBef>
                <a:spcPts val="0"/>
              </a:spcBef>
              <a:spcAft>
                <a:spcPts val="0"/>
              </a:spcAft>
              <a:buSzPts val="1300"/>
              <a:buChar char="●"/>
            </a:pPr>
            <a:r>
              <a:rPr lang="id"/>
              <a:t>Hal ini mempermudah kita saat ingin mengakses semua properties yang ada di object</a:t>
            </a:r>
            <a:endParaRPr/>
          </a:p>
          <a:p>
            <a:pPr marL="457200" lvl="0" indent="-311150" algn="l" rtl="0">
              <a:spcBef>
                <a:spcPts val="0"/>
              </a:spcBef>
              <a:spcAft>
                <a:spcPts val="0"/>
              </a:spcAft>
              <a:buSzPts val="1300"/>
              <a:buChar char="●"/>
            </a:pPr>
            <a:r>
              <a:rPr lang="id"/>
              <a:t>Secara default, hanya properties yang public yang bisa diakses oleh foreach</a:t>
            </a:r>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p17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Object Iteration</a:t>
            </a:r>
            <a:endParaRPr/>
          </a:p>
        </p:txBody>
      </p:sp>
      <p:pic>
        <p:nvPicPr>
          <p:cNvPr id="1023" name="Google Shape;1023;p174"/>
          <p:cNvPicPr preferRelativeResize="0"/>
          <p:nvPr/>
        </p:nvPicPr>
        <p:blipFill>
          <a:blip r:embed="rId3">
            <a:alphaModFix/>
          </a:blip>
          <a:stretch>
            <a:fillRect/>
          </a:stretch>
        </p:blipFill>
        <p:spPr>
          <a:xfrm>
            <a:off x="152400" y="2006250"/>
            <a:ext cx="5826974" cy="2984850"/>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p17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Iterator</a:t>
            </a:r>
            <a:endParaRPr/>
          </a:p>
        </p:txBody>
      </p:sp>
      <p:sp>
        <p:nvSpPr>
          <p:cNvPr id="1029" name="Google Shape;1029;p17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Sebelumnya kita melakukan iterasi data di properties secara otomatis menggunakan foreach</a:t>
            </a:r>
            <a:endParaRPr/>
          </a:p>
          <a:p>
            <a:pPr marL="457200" lvl="0" indent="-311150" algn="l" rtl="0">
              <a:spcBef>
                <a:spcPts val="0"/>
              </a:spcBef>
              <a:spcAft>
                <a:spcPts val="0"/>
              </a:spcAft>
              <a:buSzPts val="1300"/>
              <a:buChar char="●"/>
            </a:pPr>
            <a:r>
              <a:rPr lang="id"/>
              <a:t>Jika kita ingin menangani hal ini secara manual, kita bisa menggunakan Iterator</a:t>
            </a:r>
            <a:endParaRPr/>
          </a:p>
          <a:p>
            <a:pPr marL="457200" lvl="0" indent="-311150" algn="l" rtl="0">
              <a:spcBef>
                <a:spcPts val="0"/>
              </a:spcBef>
              <a:spcAft>
                <a:spcPts val="0"/>
              </a:spcAft>
              <a:buSzPts val="1300"/>
              <a:buChar char="●"/>
            </a:pPr>
            <a:r>
              <a:rPr lang="id"/>
              <a:t>Iterator adalah interface yang digunakan untuk melakukan iterasi, namun membuat Iterator secara manual lumayan cukup ribet, oleh karena itu sekarang kita akan gunakan ArrayIterator, yaitu iterator yang menggunakan array sebagai data iterasi nya</a:t>
            </a:r>
            <a:endParaRPr/>
          </a:p>
          <a:p>
            <a:pPr marL="457200" lvl="0" indent="-311150" algn="l" rtl="0">
              <a:spcBef>
                <a:spcPts val="0"/>
              </a:spcBef>
              <a:spcAft>
                <a:spcPts val="0"/>
              </a:spcAft>
              <a:buSzPts val="1300"/>
              <a:buChar char="●"/>
            </a:pPr>
            <a:r>
              <a:rPr lang="id"/>
              <a:t>Dan agar class kita bisa di iterasi secara manual, kita bisa menggunakan interface IteratorAggregate, disana kita hanya butuh meng-override function getIterator() yang mengembalikan data Iterator</a:t>
            </a:r>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p17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Iterator</a:t>
            </a:r>
            <a:endParaRPr/>
          </a:p>
        </p:txBody>
      </p:sp>
      <p:pic>
        <p:nvPicPr>
          <p:cNvPr id="1035" name="Google Shape;1035;p176"/>
          <p:cNvPicPr preferRelativeResize="0"/>
          <p:nvPr/>
        </p:nvPicPr>
        <p:blipFill>
          <a:blip r:embed="rId3">
            <a:alphaModFix/>
          </a:blip>
          <a:stretch>
            <a:fillRect/>
          </a:stretch>
        </p:blipFill>
        <p:spPr>
          <a:xfrm>
            <a:off x="152400" y="2006250"/>
            <a:ext cx="4785626" cy="2984849"/>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p177"/>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Generator</a:t>
            </a:r>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5" name="Google Shape;1045;p17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Generator</a:t>
            </a:r>
            <a:endParaRPr/>
          </a:p>
        </p:txBody>
      </p:sp>
      <p:sp>
        <p:nvSpPr>
          <p:cNvPr id="1046" name="Google Shape;1046;p17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Sebelumnya kita tahu bahwa untuk membuat object yang bisa di iterasi, kita menggunakan Iterator</a:t>
            </a:r>
            <a:endParaRPr/>
          </a:p>
          <a:p>
            <a:pPr marL="457200" lvl="0" indent="-311150" algn="l" rtl="0">
              <a:spcBef>
                <a:spcPts val="0"/>
              </a:spcBef>
              <a:spcAft>
                <a:spcPts val="0"/>
              </a:spcAft>
              <a:buSzPts val="1300"/>
              <a:buChar char="●"/>
            </a:pPr>
            <a:r>
              <a:rPr lang="id"/>
              <a:t>Namun pembuatan Iterator secara manual sangatlah ribet</a:t>
            </a:r>
            <a:endParaRPr/>
          </a:p>
          <a:p>
            <a:pPr marL="457200" lvl="0" indent="-311150" algn="l" rtl="0">
              <a:spcBef>
                <a:spcPts val="0"/>
              </a:spcBef>
              <a:spcAft>
                <a:spcPts val="0"/>
              </a:spcAft>
              <a:buSzPts val="1300"/>
              <a:buChar char="●"/>
            </a:pPr>
            <a:r>
              <a:rPr lang="id"/>
              <a:t>Untungnya di PHP, terdapat fitur generator, yang bisa kita gunakan untuk membuat Iterator secara otomatis hanya dengan menggunakan kata kunci yield</a:t>
            </a:r>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p17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Generator</a:t>
            </a:r>
            <a:endParaRPr/>
          </a:p>
        </p:txBody>
      </p:sp>
      <p:pic>
        <p:nvPicPr>
          <p:cNvPr id="1052" name="Google Shape;1052;p179"/>
          <p:cNvPicPr preferRelativeResize="0"/>
          <p:nvPr/>
        </p:nvPicPr>
        <p:blipFill>
          <a:blip r:embed="rId3">
            <a:alphaModFix/>
          </a:blip>
          <a:stretch>
            <a:fillRect/>
          </a:stretch>
        </p:blipFill>
        <p:spPr>
          <a:xfrm>
            <a:off x="152400" y="2006250"/>
            <a:ext cx="6576788" cy="2984850"/>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180"/>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Object Cloning</a:t>
            </a:r>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p18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Object Cloning</a:t>
            </a:r>
            <a:endParaRPr/>
          </a:p>
        </p:txBody>
      </p:sp>
      <p:sp>
        <p:nvSpPr>
          <p:cNvPr id="1063" name="Google Shape;1063;p18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Kadang kita ada kebutuhan untuk menduplikasi sebuah object</a:t>
            </a:r>
            <a:endParaRPr/>
          </a:p>
          <a:p>
            <a:pPr marL="457200" lvl="0" indent="-311150" algn="l" rtl="0">
              <a:spcBef>
                <a:spcPts val="0"/>
              </a:spcBef>
              <a:spcAft>
                <a:spcPts val="0"/>
              </a:spcAft>
              <a:buSzPts val="1300"/>
              <a:buChar char="●"/>
            </a:pPr>
            <a:r>
              <a:rPr lang="id"/>
              <a:t>Biasanya untuk melakukan hal ini, kita bisa membuat object baru, lalu menyalin semua properties di object awal ke object baru</a:t>
            </a:r>
            <a:endParaRPr/>
          </a:p>
          <a:p>
            <a:pPr marL="457200" lvl="0" indent="-311150" algn="l" rtl="0">
              <a:spcBef>
                <a:spcPts val="0"/>
              </a:spcBef>
              <a:spcAft>
                <a:spcPts val="0"/>
              </a:spcAft>
              <a:buSzPts val="1300"/>
              <a:buChar char="●"/>
            </a:pPr>
            <a:r>
              <a:rPr lang="id"/>
              <a:t>Untungnya PHP mendukung object cloning</a:t>
            </a:r>
            <a:endParaRPr/>
          </a:p>
          <a:p>
            <a:pPr marL="457200" lvl="0" indent="-311150" algn="l" rtl="0">
              <a:spcBef>
                <a:spcPts val="0"/>
              </a:spcBef>
              <a:spcAft>
                <a:spcPts val="0"/>
              </a:spcAft>
              <a:buSzPts val="1300"/>
              <a:buChar char="●"/>
            </a:pPr>
            <a:r>
              <a:rPr lang="id"/>
              <a:t>Kita bisa menggunakan perintah clone untuk membuat duplikasi object</a:t>
            </a:r>
            <a:endParaRPr/>
          </a:p>
          <a:p>
            <a:pPr marL="457200" lvl="0" indent="-311150" algn="l" rtl="0">
              <a:spcBef>
                <a:spcPts val="0"/>
              </a:spcBef>
              <a:spcAft>
                <a:spcPts val="0"/>
              </a:spcAft>
              <a:buSzPts val="1300"/>
              <a:buChar char="●"/>
            </a:pPr>
            <a:r>
              <a:rPr lang="id"/>
              <a:t>Secara otomatis semua properties di object awal akan di duplikasi ke object baru</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p18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Object Cloning</a:t>
            </a:r>
            <a:endParaRPr/>
          </a:p>
        </p:txBody>
      </p:sp>
      <p:pic>
        <p:nvPicPr>
          <p:cNvPr id="1069" name="Google Shape;1069;p182"/>
          <p:cNvPicPr preferRelativeResize="0"/>
          <p:nvPr/>
        </p:nvPicPr>
        <p:blipFill>
          <a:blip r:embed="rId3">
            <a:alphaModFix/>
          </a:blip>
          <a:stretch>
            <a:fillRect/>
          </a:stretch>
        </p:blipFill>
        <p:spPr>
          <a:xfrm>
            <a:off x="152400" y="2006250"/>
            <a:ext cx="8839202" cy="2867430"/>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4" name="Google Shape;1074;p18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__clone() Function</a:t>
            </a:r>
            <a:endParaRPr/>
          </a:p>
        </p:txBody>
      </p:sp>
      <p:sp>
        <p:nvSpPr>
          <p:cNvPr id="1075" name="Google Shape;1075;p18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Kadang menyalin semua properties bukanlah yang kita inginkan</a:t>
            </a:r>
            <a:endParaRPr/>
          </a:p>
          <a:p>
            <a:pPr marL="457200" lvl="0" indent="-311150" algn="l" rtl="0">
              <a:spcBef>
                <a:spcPts val="0"/>
              </a:spcBef>
              <a:spcAft>
                <a:spcPts val="0"/>
              </a:spcAft>
              <a:buSzPts val="1300"/>
              <a:buChar char="●"/>
            </a:pPr>
            <a:r>
              <a:rPr lang="id"/>
              <a:t>Misal saja kita hanya ingin menyalin beberapa properties saja, tidak ingin semuanya</a:t>
            </a:r>
            <a:endParaRPr/>
          </a:p>
          <a:p>
            <a:pPr marL="457200" lvl="0" indent="-311150" algn="l" rtl="0">
              <a:spcBef>
                <a:spcPts val="0"/>
              </a:spcBef>
              <a:spcAft>
                <a:spcPts val="0"/>
              </a:spcAft>
              <a:buSzPts val="1300"/>
              <a:buChar char="●"/>
            </a:pPr>
            <a:r>
              <a:rPr lang="id"/>
              <a:t>Jika kita ingin memodifikasi cara PHP melakukan clone, kita bisa membuat function di dalam class nya dengan nama function __clone()</a:t>
            </a:r>
            <a:endParaRPr/>
          </a:p>
          <a:p>
            <a:pPr marL="457200" lvl="0" indent="-311150" algn="l" rtl="0">
              <a:spcBef>
                <a:spcPts val="0"/>
              </a:spcBef>
              <a:spcAft>
                <a:spcPts val="0"/>
              </a:spcAft>
              <a:buSzPts val="1300"/>
              <a:buChar char="●"/>
            </a:pPr>
            <a:r>
              <a:rPr lang="id"/>
              <a:t>Function __clone() akan dipanggil di object hasil duplikasi setelah proses duplikasi selesai</a:t>
            </a:r>
            <a:endParaRPr/>
          </a:p>
          <a:p>
            <a:pPr marL="457200" lvl="0" indent="-311150" algn="l" rtl="0">
              <a:spcBef>
                <a:spcPts val="0"/>
              </a:spcBef>
              <a:spcAft>
                <a:spcPts val="0"/>
              </a:spcAft>
              <a:buSzPts val="1300"/>
              <a:buChar char="●"/>
            </a:pPr>
            <a:r>
              <a:rPr lang="id"/>
              <a:t>Jadi jika kita ingin menghapus beberapa properties, bisa kita lakukan di function __clone()</a:t>
            </a:r>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p18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__clone() Function</a:t>
            </a:r>
            <a:endParaRPr/>
          </a:p>
        </p:txBody>
      </p:sp>
      <p:pic>
        <p:nvPicPr>
          <p:cNvPr id="1081" name="Google Shape;1081;p184"/>
          <p:cNvPicPr preferRelativeResize="0"/>
          <p:nvPr/>
        </p:nvPicPr>
        <p:blipFill>
          <a:blip r:embed="rId3">
            <a:alphaModFix/>
          </a:blip>
          <a:stretch>
            <a:fillRect/>
          </a:stretch>
        </p:blipFill>
        <p:spPr>
          <a:xfrm>
            <a:off x="152400" y="2006250"/>
            <a:ext cx="7063896" cy="2984850"/>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p185"/>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Comparing Object</a:t>
            </a:r>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p18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dirty="0"/>
              <a:t>Comparing Object</a:t>
            </a:r>
            <a:endParaRPr dirty="0"/>
          </a:p>
        </p:txBody>
      </p:sp>
      <p:sp>
        <p:nvSpPr>
          <p:cNvPr id="1092" name="Google Shape;1092;p18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dirty="0"/>
              <a:t>Sama seperti tipe data yang lain, untuk membandingkan dua buah object, kita bisa menggunakan operator == (equals) dan === (identity)</a:t>
            </a:r>
            <a:endParaRPr dirty="0"/>
          </a:p>
          <a:p>
            <a:pPr marL="457200" lvl="0" indent="-311150" algn="l" rtl="0">
              <a:spcBef>
                <a:spcPts val="0"/>
              </a:spcBef>
              <a:spcAft>
                <a:spcPts val="0"/>
              </a:spcAft>
              <a:buSzPts val="1300"/>
              <a:buChar char="●"/>
            </a:pPr>
            <a:r>
              <a:rPr lang="id" dirty="0"/>
              <a:t>Operator == (equals) membandingkan semua properties yang terdapat di object tersebut, dan tiap properties juga akan dibandingkan menggunakan operator == (equals)</a:t>
            </a:r>
            <a:endParaRPr dirty="0"/>
          </a:p>
          <a:p>
            <a:pPr marL="457200" lvl="0" indent="-311150" algn="l" rtl="0">
              <a:spcBef>
                <a:spcPts val="0"/>
              </a:spcBef>
              <a:spcAft>
                <a:spcPts val="0"/>
              </a:spcAft>
              <a:buSzPts val="1300"/>
              <a:buChar char="●"/>
            </a:pPr>
            <a:r>
              <a:rPr lang="id" dirty="0"/>
              <a:t>Sedangkan operator === (identity), maka akan membandingkan apakah object identik, artinya mengacu ke object yang sama</a:t>
            </a:r>
            <a:endParaRPr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p18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Comparing Object</a:t>
            </a:r>
            <a:endParaRPr/>
          </a:p>
        </p:txBody>
      </p:sp>
      <p:pic>
        <p:nvPicPr>
          <p:cNvPr id="1098" name="Google Shape;1098;p187"/>
          <p:cNvPicPr preferRelativeResize="0"/>
          <p:nvPr/>
        </p:nvPicPr>
        <p:blipFill>
          <a:blip r:embed="rId3">
            <a:alphaModFix/>
          </a:blip>
          <a:stretch>
            <a:fillRect/>
          </a:stretch>
        </p:blipFill>
        <p:spPr>
          <a:xfrm>
            <a:off x="152400" y="2006250"/>
            <a:ext cx="6673610" cy="298485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p188"/>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Magic Function</a:t>
            </a:r>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p18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Magic Function</a:t>
            </a:r>
            <a:endParaRPr/>
          </a:p>
        </p:txBody>
      </p:sp>
      <p:sp>
        <p:nvSpPr>
          <p:cNvPr id="1109" name="Google Shape;1109;p18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Magic function adalah function-function yang sudah ditentukan kegunaannya di PHP</a:t>
            </a:r>
            <a:endParaRPr/>
          </a:p>
          <a:p>
            <a:pPr marL="457200" lvl="0" indent="-311150" algn="l" rtl="0">
              <a:spcBef>
                <a:spcPts val="0"/>
              </a:spcBef>
              <a:spcAft>
                <a:spcPts val="0"/>
              </a:spcAft>
              <a:buSzPts val="1300"/>
              <a:buChar char="●"/>
            </a:pPr>
            <a:r>
              <a:rPr lang="id"/>
              <a:t>Kita tidak bisa membuat function tersebut, kecuali memang sudah ditentukan kegunaannya</a:t>
            </a:r>
            <a:endParaRPr/>
          </a:p>
          <a:p>
            <a:pPr marL="457200" lvl="0" indent="-311150" algn="l" rtl="0">
              <a:spcBef>
                <a:spcPts val="0"/>
              </a:spcBef>
              <a:spcAft>
                <a:spcPts val="0"/>
              </a:spcAft>
              <a:buSzPts val="1300"/>
              <a:buChar char="●"/>
            </a:pPr>
            <a:r>
              <a:rPr lang="id"/>
              <a:t>Sebelumnya kita sudah membahas beberapa magic function, seperti __construct() sebagai constructor, __destruct() sebagai destructor, dan __clone() sebagai object cloning</a:t>
            </a:r>
            <a:endParaRPr/>
          </a:p>
          <a:p>
            <a:pPr marL="457200" lvl="0" indent="-311150" algn="l" rtl="0">
              <a:spcBef>
                <a:spcPts val="0"/>
              </a:spcBef>
              <a:spcAft>
                <a:spcPts val="0"/>
              </a:spcAft>
              <a:buSzPts val="1300"/>
              <a:buChar char="●"/>
            </a:pPr>
            <a:r>
              <a:rPr lang="id"/>
              <a:t>Masih banyak magic function lainnya, kita bisa melihatnya di link berikut : </a:t>
            </a:r>
            <a:r>
              <a:rPr lang="id" u="sng">
                <a:solidFill>
                  <a:schemeClr val="hlink"/>
                </a:solidFill>
                <a:hlinkClick r:id="rId3"/>
              </a:rPr>
              <a:t>https://www.php.net/manual/en/language.oop5.magic.php</a:t>
            </a:r>
            <a:r>
              <a:rPr lang="id"/>
              <a:t> </a:t>
            </a:r>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p19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__toString() Function</a:t>
            </a:r>
            <a:endParaRPr/>
          </a:p>
        </p:txBody>
      </p:sp>
      <p:sp>
        <p:nvSpPr>
          <p:cNvPr id="1115" name="Google Shape;1115;p190"/>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__toString() function merupakan salah satu magic function yang digunakan sebagai representasi string sebuah object</a:t>
            </a:r>
            <a:endParaRPr/>
          </a:p>
          <a:p>
            <a:pPr marL="457200" lvl="0" indent="-311150" algn="l" rtl="0">
              <a:spcBef>
                <a:spcPts val="0"/>
              </a:spcBef>
              <a:spcAft>
                <a:spcPts val="0"/>
              </a:spcAft>
              <a:buSzPts val="1300"/>
              <a:buChar char="●"/>
            </a:pPr>
            <a:r>
              <a:rPr lang="id"/>
              <a:t>Jika misal kita ingin membuat string dari object kita, kita bisa membuat function __toString()</a:t>
            </a:r>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19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__toString() Function</a:t>
            </a:r>
            <a:endParaRPr/>
          </a:p>
        </p:txBody>
      </p:sp>
      <p:pic>
        <p:nvPicPr>
          <p:cNvPr id="1121" name="Google Shape;1121;p191"/>
          <p:cNvPicPr preferRelativeResize="0"/>
          <p:nvPr/>
        </p:nvPicPr>
        <p:blipFill>
          <a:blip r:embed="rId3">
            <a:alphaModFix/>
          </a:blip>
          <a:stretch>
            <a:fillRect/>
          </a:stretch>
        </p:blipFill>
        <p:spPr>
          <a:xfrm>
            <a:off x="152400" y="2006250"/>
            <a:ext cx="8718045" cy="298485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sp>
        <p:nvSpPr>
          <p:cNvPr id="1126" name="Google Shape;1126;p19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__invoke() Function</a:t>
            </a:r>
            <a:endParaRPr/>
          </a:p>
        </p:txBody>
      </p:sp>
      <p:sp>
        <p:nvSpPr>
          <p:cNvPr id="1127" name="Google Shape;1127;p19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__invoke() merupakan function yang dieksekusi ketika object yang kita buat dianggap sebagai function</a:t>
            </a:r>
            <a:endParaRPr/>
          </a:p>
          <a:p>
            <a:pPr marL="457200" lvl="0" indent="-311150" algn="l" rtl="0">
              <a:spcBef>
                <a:spcPts val="0"/>
              </a:spcBef>
              <a:spcAft>
                <a:spcPts val="0"/>
              </a:spcAft>
              <a:buSzPts val="1300"/>
              <a:buChar char="●"/>
            </a:pPr>
            <a:r>
              <a:rPr lang="id"/>
              <a:t>Misal ketika kita membuat object $student, lalu kita melakukan $student(), maka secara otomatis function __invoke() yang akan dieksekusi</a:t>
            </a:r>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Shape 1131"/>
        <p:cNvGrpSpPr/>
        <p:nvPr/>
      </p:nvGrpSpPr>
      <p:grpSpPr>
        <a:xfrm>
          <a:off x="0" y="0"/>
          <a:ext cx="0" cy="0"/>
          <a:chOff x="0" y="0"/>
          <a:chExt cx="0" cy="0"/>
        </a:xfrm>
      </p:grpSpPr>
      <p:sp>
        <p:nvSpPr>
          <p:cNvPr id="1132" name="Google Shape;1132;p19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__invoke() Function</a:t>
            </a:r>
            <a:endParaRPr/>
          </a:p>
        </p:txBody>
      </p:sp>
      <p:pic>
        <p:nvPicPr>
          <p:cNvPr id="1133" name="Google Shape;1133;p193"/>
          <p:cNvPicPr preferRelativeResize="0"/>
          <p:nvPr/>
        </p:nvPicPr>
        <p:blipFill>
          <a:blip r:embed="rId3">
            <a:alphaModFix/>
          </a:blip>
          <a:stretch>
            <a:fillRect/>
          </a:stretch>
        </p:blipFill>
        <p:spPr>
          <a:xfrm>
            <a:off x="152400" y="2006250"/>
            <a:ext cx="7853269" cy="298485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19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__debugInfo() Function</a:t>
            </a:r>
            <a:endParaRPr/>
          </a:p>
        </p:txBody>
      </p:sp>
      <p:sp>
        <p:nvSpPr>
          <p:cNvPr id="1139" name="Google Shape;1139;p19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Sebelumnya kita sering melakukan debug variable menggunakan function var_dump()</a:t>
            </a:r>
            <a:endParaRPr/>
          </a:p>
          <a:p>
            <a:pPr marL="457200" lvl="0" indent="-311150" algn="l" rtl="0">
              <a:spcBef>
                <a:spcPts val="0"/>
              </a:spcBef>
              <a:spcAft>
                <a:spcPts val="0"/>
              </a:spcAft>
              <a:buSzPts val="1300"/>
              <a:buChar char="●"/>
            </a:pPr>
            <a:r>
              <a:rPr lang="id"/>
              <a:t>Function var_dump() sebenarnya memanggil function __debugInfo() </a:t>
            </a:r>
            <a:endParaRPr/>
          </a:p>
          <a:p>
            <a:pPr marL="457200" lvl="0" indent="-311150" algn="l" rtl="0">
              <a:spcBef>
                <a:spcPts val="0"/>
              </a:spcBef>
              <a:spcAft>
                <a:spcPts val="0"/>
              </a:spcAft>
              <a:buSzPts val="1300"/>
              <a:buChar char="●"/>
            </a:pPr>
            <a:r>
              <a:rPr lang="id"/>
              <a:t>Jika kita ingin mengubah isi dari debug info, kita bisa membuat function __debugInfo()</a:t>
            </a:r>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Shape 1143"/>
        <p:cNvGrpSpPr/>
        <p:nvPr/>
      </p:nvGrpSpPr>
      <p:grpSpPr>
        <a:xfrm>
          <a:off x="0" y="0"/>
          <a:ext cx="0" cy="0"/>
          <a:chOff x="0" y="0"/>
          <a:chExt cx="0" cy="0"/>
        </a:xfrm>
      </p:grpSpPr>
      <p:sp>
        <p:nvSpPr>
          <p:cNvPr id="1144" name="Google Shape;1144;p19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__debugInfo() Function</a:t>
            </a:r>
            <a:endParaRPr/>
          </a:p>
        </p:txBody>
      </p:sp>
      <p:pic>
        <p:nvPicPr>
          <p:cNvPr id="1145" name="Google Shape;1145;p195"/>
          <p:cNvPicPr preferRelativeResize="0"/>
          <p:nvPr/>
        </p:nvPicPr>
        <p:blipFill>
          <a:blip r:embed="rId3">
            <a:alphaModFix/>
          </a:blip>
          <a:stretch>
            <a:fillRect/>
          </a:stretch>
        </p:blipFill>
        <p:spPr>
          <a:xfrm>
            <a:off x="152400" y="2006250"/>
            <a:ext cx="6323412" cy="2984849"/>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sp>
        <p:nvSpPr>
          <p:cNvPr id="1150" name="Google Shape;1150;p19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Dan masih banyak lagi</a:t>
            </a:r>
            <a:endParaRPr/>
          </a:p>
        </p:txBody>
      </p:sp>
      <p:sp>
        <p:nvSpPr>
          <p:cNvPr id="1151" name="Google Shape;1151;p19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u="sng">
                <a:solidFill>
                  <a:schemeClr val="hlink"/>
                </a:solidFill>
                <a:hlinkClick r:id="rId3"/>
              </a:rPr>
              <a:t>https://www.php.net/manual/en/language.oop5.magic.php</a:t>
            </a:r>
            <a:r>
              <a:rPr lang="id"/>
              <a:t> </a:t>
            </a:r>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Google Shape;1156;p197"/>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Overloading</a:t>
            </a:r>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Shape 1160"/>
        <p:cNvGrpSpPr/>
        <p:nvPr/>
      </p:nvGrpSpPr>
      <p:grpSpPr>
        <a:xfrm>
          <a:off x="0" y="0"/>
          <a:ext cx="0" cy="0"/>
          <a:chOff x="0" y="0"/>
          <a:chExt cx="0" cy="0"/>
        </a:xfrm>
      </p:grpSpPr>
      <p:sp>
        <p:nvSpPr>
          <p:cNvPr id="1161" name="Google Shape;1161;p19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Overloading</a:t>
            </a:r>
            <a:endParaRPr/>
          </a:p>
        </p:txBody>
      </p:sp>
      <p:sp>
        <p:nvSpPr>
          <p:cNvPr id="1162" name="Google Shape;1162;p19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Overloading adalah kemampuan secara dinamis membuat properties atau function</a:t>
            </a:r>
            <a:endParaRPr/>
          </a:p>
          <a:p>
            <a:pPr marL="457200" lvl="0" indent="-311150" algn="l" rtl="0">
              <a:spcBef>
                <a:spcPts val="0"/>
              </a:spcBef>
              <a:spcAft>
                <a:spcPts val="0"/>
              </a:spcAft>
              <a:buSzPts val="1300"/>
              <a:buChar char="●"/>
            </a:pPr>
            <a:r>
              <a:rPr lang="id"/>
              <a:t>Ini mirip meta programming di bahasa pemrograman lain seperti Ruby</a:t>
            </a:r>
            <a:endParaRPr/>
          </a:p>
          <a:p>
            <a:pPr marL="457200" lvl="0" indent="-311150" algn="l" rtl="0">
              <a:spcBef>
                <a:spcPts val="0"/>
              </a:spcBef>
              <a:spcAft>
                <a:spcPts val="0"/>
              </a:spcAft>
              <a:buSzPts val="1300"/>
              <a:buChar char="●"/>
            </a:pPr>
            <a:r>
              <a:rPr lang="id"/>
              <a:t>Namun ini berbeda dengan function overloading di bahasa pemrograman lain seperti Java</a:t>
            </a:r>
            <a:endParaRPr/>
          </a:p>
          <a:p>
            <a:pPr marL="457200" lvl="0" indent="-311150" algn="l" rtl="0">
              <a:spcBef>
                <a:spcPts val="0"/>
              </a:spcBef>
              <a:spcAft>
                <a:spcPts val="0"/>
              </a:spcAft>
              <a:buSzPts val="1300"/>
              <a:buChar char="●"/>
            </a:pPr>
            <a:r>
              <a:rPr lang="id"/>
              <a:t>Overloading ini erat kaitannya dengan magic function yang sebelumnya sudah kita bahas</a:t>
            </a:r>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19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Properties Overloading</a:t>
            </a:r>
            <a:endParaRPr/>
          </a:p>
        </p:txBody>
      </p:sp>
      <p:sp>
        <p:nvSpPr>
          <p:cNvPr id="1168" name="Google Shape;1168;p19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kita mengakses properties, maka secara otomatis properties akan diakses</a:t>
            </a:r>
            <a:endParaRPr/>
          </a:p>
          <a:p>
            <a:pPr marL="457200" lvl="0" indent="-311150" algn="l" rtl="0">
              <a:spcBef>
                <a:spcPts val="0"/>
              </a:spcBef>
              <a:spcAft>
                <a:spcPts val="0"/>
              </a:spcAft>
              <a:buSzPts val="1300"/>
              <a:buChar char="●"/>
            </a:pPr>
            <a:r>
              <a:rPr lang="id"/>
              <a:t>Namun jika ternyata properties tersebut tidak tersedia di objectnya, maka PHP tidak secara otomatis menjadikan itu error</a:t>
            </a:r>
            <a:endParaRPr/>
          </a:p>
          <a:p>
            <a:pPr marL="457200" lvl="0" indent="-311150" algn="l" rtl="0">
              <a:spcBef>
                <a:spcPts val="0"/>
              </a:spcBef>
              <a:spcAft>
                <a:spcPts val="0"/>
              </a:spcAft>
              <a:buSzPts val="1300"/>
              <a:buChar char="●"/>
            </a:pPr>
            <a:r>
              <a:rPr lang="id"/>
              <a:t>PHP akan melakukan fallback ke magic function</a:t>
            </a:r>
            <a:endParaRPr/>
          </a:p>
          <a:p>
            <a:pPr marL="457200" lvl="0" indent="-311150" algn="l" rtl="0">
              <a:spcBef>
                <a:spcPts val="0"/>
              </a:spcBef>
              <a:spcAft>
                <a:spcPts val="0"/>
              </a:spcAft>
              <a:buSzPts val="1300"/>
              <a:buChar char="●"/>
            </a:pPr>
            <a:r>
              <a:rPr lang="id"/>
              <a:t>Dengan demikian kita bisa membuat properties secara dinamis dengan memanfaatkan magic function tersebut</a:t>
            </a:r>
            <a:endParaRPr/>
          </a:p>
          <a:p>
            <a:pPr marL="457200" lvl="0" indent="-311150" algn="l" rtl="0">
              <a:spcBef>
                <a:spcPts val="0"/>
              </a:spcBef>
              <a:spcAft>
                <a:spcPts val="0"/>
              </a:spcAft>
              <a:buSzPts val="1300"/>
              <a:buChar char="●"/>
            </a:pPr>
            <a:r>
              <a:rPr lang="id"/>
              <a:t>Ada beberapa magic function yang bisa kita gunakan untuk properties overloading</a:t>
            </a:r>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Shape 1172"/>
        <p:cNvGrpSpPr/>
        <p:nvPr/>
      </p:nvGrpSpPr>
      <p:grpSpPr>
        <a:xfrm>
          <a:off x="0" y="0"/>
          <a:ext cx="0" cy="0"/>
          <a:chOff x="0" y="0"/>
          <a:chExt cx="0" cy="0"/>
        </a:xfrm>
      </p:grpSpPr>
      <p:sp>
        <p:nvSpPr>
          <p:cNvPr id="1173" name="Google Shape;1173;p20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Magic Function untuk Properties Overloading</a:t>
            </a:r>
            <a:endParaRPr/>
          </a:p>
        </p:txBody>
      </p:sp>
      <p:graphicFrame>
        <p:nvGraphicFramePr>
          <p:cNvPr id="1174" name="Google Shape;1174;p200"/>
          <p:cNvGraphicFramePr/>
          <p:nvPr/>
        </p:nvGraphicFramePr>
        <p:xfrm>
          <a:off x="952500" y="2190750"/>
          <a:ext cx="7239000" cy="2834490"/>
        </p:xfrm>
        <a:graphic>
          <a:graphicData uri="http://schemas.openxmlformats.org/drawingml/2006/table">
            <a:tbl>
              <a:tblPr>
                <a:noFill/>
                <a:tableStyleId>{B9673AF5-CA51-48C4-976C-ADCB9C662DA2}</a:tableStyleId>
              </a:tblPr>
              <a:tblGrid>
                <a:gridCol w="2592200">
                  <a:extLst>
                    <a:ext uri="{9D8B030D-6E8A-4147-A177-3AD203B41FA5}">
                      <a16:colId xmlns:a16="http://schemas.microsoft.com/office/drawing/2014/main" val="20000"/>
                    </a:ext>
                  </a:extLst>
                </a:gridCol>
                <a:gridCol w="46468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id"/>
                        <a:t>Magic Function</a:t>
                      </a:r>
                      <a:endParaRPr/>
                    </a:p>
                  </a:txBody>
                  <a:tcPr marL="91425" marR="91425" marT="91425" marB="91425">
                    <a:solidFill>
                      <a:srgbClr val="CCCCCC"/>
                    </a:solidFill>
                  </a:tcPr>
                </a:tc>
                <a:tc>
                  <a:txBody>
                    <a:bodyPr/>
                    <a:lstStyle/>
                    <a:p>
                      <a:pPr marL="0" lvl="0" indent="0" algn="l" rtl="0">
                        <a:spcBef>
                          <a:spcPts val="0"/>
                        </a:spcBef>
                        <a:spcAft>
                          <a:spcPts val="0"/>
                        </a:spcAft>
                        <a:buNone/>
                      </a:pPr>
                      <a:r>
                        <a:rPr lang="id"/>
                        <a:t>Keterangan</a:t>
                      </a:r>
                      <a:endParaRPr/>
                    </a:p>
                  </a:txBody>
                  <a:tcPr marL="91425" marR="91425" marT="91425" marB="91425">
                    <a:solidFill>
                      <a:srgbClr val="CCCCCC"/>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id"/>
                        <a:t>__set($name, $value) : void</a:t>
                      </a:r>
                      <a:endParaRPr/>
                    </a:p>
                  </a:txBody>
                  <a:tcPr marL="91425" marR="91425" marT="91425" marB="91425"/>
                </a:tc>
                <a:tc>
                  <a:txBody>
                    <a:bodyPr/>
                    <a:lstStyle/>
                    <a:p>
                      <a:pPr marL="0" lvl="0" indent="0" algn="l" rtl="0">
                        <a:spcBef>
                          <a:spcPts val="0"/>
                        </a:spcBef>
                        <a:spcAft>
                          <a:spcPts val="0"/>
                        </a:spcAft>
                        <a:buNone/>
                      </a:pPr>
                      <a:r>
                        <a:rPr lang="id"/>
                        <a:t>Dieksekusi ketika mengubah properties yang tidak tersedia</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id"/>
                        <a:t>__get($name) : mixed</a:t>
                      </a:r>
                      <a:endParaRPr/>
                    </a:p>
                  </a:txBody>
                  <a:tcPr marL="91425" marR="91425" marT="91425" marB="91425"/>
                </a:tc>
                <a:tc>
                  <a:txBody>
                    <a:bodyPr/>
                    <a:lstStyle/>
                    <a:p>
                      <a:pPr marL="0" lvl="0" indent="0" algn="l" rtl="0">
                        <a:spcBef>
                          <a:spcPts val="0"/>
                        </a:spcBef>
                        <a:spcAft>
                          <a:spcPts val="0"/>
                        </a:spcAft>
                        <a:buNone/>
                      </a:pPr>
                      <a:r>
                        <a:rPr lang="id"/>
                        <a:t>Dieksekusi ketika mengakses properties yang tidak tersedia</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id"/>
                        <a:t>__isset ($name ) : bool</a:t>
                      </a:r>
                      <a:endParaRPr/>
                    </a:p>
                  </a:txBody>
                  <a:tcPr marL="91425" marR="91425" marT="91425" marB="91425"/>
                </a:tc>
                <a:tc>
                  <a:txBody>
                    <a:bodyPr/>
                    <a:lstStyle/>
                    <a:p>
                      <a:pPr marL="0" lvl="0" indent="0" algn="l" rtl="0">
                        <a:spcBef>
                          <a:spcPts val="0"/>
                        </a:spcBef>
                        <a:spcAft>
                          <a:spcPts val="0"/>
                        </a:spcAft>
                        <a:buNone/>
                      </a:pPr>
                      <a:r>
                        <a:rPr lang="id"/>
                        <a:t>Dieksekusi ketika mengecek isset() atau empty() properties yang tidak tersedia</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id"/>
                        <a:t>__unset($name) : void</a:t>
                      </a:r>
                      <a:endParaRPr/>
                    </a:p>
                  </a:txBody>
                  <a:tcPr marL="91425" marR="91425" marT="91425" marB="91425"/>
                </a:tc>
                <a:tc>
                  <a:txBody>
                    <a:bodyPr/>
                    <a:lstStyle/>
                    <a:p>
                      <a:pPr marL="0" lvl="0" indent="0" algn="l" rtl="0">
                        <a:spcBef>
                          <a:spcPts val="0"/>
                        </a:spcBef>
                        <a:spcAft>
                          <a:spcPts val="0"/>
                        </a:spcAft>
                        <a:buNone/>
                      </a:pPr>
                      <a:r>
                        <a:rPr lang="id"/>
                        <a:t>Dieksekusi ketika menggunakan unset() properties yang tidak tersedia</a:t>
                      </a:r>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Shape 1178"/>
        <p:cNvGrpSpPr/>
        <p:nvPr/>
      </p:nvGrpSpPr>
      <p:grpSpPr>
        <a:xfrm>
          <a:off x="0" y="0"/>
          <a:ext cx="0" cy="0"/>
          <a:chOff x="0" y="0"/>
          <a:chExt cx="0" cy="0"/>
        </a:xfrm>
      </p:grpSpPr>
      <p:sp>
        <p:nvSpPr>
          <p:cNvPr id="1179" name="Google Shape;1179;p20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Properties Overloading</a:t>
            </a:r>
            <a:endParaRPr/>
          </a:p>
        </p:txBody>
      </p:sp>
      <p:pic>
        <p:nvPicPr>
          <p:cNvPr id="1180" name="Google Shape;1180;p201"/>
          <p:cNvPicPr preferRelativeResize="0"/>
          <p:nvPr/>
        </p:nvPicPr>
        <p:blipFill>
          <a:blip r:embed="rId3">
            <a:alphaModFix/>
          </a:blip>
          <a:stretch>
            <a:fillRect/>
          </a:stretch>
        </p:blipFill>
        <p:spPr>
          <a:xfrm>
            <a:off x="152400" y="2006250"/>
            <a:ext cx="4314291" cy="2984850"/>
          </a:xfrm>
          <a:prstGeom prst="rect">
            <a:avLst/>
          </a:prstGeom>
          <a:noFill/>
          <a:ln>
            <a:noFill/>
          </a:ln>
        </p:spPr>
      </p:pic>
      <p:pic>
        <p:nvPicPr>
          <p:cNvPr id="1181" name="Google Shape;1181;p201"/>
          <p:cNvPicPr preferRelativeResize="0"/>
          <p:nvPr/>
        </p:nvPicPr>
        <p:blipFill>
          <a:blip r:embed="rId4">
            <a:alphaModFix/>
          </a:blip>
          <a:stretch>
            <a:fillRect/>
          </a:stretch>
        </p:blipFill>
        <p:spPr>
          <a:xfrm>
            <a:off x="4619091" y="2006250"/>
            <a:ext cx="4372509" cy="2536183"/>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Shape 1185"/>
        <p:cNvGrpSpPr/>
        <p:nvPr/>
      </p:nvGrpSpPr>
      <p:grpSpPr>
        <a:xfrm>
          <a:off x="0" y="0"/>
          <a:ext cx="0" cy="0"/>
          <a:chOff x="0" y="0"/>
          <a:chExt cx="0" cy="0"/>
        </a:xfrm>
      </p:grpSpPr>
      <p:sp>
        <p:nvSpPr>
          <p:cNvPr id="1186" name="Google Shape;1186;p20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Function Overloading</a:t>
            </a:r>
            <a:endParaRPr/>
          </a:p>
        </p:txBody>
      </p:sp>
      <p:sp>
        <p:nvSpPr>
          <p:cNvPr id="1187" name="Google Shape;1187;p20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kita mengakses function, maka secara otomatis function akan diakses</a:t>
            </a:r>
            <a:endParaRPr/>
          </a:p>
          <a:p>
            <a:pPr marL="457200" lvl="0" indent="-311150" algn="l" rtl="0">
              <a:spcBef>
                <a:spcPts val="0"/>
              </a:spcBef>
              <a:spcAft>
                <a:spcPts val="0"/>
              </a:spcAft>
              <a:buSzPts val="1300"/>
              <a:buChar char="●"/>
            </a:pPr>
            <a:r>
              <a:rPr lang="id"/>
              <a:t>Namun jika ternyata function tersebut tidak tersedia di objectnya, maka PHP tidak secara otomatis menjadikan itu error</a:t>
            </a:r>
            <a:endParaRPr/>
          </a:p>
          <a:p>
            <a:pPr marL="457200" lvl="0" indent="-311150" algn="l" rtl="0">
              <a:spcBef>
                <a:spcPts val="0"/>
              </a:spcBef>
              <a:spcAft>
                <a:spcPts val="0"/>
              </a:spcAft>
              <a:buSzPts val="1300"/>
              <a:buChar char="●"/>
            </a:pPr>
            <a:r>
              <a:rPr lang="id"/>
              <a:t>PHP akan melakukan fallback ke magic function</a:t>
            </a:r>
            <a:endParaRPr/>
          </a:p>
          <a:p>
            <a:pPr marL="457200" lvl="0" indent="-311150" algn="l" rtl="0">
              <a:spcBef>
                <a:spcPts val="0"/>
              </a:spcBef>
              <a:spcAft>
                <a:spcPts val="0"/>
              </a:spcAft>
              <a:buSzPts val="1300"/>
              <a:buChar char="●"/>
            </a:pPr>
            <a:r>
              <a:rPr lang="id"/>
              <a:t>Dengan demikian kita bisa membuat function secara dinamis dengan memanfaatkan magic function tersebut</a:t>
            </a:r>
            <a:endParaRPr/>
          </a:p>
          <a:p>
            <a:pPr marL="457200" lvl="0" indent="-311150" algn="l" rtl="0">
              <a:spcBef>
                <a:spcPts val="0"/>
              </a:spcBef>
              <a:spcAft>
                <a:spcPts val="0"/>
              </a:spcAft>
              <a:buSzPts val="1300"/>
              <a:buChar char="●"/>
            </a:pPr>
            <a:r>
              <a:rPr lang="id"/>
              <a:t>Ada beberapa magic function yang bisa kita gunakan untuk function overloading</a:t>
            </a:r>
            <a:endParaRPr/>
          </a:p>
          <a:p>
            <a:pPr marL="0" lvl="0" indent="0" algn="l" rtl="0">
              <a:spcBef>
                <a:spcPts val="1600"/>
              </a:spcBef>
              <a:spcAft>
                <a:spcPts val="1600"/>
              </a:spcAft>
              <a:buNone/>
            </a:pPr>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Shape 1191"/>
        <p:cNvGrpSpPr/>
        <p:nvPr/>
      </p:nvGrpSpPr>
      <p:grpSpPr>
        <a:xfrm>
          <a:off x="0" y="0"/>
          <a:ext cx="0" cy="0"/>
          <a:chOff x="0" y="0"/>
          <a:chExt cx="0" cy="0"/>
        </a:xfrm>
      </p:grpSpPr>
      <p:sp>
        <p:nvSpPr>
          <p:cNvPr id="1192" name="Google Shape;1192;p20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Magic Function untuk Function Overloading</a:t>
            </a:r>
            <a:endParaRPr/>
          </a:p>
        </p:txBody>
      </p:sp>
      <p:graphicFrame>
        <p:nvGraphicFramePr>
          <p:cNvPr id="1193" name="Google Shape;1193;p203"/>
          <p:cNvGraphicFramePr/>
          <p:nvPr/>
        </p:nvGraphicFramePr>
        <p:xfrm>
          <a:off x="952500" y="2190750"/>
          <a:ext cx="7239000" cy="1615350"/>
        </p:xfrm>
        <a:graphic>
          <a:graphicData uri="http://schemas.openxmlformats.org/drawingml/2006/table">
            <a:tbl>
              <a:tblPr>
                <a:noFill/>
                <a:tableStyleId>{B9673AF5-CA51-48C4-976C-ADCB9C662DA2}</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id"/>
                        <a:t>Magic Function</a:t>
                      </a:r>
                      <a:endParaRPr/>
                    </a:p>
                  </a:txBody>
                  <a:tcPr marL="91425" marR="91425" marT="91425" marB="91425">
                    <a:solidFill>
                      <a:srgbClr val="B7B7B7"/>
                    </a:solidFill>
                  </a:tcPr>
                </a:tc>
                <a:tc>
                  <a:txBody>
                    <a:bodyPr/>
                    <a:lstStyle/>
                    <a:p>
                      <a:pPr marL="0" lvl="0" indent="0" algn="l" rtl="0">
                        <a:spcBef>
                          <a:spcPts val="0"/>
                        </a:spcBef>
                        <a:spcAft>
                          <a:spcPts val="0"/>
                        </a:spcAft>
                        <a:buNone/>
                      </a:pPr>
                      <a:r>
                        <a:rPr lang="id"/>
                        <a:t>Keterangan</a:t>
                      </a:r>
                      <a:endParaRPr/>
                    </a:p>
                  </a:txBody>
                  <a:tcPr marL="91425" marR="91425" marT="91425" marB="91425">
                    <a:solidFill>
                      <a:srgbClr val="B7B7B7"/>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id"/>
                        <a:t>__call ( $name , $arguments ) : mixed</a:t>
                      </a:r>
                      <a:endParaRPr/>
                    </a:p>
                  </a:txBody>
                  <a:tcPr marL="91425" marR="91425" marT="91425" marB="91425"/>
                </a:tc>
                <a:tc>
                  <a:txBody>
                    <a:bodyPr/>
                    <a:lstStyle/>
                    <a:p>
                      <a:pPr marL="0" lvl="0" indent="0" algn="l" rtl="0">
                        <a:spcBef>
                          <a:spcPts val="0"/>
                        </a:spcBef>
                        <a:spcAft>
                          <a:spcPts val="0"/>
                        </a:spcAft>
                        <a:buNone/>
                      </a:pPr>
                      <a:r>
                        <a:rPr lang="id"/>
                        <a:t>Dieksekusi ketika memanggil function yang tidak tersedia</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id"/>
                        <a:t>static __callStatic ( $name , $arguments ) : mixed</a:t>
                      </a:r>
                      <a:endParaRPr/>
                    </a:p>
                  </a:txBody>
                  <a:tcPr marL="91425" marR="91425" marT="91425" marB="91425"/>
                </a:tc>
                <a:tc>
                  <a:txBody>
                    <a:bodyPr/>
                    <a:lstStyle/>
                    <a:p>
                      <a:pPr marL="0" lvl="0" indent="0" algn="l" rtl="0">
                        <a:spcBef>
                          <a:spcPts val="0"/>
                        </a:spcBef>
                        <a:spcAft>
                          <a:spcPts val="0"/>
                        </a:spcAft>
                        <a:buNone/>
                      </a:pPr>
                      <a:r>
                        <a:rPr lang="id"/>
                        <a:t>Dieksekusi ketika memanggil static function yang tidak tersedia</a:t>
                      </a:r>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Shape 1197"/>
        <p:cNvGrpSpPr/>
        <p:nvPr/>
      </p:nvGrpSpPr>
      <p:grpSpPr>
        <a:xfrm>
          <a:off x="0" y="0"/>
          <a:ext cx="0" cy="0"/>
          <a:chOff x="0" y="0"/>
          <a:chExt cx="0" cy="0"/>
        </a:xfrm>
      </p:grpSpPr>
      <p:sp>
        <p:nvSpPr>
          <p:cNvPr id="1198" name="Google Shape;1198;p20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Function Overloading</a:t>
            </a:r>
            <a:endParaRPr/>
          </a:p>
        </p:txBody>
      </p:sp>
      <p:pic>
        <p:nvPicPr>
          <p:cNvPr id="1199" name="Google Shape;1199;p204"/>
          <p:cNvPicPr preferRelativeResize="0"/>
          <p:nvPr/>
        </p:nvPicPr>
        <p:blipFill>
          <a:blip r:embed="rId3">
            <a:alphaModFix/>
          </a:blip>
          <a:stretch>
            <a:fillRect/>
          </a:stretch>
        </p:blipFill>
        <p:spPr>
          <a:xfrm>
            <a:off x="152400" y="2006250"/>
            <a:ext cx="6586822" cy="2984850"/>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Shape 1203"/>
        <p:cNvGrpSpPr/>
        <p:nvPr/>
      </p:nvGrpSpPr>
      <p:grpSpPr>
        <a:xfrm>
          <a:off x="0" y="0"/>
          <a:ext cx="0" cy="0"/>
          <a:chOff x="0" y="0"/>
          <a:chExt cx="0" cy="0"/>
        </a:xfrm>
      </p:grpSpPr>
      <p:sp>
        <p:nvSpPr>
          <p:cNvPr id="1204" name="Google Shape;1204;p205"/>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Covariance dan Contravariance</a:t>
            </a:r>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Shape 1208"/>
        <p:cNvGrpSpPr/>
        <p:nvPr/>
      </p:nvGrpSpPr>
      <p:grpSpPr>
        <a:xfrm>
          <a:off x="0" y="0"/>
          <a:ext cx="0" cy="0"/>
          <a:chOff x="0" y="0"/>
          <a:chExt cx="0" cy="0"/>
        </a:xfrm>
      </p:grpSpPr>
      <p:sp>
        <p:nvSpPr>
          <p:cNvPr id="1209" name="Google Shape;1209;p20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Covariance</a:t>
            </a:r>
            <a:endParaRPr/>
          </a:p>
        </p:txBody>
      </p:sp>
      <p:sp>
        <p:nvSpPr>
          <p:cNvPr id="1210" name="Google Shape;1210;p20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kita meng override function dari parent class, biasanya di child class kita akan membuat function yang sama dengan function yang di parent</a:t>
            </a:r>
            <a:endParaRPr/>
          </a:p>
          <a:p>
            <a:pPr marL="457200" lvl="0" indent="-311150" algn="l" rtl="0">
              <a:spcBef>
                <a:spcPts val="0"/>
              </a:spcBef>
              <a:spcAft>
                <a:spcPts val="0"/>
              </a:spcAft>
              <a:buSzPts val="1300"/>
              <a:buChar char="●"/>
            </a:pPr>
            <a:r>
              <a:rPr lang="id"/>
              <a:t>Covariance memungkinkan kita meng override return function yang di parent dengan return value yang lebih spesifik</a:t>
            </a:r>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Shape 1214"/>
        <p:cNvGrpSpPr/>
        <p:nvPr/>
      </p:nvGrpSpPr>
      <p:grpSpPr>
        <a:xfrm>
          <a:off x="0" y="0"/>
          <a:ext cx="0" cy="0"/>
          <a:chOff x="0" y="0"/>
          <a:chExt cx="0" cy="0"/>
        </a:xfrm>
      </p:grpSpPr>
      <p:sp>
        <p:nvSpPr>
          <p:cNvPr id="1215" name="Google Shape;1215;p20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Inheritance</a:t>
            </a:r>
            <a:endParaRPr/>
          </a:p>
        </p:txBody>
      </p:sp>
      <p:pic>
        <p:nvPicPr>
          <p:cNvPr id="1216" name="Google Shape;1216;p207"/>
          <p:cNvPicPr preferRelativeResize="0"/>
          <p:nvPr/>
        </p:nvPicPr>
        <p:blipFill>
          <a:blip r:embed="rId3">
            <a:alphaModFix/>
          </a:blip>
          <a:stretch>
            <a:fillRect/>
          </a:stretch>
        </p:blipFill>
        <p:spPr>
          <a:xfrm>
            <a:off x="152400" y="2006250"/>
            <a:ext cx="8772525" cy="2686050"/>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Shape 1220"/>
        <p:cNvGrpSpPr/>
        <p:nvPr/>
      </p:nvGrpSpPr>
      <p:grpSpPr>
        <a:xfrm>
          <a:off x="0" y="0"/>
          <a:ext cx="0" cy="0"/>
          <a:chOff x="0" y="0"/>
          <a:chExt cx="0" cy="0"/>
        </a:xfrm>
      </p:grpSpPr>
      <p:sp>
        <p:nvSpPr>
          <p:cNvPr id="1221" name="Google Shape;1221;p20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Covariance</a:t>
            </a:r>
            <a:endParaRPr/>
          </a:p>
        </p:txBody>
      </p:sp>
      <p:pic>
        <p:nvPicPr>
          <p:cNvPr id="1222" name="Google Shape;1222;p208"/>
          <p:cNvPicPr preferRelativeResize="0"/>
          <p:nvPr/>
        </p:nvPicPr>
        <p:blipFill>
          <a:blip r:embed="rId3">
            <a:alphaModFix/>
          </a:blip>
          <a:stretch>
            <a:fillRect/>
          </a:stretch>
        </p:blipFill>
        <p:spPr>
          <a:xfrm>
            <a:off x="152400" y="2006250"/>
            <a:ext cx="3608460" cy="2984850"/>
          </a:xfrm>
          <a:prstGeom prst="rect">
            <a:avLst/>
          </a:prstGeom>
          <a:noFill/>
          <a:ln>
            <a:noFill/>
          </a:ln>
        </p:spPr>
      </p:pic>
      <p:pic>
        <p:nvPicPr>
          <p:cNvPr id="1223" name="Google Shape;1223;p208"/>
          <p:cNvPicPr preferRelativeResize="0"/>
          <p:nvPr/>
        </p:nvPicPr>
        <p:blipFill>
          <a:blip r:embed="rId4">
            <a:alphaModFix/>
          </a:blip>
          <a:stretch>
            <a:fillRect/>
          </a:stretch>
        </p:blipFill>
        <p:spPr>
          <a:xfrm>
            <a:off x="3913260" y="2006250"/>
            <a:ext cx="5078340" cy="2824982"/>
          </a:xfrm>
          <a:prstGeom prst="rect">
            <a:avLst/>
          </a:prstGeom>
          <a:noFill/>
          <a:ln>
            <a:noFill/>
          </a:ln>
        </p:spPr>
      </p:pic>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Shape 1227"/>
        <p:cNvGrpSpPr/>
        <p:nvPr/>
      </p:nvGrpSpPr>
      <p:grpSpPr>
        <a:xfrm>
          <a:off x="0" y="0"/>
          <a:ext cx="0" cy="0"/>
          <a:chOff x="0" y="0"/>
          <a:chExt cx="0" cy="0"/>
        </a:xfrm>
      </p:grpSpPr>
      <p:sp>
        <p:nvSpPr>
          <p:cNvPr id="1228" name="Google Shape;1228;p20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Contravariance</a:t>
            </a:r>
            <a:endParaRPr/>
          </a:p>
        </p:txBody>
      </p:sp>
      <p:sp>
        <p:nvSpPr>
          <p:cNvPr id="1229" name="Google Shape;1229;p20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Sedangkan contravariance adalah memperbolehkan sebuah child class untuk membuat function argument yang lebih tidak spesifik dibandingkan parent nya</a:t>
            </a:r>
            <a:endParaRP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Shape 1233"/>
        <p:cNvGrpSpPr/>
        <p:nvPr/>
      </p:nvGrpSpPr>
      <p:grpSpPr>
        <a:xfrm>
          <a:off x="0" y="0"/>
          <a:ext cx="0" cy="0"/>
          <a:chOff x="0" y="0"/>
          <a:chExt cx="0" cy="0"/>
        </a:xfrm>
      </p:grpSpPr>
      <p:sp>
        <p:nvSpPr>
          <p:cNvPr id="1234" name="Google Shape;1234;p21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Inheritance</a:t>
            </a:r>
            <a:endParaRPr/>
          </a:p>
        </p:txBody>
      </p:sp>
      <p:pic>
        <p:nvPicPr>
          <p:cNvPr id="1235" name="Google Shape;1235;p210"/>
          <p:cNvPicPr preferRelativeResize="0"/>
          <p:nvPr/>
        </p:nvPicPr>
        <p:blipFill>
          <a:blip r:embed="rId3">
            <a:alphaModFix/>
          </a:blip>
          <a:stretch>
            <a:fillRect/>
          </a:stretch>
        </p:blipFill>
        <p:spPr>
          <a:xfrm>
            <a:off x="152400" y="2006250"/>
            <a:ext cx="4777552" cy="2984850"/>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Shape 1239"/>
        <p:cNvGrpSpPr/>
        <p:nvPr/>
      </p:nvGrpSpPr>
      <p:grpSpPr>
        <a:xfrm>
          <a:off x="0" y="0"/>
          <a:ext cx="0" cy="0"/>
          <a:chOff x="0" y="0"/>
          <a:chExt cx="0" cy="0"/>
        </a:xfrm>
      </p:grpSpPr>
      <p:sp>
        <p:nvSpPr>
          <p:cNvPr id="1240" name="Google Shape;1240;p21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Contravariance (1)</a:t>
            </a:r>
            <a:endParaRPr/>
          </a:p>
        </p:txBody>
      </p:sp>
      <p:pic>
        <p:nvPicPr>
          <p:cNvPr id="1241" name="Google Shape;1241;p211"/>
          <p:cNvPicPr preferRelativeResize="0"/>
          <p:nvPr/>
        </p:nvPicPr>
        <p:blipFill>
          <a:blip r:embed="rId3">
            <a:alphaModFix/>
          </a:blip>
          <a:stretch>
            <a:fillRect/>
          </a:stretch>
        </p:blipFill>
        <p:spPr>
          <a:xfrm>
            <a:off x="152400" y="2006250"/>
            <a:ext cx="6677025" cy="2819400"/>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Shape 1245"/>
        <p:cNvGrpSpPr/>
        <p:nvPr/>
      </p:nvGrpSpPr>
      <p:grpSpPr>
        <a:xfrm>
          <a:off x="0" y="0"/>
          <a:ext cx="0" cy="0"/>
          <a:chOff x="0" y="0"/>
          <a:chExt cx="0" cy="0"/>
        </a:xfrm>
      </p:grpSpPr>
      <p:sp>
        <p:nvSpPr>
          <p:cNvPr id="1246" name="Google Shape;1246;p21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Contravariance (2)</a:t>
            </a:r>
            <a:endParaRPr/>
          </a:p>
        </p:txBody>
      </p:sp>
      <p:pic>
        <p:nvPicPr>
          <p:cNvPr id="1247" name="Google Shape;1247;p212"/>
          <p:cNvPicPr preferRelativeResize="0"/>
          <p:nvPr/>
        </p:nvPicPr>
        <p:blipFill>
          <a:blip r:embed="rId3">
            <a:alphaModFix/>
          </a:blip>
          <a:stretch>
            <a:fillRect/>
          </a:stretch>
        </p:blipFill>
        <p:spPr>
          <a:xfrm>
            <a:off x="152400" y="2006250"/>
            <a:ext cx="4946723" cy="2984850"/>
          </a:xfrm>
          <a:prstGeom prst="rect">
            <a:avLst/>
          </a:prstGeom>
          <a:noFill/>
          <a:ln>
            <a:noFill/>
          </a:ln>
        </p:spPr>
      </p:pic>
      <p:pic>
        <p:nvPicPr>
          <p:cNvPr id="1248" name="Google Shape;1248;p212"/>
          <p:cNvPicPr preferRelativeResize="0"/>
          <p:nvPr/>
        </p:nvPicPr>
        <p:blipFill>
          <a:blip r:embed="rId4">
            <a:alphaModFix/>
          </a:blip>
          <a:stretch>
            <a:fillRect/>
          </a:stretch>
        </p:blipFill>
        <p:spPr>
          <a:xfrm>
            <a:off x="5251523" y="2006250"/>
            <a:ext cx="3740077" cy="2214043"/>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Shape 1252"/>
        <p:cNvGrpSpPr/>
        <p:nvPr/>
      </p:nvGrpSpPr>
      <p:grpSpPr>
        <a:xfrm>
          <a:off x="0" y="0"/>
          <a:ext cx="0" cy="0"/>
          <a:chOff x="0" y="0"/>
          <a:chExt cx="0" cy="0"/>
        </a:xfrm>
      </p:grpSpPr>
      <p:sp>
        <p:nvSpPr>
          <p:cNvPr id="1253" name="Google Shape;1253;p21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DateTime</a:t>
            </a:r>
            <a:endParaRP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Shape 1257"/>
        <p:cNvGrpSpPr/>
        <p:nvPr/>
      </p:nvGrpSpPr>
      <p:grpSpPr>
        <a:xfrm>
          <a:off x="0" y="0"/>
          <a:ext cx="0" cy="0"/>
          <a:chOff x="0" y="0"/>
          <a:chExt cx="0" cy="0"/>
        </a:xfrm>
      </p:grpSpPr>
      <p:sp>
        <p:nvSpPr>
          <p:cNvPr id="1258" name="Google Shape;1258;p2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DateTime</a:t>
            </a:r>
            <a:endParaRPr/>
          </a:p>
        </p:txBody>
      </p:sp>
      <p:sp>
        <p:nvSpPr>
          <p:cNvPr id="1259" name="Google Shape;1259;p2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Biasanya dalam bahasa pemrograman sudah disediakan cara untuk memanipulasi data waktu, termasuk di PHP</a:t>
            </a:r>
            <a:endParaRPr/>
          </a:p>
          <a:p>
            <a:pPr marL="457200" lvl="0" indent="-311150" algn="l" rtl="0">
              <a:spcBef>
                <a:spcPts val="0"/>
              </a:spcBef>
              <a:spcAft>
                <a:spcPts val="0"/>
              </a:spcAft>
              <a:buSzPts val="1300"/>
              <a:buChar char="●"/>
            </a:pPr>
            <a:r>
              <a:rPr lang="id"/>
              <a:t>Di PHP, kita bisa menggunakan class DateTime untuk memanipulasi data waktu</a:t>
            </a:r>
            <a:endParaRPr/>
          </a:p>
          <a:p>
            <a:pPr marL="457200" lvl="0" indent="-311150" algn="l" rtl="0">
              <a:spcBef>
                <a:spcPts val="0"/>
              </a:spcBef>
              <a:spcAft>
                <a:spcPts val="0"/>
              </a:spcAft>
              <a:buSzPts val="1300"/>
              <a:buChar char="●"/>
            </a:pPr>
            <a:r>
              <a:rPr lang="id"/>
              <a:t>Ada banyak sekali function di class DateTime yang bisa kita gunakan untuk memanipulasi data waktu</a:t>
            </a:r>
            <a:endParaRP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Shape 1263"/>
        <p:cNvGrpSpPr/>
        <p:nvPr/>
      </p:nvGrpSpPr>
      <p:grpSpPr>
        <a:xfrm>
          <a:off x="0" y="0"/>
          <a:ext cx="0" cy="0"/>
          <a:chOff x="0" y="0"/>
          <a:chExt cx="0" cy="0"/>
        </a:xfrm>
      </p:grpSpPr>
      <p:sp>
        <p:nvSpPr>
          <p:cNvPr id="1264" name="Google Shape;1264;p2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DateTime Function</a:t>
            </a:r>
            <a:endParaRPr/>
          </a:p>
        </p:txBody>
      </p:sp>
      <p:graphicFrame>
        <p:nvGraphicFramePr>
          <p:cNvPr id="1265" name="Google Shape;1265;p215"/>
          <p:cNvGraphicFramePr/>
          <p:nvPr/>
        </p:nvGraphicFramePr>
        <p:xfrm>
          <a:off x="952500" y="2190750"/>
          <a:ext cx="7239000" cy="1584840"/>
        </p:xfrm>
        <a:graphic>
          <a:graphicData uri="http://schemas.openxmlformats.org/drawingml/2006/table">
            <a:tbl>
              <a:tblPr>
                <a:noFill/>
                <a:tableStyleId>{B9673AF5-CA51-48C4-976C-ADCB9C662DA2}</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id"/>
                        <a:t>DateTime Function</a:t>
                      </a:r>
                      <a:endParaRPr/>
                    </a:p>
                  </a:txBody>
                  <a:tcPr marL="91425" marR="91425" marT="91425" marB="91425">
                    <a:solidFill>
                      <a:srgbClr val="CCCCCC"/>
                    </a:solidFill>
                  </a:tcPr>
                </a:tc>
                <a:tc>
                  <a:txBody>
                    <a:bodyPr/>
                    <a:lstStyle/>
                    <a:p>
                      <a:pPr marL="0" lvl="0" indent="0" algn="l" rtl="0">
                        <a:spcBef>
                          <a:spcPts val="0"/>
                        </a:spcBef>
                        <a:spcAft>
                          <a:spcPts val="0"/>
                        </a:spcAft>
                        <a:buNone/>
                      </a:pPr>
                      <a:r>
                        <a:rPr lang="id"/>
                        <a:t>Keterangan</a:t>
                      </a:r>
                      <a:endParaRPr/>
                    </a:p>
                  </a:txBody>
                  <a:tcPr marL="91425" marR="91425" marT="91425" marB="91425">
                    <a:solidFill>
                      <a:srgbClr val="CCCCCC"/>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id"/>
                        <a:t>setTime($hour, $minute, $second)</a:t>
                      </a:r>
                      <a:endParaRPr/>
                    </a:p>
                  </a:txBody>
                  <a:tcPr marL="91425" marR="91425" marT="91425" marB="91425"/>
                </a:tc>
                <a:tc>
                  <a:txBody>
                    <a:bodyPr/>
                    <a:lstStyle/>
                    <a:p>
                      <a:pPr marL="0" lvl="0" indent="0" algn="l" rtl="0">
                        <a:spcBef>
                          <a:spcPts val="0"/>
                        </a:spcBef>
                        <a:spcAft>
                          <a:spcPts val="0"/>
                        </a:spcAft>
                        <a:buNone/>
                      </a:pPr>
                      <a:r>
                        <a:rPr lang="id"/>
                        <a:t>Mengubah waktu DateTime</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id"/>
                        <a:t>setDate($year, $month, $day)</a:t>
                      </a:r>
                      <a:endParaRPr/>
                    </a:p>
                  </a:txBody>
                  <a:tcPr marL="91425" marR="91425" marT="91425" marB="91425"/>
                </a:tc>
                <a:tc>
                  <a:txBody>
                    <a:bodyPr/>
                    <a:lstStyle/>
                    <a:p>
                      <a:pPr marL="0" lvl="0" indent="0" algn="l" rtl="0">
                        <a:spcBef>
                          <a:spcPts val="0"/>
                        </a:spcBef>
                        <a:spcAft>
                          <a:spcPts val="0"/>
                        </a:spcAft>
                        <a:buNone/>
                      </a:pPr>
                      <a:r>
                        <a:rPr lang="id"/>
                        <a:t>Mengubah tanggal DateTime</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id"/>
                        <a:t>setTimestamp($unixTimestamp)</a:t>
                      </a:r>
                      <a:endParaRPr/>
                    </a:p>
                  </a:txBody>
                  <a:tcPr marL="91425" marR="91425" marT="91425" marB="91425"/>
                </a:tc>
                <a:tc>
                  <a:txBody>
                    <a:bodyPr/>
                    <a:lstStyle/>
                    <a:p>
                      <a:pPr marL="0" lvl="0" indent="0" algn="l" rtl="0">
                        <a:spcBef>
                          <a:spcPts val="0"/>
                        </a:spcBef>
                        <a:spcAft>
                          <a:spcPts val="0"/>
                        </a:spcAft>
                        <a:buNone/>
                      </a:pPr>
                      <a:r>
                        <a:rPr lang="id"/>
                        <a:t>Mengubah unix timestamp DateTime</a:t>
                      </a:r>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Shape 1269"/>
        <p:cNvGrpSpPr/>
        <p:nvPr/>
      </p:nvGrpSpPr>
      <p:grpSpPr>
        <a:xfrm>
          <a:off x="0" y="0"/>
          <a:ext cx="0" cy="0"/>
          <a:chOff x="0" y="0"/>
          <a:chExt cx="0" cy="0"/>
        </a:xfrm>
      </p:grpSpPr>
      <p:sp>
        <p:nvSpPr>
          <p:cNvPr id="1270" name="Google Shape;1270;p2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DateTime</a:t>
            </a:r>
            <a:endParaRPr/>
          </a:p>
        </p:txBody>
      </p:sp>
      <p:pic>
        <p:nvPicPr>
          <p:cNvPr id="1271" name="Google Shape;1271;p216"/>
          <p:cNvPicPr preferRelativeResize="0"/>
          <p:nvPr/>
        </p:nvPicPr>
        <p:blipFill>
          <a:blip r:embed="rId3">
            <a:alphaModFix/>
          </a:blip>
          <a:stretch>
            <a:fillRect/>
          </a:stretch>
        </p:blipFill>
        <p:spPr>
          <a:xfrm>
            <a:off x="152400" y="2006250"/>
            <a:ext cx="8639175" cy="1924050"/>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Shape 1275"/>
        <p:cNvGrpSpPr/>
        <p:nvPr/>
      </p:nvGrpSpPr>
      <p:grpSpPr>
        <a:xfrm>
          <a:off x="0" y="0"/>
          <a:ext cx="0" cy="0"/>
          <a:chOff x="0" y="0"/>
          <a:chExt cx="0" cy="0"/>
        </a:xfrm>
      </p:grpSpPr>
      <p:sp>
        <p:nvSpPr>
          <p:cNvPr id="1276" name="Google Shape;1276;p2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DateInterval</a:t>
            </a:r>
            <a:endParaRPr/>
          </a:p>
        </p:txBody>
      </p:sp>
      <p:sp>
        <p:nvSpPr>
          <p:cNvPr id="1277" name="Google Shape;1277;p21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Kadang kita hanya ingin memanipulasi waktu dan tanggal sebagian saja, misal hanya menambah 1 tahun, atau mengurai beberapa hari</a:t>
            </a:r>
            <a:endParaRPr/>
          </a:p>
          <a:p>
            <a:pPr marL="457200" lvl="0" indent="-311150" algn="l" rtl="0">
              <a:spcBef>
                <a:spcPts val="0"/>
              </a:spcBef>
              <a:spcAft>
                <a:spcPts val="0"/>
              </a:spcAft>
              <a:buSzPts val="1300"/>
              <a:buChar char="●"/>
            </a:pPr>
            <a:r>
              <a:rPr lang="id"/>
              <a:t>Hal ini bisa dilakukan dengan function add milik DateTime</a:t>
            </a:r>
            <a:endParaRPr/>
          </a:p>
          <a:p>
            <a:pPr marL="457200" lvl="0" indent="-311150" algn="l" rtl="0">
              <a:spcBef>
                <a:spcPts val="0"/>
              </a:spcBef>
              <a:spcAft>
                <a:spcPts val="0"/>
              </a:spcAft>
              <a:buSzPts val="1300"/>
              <a:buChar char="●"/>
            </a:pPr>
            <a:r>
              <a:rPr lang="id"/>
              <a:t>Namun function add tersebut menerima parameter berupa DateInterval</a:t>
            </a:r>
            <a:endParaRPr/>
          </a:p>
          <a:p>
            <a:pPr marL="457200" lvl="0" indent="-311150" algn="l" rtl="0">
              <a:spcBef>
                <a:spcPts val="0"/>
              </a:spcBef>
              <a:spcAft>
                <a:spcPts val="0"/>
              </a:spcAft>
              <a:buSzPts val="1300"/>
              <a:buChar char="●"/>
            </a:pPr>
            <a:r>
              <a:rPr lang="id"/>
              <a:t>Saat menggunakan DateInterval duration, kita perlu menentukan berapa banyak kita menambah interval </a:t>
            </a:r>
            <a:endParaRPr/>
          </a:p>
          <a:p>
            <a:pPr marL="457200" lvl="0" indent="-311150" algn="l" rtl="0">
              <a:spcBef>
                <a:spcPts val="0"/>
              </a:spcBef>
              <a:spcAft>
                <a:spcPts val="0"/>
              </a:spcAft>
              <a:buSzPts val="1300"/>
              <a:buChar char="●"/>
            </a:pPr>
            <a:r>
              <a:rPr lang="id"/>
              <a:t>Kita bisa lihat detailnya disini : </a:t>
            </a:r>
            <a:r>
              <a:rPr lang="id" u="sng">
                <a:solidFill>
                  <a:schemeClr val="hlink"/>
                </a:solidFill>
                <a:hlinkClick r:id="rId3"/>
              </a:rPr>
              <a:t>https://www.php.net/manual/en/dateinterval.construct.php</a:t>
            </a:r>
            <a:r>
              <a:rPr lang="id"/>
              <a:t> </a:t>
            </a:r>
            <a:endParaRPr/>
          </a:p>
          <a:p>
            <a:pPr marL="457200" lvl="0" indent="-311150" algn="l" rtl="0">
              <a:spcBef>
                <a:spcPts val="0"/>
              </a:spcBef>
              <a:spcAft>
                <a:spcPts val="0"/>
              </a:spcAft>
              <a:buSzPts val="1300"/>
              <a:buChar char="●"/>
            </a:pPr>
            <a:r>
              <a:rPr lang="id"/>
              <a:t>Untuk pembuatan duration, harus diawali dengan karakter P yang artinya period</a:t>
            </a:r>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Shape 1281"/>
        <p:cNvGrpSpPr/>
        <p:nvPr/>
      </p:nvGrpSpPr>
      <p:grpSpPr>
        <a:xfrm>
          <a:off x="0" y="0"/>
          <a:ext cx="0" cy="0"/>
          <a:chOff x="0" y="0"/>
          <a:chExt cx="0" cy="0"/>
        </a:xfrm>
      </p:grpSpPr>
      <p:sp>
        <p:nvSpPr>
          <p:cNvPr id="1282" name="Google Shape;1282;p21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DateInterval</a:t>
            </a:r>
            <a:endParaRPr/>
          </a:p>
        </p:txBody>
      </p:sp>
      <p:pic>
        <p:nvPicPr>
          <p:cNvPr id="1283" name="Google Shape;1283;p218"/>
          <p:cNvPicPr preferRelativeResize="0"/>
          <p:nvPr/>
        </p:nvPicPr>
        <p:blipFill>
          <a:blip r:embed="rId3">
            <a:alphaModFix/>
          </a:blip>
          <a:stretch>
            <a:fillRect/>
          </a:stretch>
        </p:blipFill>
        <p:spPr>
          <a:xfrm>
            <a:off x="152400" y="2006250"/>
            <a:ext cx="6395094" cy="2984850"/>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Shape 1287"/>
        <p:cNvGrpSpPr/>
        <p:nvPr/>
      </p:nvGrpSpPr>
      <p:grpSpPr>
        <a:xfrm>
          <a:off x="0" y="0"/>
          <a:ext cx="0" cy="0"/>
          <a:chOff x="0" y="0"/>
          <a:chExt cx="0" cy="0"/>
        </a:xfrm>
      </p:grpSpPr>
      <p:sp>
        <p:nvSpPr>
          <p:cNvPr id="1288" name="Google Shape;1288;p21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DateTimeZone</a:t>
            </a:r>
            <a:endParaRPr/>
          </a:p>
        </p:txBody>
      </p:sp>
      <p:sp>
        <p:nvSpPr>
          <p:cNvPr id="1289" name="Google Shape;1289;p21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kita membuat object DateTime, dia akan secara otomatis membuat waktu saat ini sesuai dengan timezone yang di setting di konfigurasi date.timezone di file php.ini</a:t>
            </a:r>
            <a:endParaRPr/>
          </a:p>
          <a:p>
            <a:pPr marL="457200" lvl="0" indent="-311150" algn="l" rtl="0">
              <a:spcBef>
                <a:spcPts val="0"/>
              </a:spcBef>
              <a:spcAft>
                <a:spcPts val="0"/>
              </a:spcAft>
              <a:buSzPts val="1300"/>
              <a:buChar char="●"/>
            </a:pPr>
            <a:r>
              <a:rPr lang="id"/>
              <a:t>Atau kita bisa menggunakan function setTimeZone untuk mengubah timezone DateTime</a:t>
            </a:r>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Shape 1293"/>
        <p:cNvGrpSpPr/>
        <p:nvPr/>
      </p:nvGrpSpPr>
      <p:grpSpPr>
        <a:xfrm>
          <a:off x="0" y="0"/>
          <a:ext cx="0" cy="0"/>
          <a:chOff x="0" y="0"/>
          <a:chExt cx="0" cy="0"/>
        </a:xfrm>
      </p:grpSpPr>
      <p:sp>
        <p:nvSpPr>
          <p:cNvPr id="1294" name="Google Shape;1294;p22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DateTimeZone</a:t>
            </a:r>
            <a:endParaRPr/>
          </a:p>
        </p:txBody>
      </p:sp>
      <p:pic>
        <p:nvPicPr>
          <p:cNvPr id="1295" name="Google Shape;1295;p220"/>
          <p:cNvPicPr preferRelativeResize="0"/>
          <p:nvPr/>
        </p:nvPicPr>
        <p:blipFill>
          <a:blip r:embed="rId3">
            <a:alphaModFix/>
          </a:blip>
          <a:stretch>
            <a:fillRect/>
          </a:stretch>
        </p:blipFill>
        <p:spPr>
          <a:xfrm>
            <a:off x="152400" y="2006250"/>
            <a:ext cx="8839201" cy="1498940"/>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Shape 1299"/>
        <p:cNvGrpSpPr/>
        <p:nvPr/>
      </p:nvGrpSpPr>
      <p:grpSpPr>
        <a:xfrm>
          <a:off x="0" y="0"/>
          <a:ext cx="0" cy="0"/>
          <a:chOff x="0" y="0"/>
          <a:chExt cx="0" cy="0"/>
        </a:xfrm>
      </p:grpSpPr>
      <p:sp>
        <p:nvSpPr>
          <p:cNvPr id="1300" name="Google Shape;1300;p22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Format DateTime</a:t>
            </a:r>
            <a:endParaRPr/>
          </a:p>
        </p:txBody>
      </p:sp>
      <p:sp>
        <p:nvSpPr>
          <p:cNvPr id="1301" name="Google Shape;1301;p22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Kadang kita ingin membuat representasi string dari DateTime yang sudah kita buat</a:t>
            </a:r>
            <a:endParaRPr/>
          </a:p>
          <a:p>
            <a:pPr marL="457200" lvl="0" indent="-311150" algn="l" rtl="0">
              <a:spcBef>
                <a:spcPts val="0"/>
              </a:spcBef>
              <a:spcAft>
                <a:spcPts val="0"/>
              </a:spcAft>
              <a:buSzPts val="1300"/>
              <a:buChar char="●"/>
            </a:pPr>
            <a:r>
              <a:rPr lang="id"/>
              <a:t>Hal ini bisa kita lakukan menggunakan function format()</a:t>
            </a:r>
            <a:endParaRPr/>
          </a:p>
          <a:p>
            <a:pPr marL="457200" lvl="0" indent="-311150" algn="l" rtl="0">
              <a:spcBef>
                <a:spcPts val="0"/>
              </a:spcBef>
              <a:spcAft>
                <a:spcPts val="0"/>
              </a:spcAft>
              <a:buSzPts val="1300"/>
              <a:buChar char="●"/>
            </a:pPr>
            <a:r>
              <a:rPr lang="id"/>
              <a:t>Function format() menerima argument berupa format string, ini bisa kita gunakan untuk memanipulasi cara kita menampilkan string format waktu</a:t>
            </a:r>
            <a:endParaRPr/>
          </a:p>
          <a:p>
            <a:pPr marL="457200" lvl="0" indent="-311150" algn="l" rtl="0">
              <a:spcBef>
                <a:spcPts val="0"/>
              </a:spcBef>
              <a:spcAft>
                <a:spcPts val="0"/>
              </a:spcAft>
              <a:buSzPts val="1300"/>
              <a:buChar char="●"/>
            </a:pPr>
            <a:r>
              <a:rPr lang="id"/>
              <a:t>Untuk detailnya kita bisa lihat di halaman dokumentasi resminya</a:t>
            </a:r>
            <a:endParaRPr/>
          </a:p>
          <a:p>
            <a:pPr marL="457200" lvl="0" indent="-311150" algn="l" rtl="0">
              <a:spcBef>
                <a:spcPts val="0"/>
              </a:spcBef>
              <a:spcAft>
                <a:spcPts val="0"/>
              </a:spcAft>
              <a:buSzPts val="1300"/>
              <a:buChar char="●"/>
            </a:pPr>
            <a:r>
              <a:rPr lang="id" u="sng">
                <a:solidFill>
                  <a:schemeClr val="hlink"/>
                </a:solidFill>
                <a:hlinkClick r:id="rId3"/>
              </a:rPr>
              <a:t>https://www.php.net/manual/en/datetime.format.php</a:t>
            </a:r>
            <a:r>
              <a:rPr lang="id"/>
              <a:t> </a:t>
            </a:r>
            <a:endParaRP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Shape 1305"/>
        <p:cNvGrpSpPr/>
        <p:nvPr/>
      </p:nvGrpSpPr>
      <p:grpSpPr>
        <a:xfrm>
          <a:off x="0" y="0"/>
          <a:ext cx="0" cy="0"/>
          <a:chOff x="0" y="0"/>
          <a:chExt cx="0" cy="0"/>
        </a:xfrm>
      </p:grpSpPr>
      <p:sp>
        <p:nvSpPr>
          <p:cNvPr id="1306" name="Google Shape;1306;p22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Format DateTime</a:t>
            </a:r>
            <a:endParaRPr/>
          </a:p>
        </p:txBody>
      </p:sp>
      <p:pic>
        <p:nvPicPr>
          <p:cNvPr id="1307" name="Google Shape;1307;p222"/>
          <p:cNvPicPr preferRelativeResize="0"/>
          <p:nvPr/>
        </p:nvPicPr>
        <p:blipFill>
          <a:blip r:embed="rId3">
            <a:alphaModFix/>
          </a:blip>
          <a:stretch>
            <a:fillRect/>
          </a:stretch>
        </p:blipFill>
        <p:spPr>
          <a:xfrm>
            <a:off x="152400" y="2006250"/>
            <a:ext cx="8839200" cy="1455868"/>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2" name="Google Shape;1312;p22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Parse DateTime</a:t>
            </a:r>
            <a:endParaRPr/>
          </a:p>
        </p:txBody>
      </p:sp>
      <p:sp>
        <p:nvSpPr>
          <p:cNvPr id="1313" name="Google Shape;1313;p22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Selain format DateTime menjadi string, di PHP juga kita bisa melakukan hal sebaliknya, yaitu memparsing string menjadi DateTime sesuai dengan format yang kita mau</a:t>
            </a:r>
            <a:endParaRPr/>
          </a:p>
          <a:p>
            <a:pPr marL="457200" lvl="0" indent="-311150" algn="l" rtl="0">
              <a:spcBef>
                <a:spcPts val="0"/>
              </a:spcBef>
              <a:spcAft>
                <a:spcPts val="0"/>
              </a:spcAft>
              <a:buSzPts val="1300"/>
              <a:buChar char="●"/>
            </a:pPr>
            <a:r>
              <a:rPr lang="id"/>
              <a:t>Untuk melakukan itu, kita bisa menggunakan static function createFromFormat() dari class DateTime</a:t>
            </a:r>
            <a:endParaRP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Shape 1317"/>
        <p:cNvGrpSpPr/>
        <p:nvPr/>
      </p:nvGrpSpPr>
      <p:grpSpPr>
        <a:xfrm>
          <a:off x="0" y="0"/>
          <a:ext cx="0" cy="0"/>
          <a:chOff x="0" y="0"/>
          <a:chExt cx="0" cy="0"/>
        </a:xfrm>
      </p:grpSpPr>
      <p:sp>
        <p:nvSpPr>
          <p:cNvPr id="1318" name="Google Shape;1318;p22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Parse DateTime</a:t>
            </a:r>
            <a:endParaRPr/>
          </a:p>
        </p:txBody>
      </p:sp>
      <p:pic>
        <p:nvPicPr>
          <p:cNvPr id="1319" name="Google Shape;1319;p224"/>
          <p:cNvPicPr preferRelativeResize="0"/>
          <p:nvPr/>
        </p:nvPicPr>
        <p:blipFill>
          <a:blip r:embed="rId3">
            <a:alphaModFix/>
          </a:blip>
          <a:stretch>
            <a:fillRect/>
          </a:stretch>
        </p:blipFill>
        <p:spPr>
          <a:xfrm>
            <a:off x="152400" y="2006250"/>
            <a:ext cx="8839200" cy="1696500"/>
          </a:xfrm>
          <a:prstGeom prst="rect">
            <a:avLst/>
          </a:prstGeom>
          <a:noFill/>
          <a:ln>
            <a:noFill/>
          </a:ln>
        </p:spPr>
      </p:pic>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Shape 1323"/>
        <p:cNvGrpSpPr/>
        <p:nvPr/>
      </p:nvGrpSpPr>
      <p:grpSpPr>
        <a:xfrm>
          <a:off x="0" y="0"/>
          <a:ext cx="0" cy="0"/>
          <a:chOff x="0" y="0"/>
          <a:chExt cx="0" cy="0"/>
        </a:xfrm>
      </p:grpSpPr>
      <p:sp>
        <p:nvSpPr>
          <p:cNvPr id="1324" name="Google Shape;1324;p225"/>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Exception</a:t>
            </a:r>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Shape 1328"/>
        <p:cNvGrpSpPr/>
        <p:nvPr/>
      </p:nvGrpSpPr>
      <p:grpSpPr>
        <a:xfrm>
          <a:off x="0" y="0"/>
          <a:ext cx="0" cy="0"/>
          <a:chOff x="0" y="0"/>
          <a:chExt cx="0" cy="0"/>
        </a:xfrm>
      </p:grpSpPr>
      <p:sp>
        <p:nvSpPr>
          <p:cNvPr id="1329" name="Google Shape;1329;p22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Exception</a:t>
            </a:r>
            <a:endParaRPr/>
          </a:p>
        </p:txBody>
      </p:sp>
      <p:sp>
        <p:nvSpPr>
          <p:cNvPr id="1330" name="Google Shape;1330;p22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kita membuat aplikasi, kita tidak akan terhindar dengan yang namanya error</a:t>
            </a:r>
            <a:endParaRPr/>
          </a:p>
          <a:p>
            <a:pPr marL="457200" lvl="0" indent="-311150" algn="l" rtl="0">
              <a:spcBef>
                <a:spcPts val="0"/>
              </a:spcBef>
              <a:spcAft>
                <a:spcPts val="0"/>
              </a:spcAft>
              <a:buSzPts val="1300"/>
              <a:buChar char="●"/>
            </a:pPr>
            <a:r>
              <a:rPr lang="id"/>
              <a:t>Di PHP, error direpresentasikan dengan istilah exception, dan semua direpresentasikan dalam bentuk class exception</a:t>
            </a:r>
            <a:endParaRPr/>
          </a:p>
          <a:p>
            <a:pPr marL="457200" lvl="0" indent="-311150" algn="l" rtl="0">
              <a:spcBef>
                <a:spcPts val="0"/>
              </a:spcBef>
              <a:spcAft>
                <a:spcPts val="0"/>
              </a:spcAft>
              <a:buSzPts val="1300"/>
              <a:buChar char="●"/>
            </a:pPr>
            <a:r>
              <a:rPr lang="id"/>
              <a:t>Kita bisa menggunakan class exception sendiri, atau menggunakan yang sudah disediakan oleh PHP</a:t>
            </a:r>
            <a:endParaRPr/>
          </a:p>
          <a:p>
            <a:pPr marL="457200" lvl="0" indent="-311150" algn="l" rtl="0">
              <a:spcBef>
                <a:spcPts val="0"/>
              </a:spcBef>
              <a:spcAft>
                <a:spcPts val="0"/>
              </a:spcAft>
              <a:buSzPts val="1300"/>
              <a:buChar char="●"/>
            </a:pPr>
            <a:r>
              <a:rPr lang="id"/>
              <a:t>Jika kita ingin membuat exception, maka kita harus membuat class yang implement interface Throwable atau turunan-turunannya</a:t>
            </a:r>
            <a:endParaRP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Shape 1334"/>
        <p:cNvGrpSpPr/>
        <p:nvPr/>
      </p:nvGrpSpPr>
      <p:grpSpPr>
        <a:xfrm>
          <a:off x="0" y="0"/>
          <a:ext cx="0" cy="0"/>
          <a:chOff x="0" y="0"/>
          <a:chExt cx="0" cy="0"/>
        </a:xfrm>
      </p:grpSpPr>
      <p:sp>
        <p:nvSpPr>
          <p:cNvPr id="1335" name="Google Shape;1335;p22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Membuat Class Exception</a:t>
            </a:r>
            <a:endParaRPr/>
          </a:p>
        </p:txBody>
      </p:sp>
      <p:pic>
        <p:nvPicPr>
          <p:cNvPr id="1336" name="Google Shape;1336;p227"/>
          <p:cNvPicPr preferRelativeResize="0"/>
          <p:nvPr/>
        </p:nvPicPr>
        <p:blipFill>
          <a:blip r:embed="rId3">
            <a:alphaModFix/>
          </a:blip>
          <a:stretch>
            <a:fillRect/>
          </a:stretch>
        </p:blipFill>
        <p:spPr>
          <a:xfrm>
            <a:off x="152400" y="2006250"/>
            <a:ext cx="7848600" cy="1657350"/>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Shape 1340"/>
        <p:cNvGrpSpPr/>
        <p:nvPr/>
      </p:nvGrpSpPr>
      <p:grpSpPr>
        <a:xfrm>
          <a:off x="0" y="0"/>
          <a:ext cx="0" cy="0"/>
          <a:chOff x="0" y="0"/>
          <a:chExt cx="0" cy="0"/>
        </a:xfrm>
      </p:grpSpPr>
      <p:sp>
        <p:nvSpPr>
          <p:cNvPr id="1341" name="Google Shape;1341;p22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Membuat Exception</a:t>
            </a:r>
            <a:endParaRPr/>
          </a:p>
        </p:txBody>
      </p:sp>
      <p:sp>
        <p:nvSpPr>
          <p:cNvPr id="1342" name="Google Shape;1342;p22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Exception biasanya terjadi di function</a:t>
            </a:r>
            <a:endParaRPr/>
          </a:p>
          <a:p>
            <a:pPr marL="457200" lvl="0" indent="-311150" algn="l" rtl="0">
              <a:spcBef>
                <a:spcPts val="0"/>
              </a:spcBef>
              <a:spcAft>
                <a:spcPts val="0"/>
              </a:spcAft>
              <a:buSzPts val="1300"/>
              <a:buChar char="●"/>
            </a:pPr>
            <a:r>
              <a:rPr lang="id"/>
              <a:t>Di dalam kode program kita, untuk membuat exception kita cukup menggunakan kata kunci throw, diikuti dengan object exception nya</a:t>
            </a:r>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Shape 1346"/>
        <p:cNvGrpSpPr/>
        <p:nvPr/>
      </p:nvGrpSpPr>
      <p:grpSpPr>
        <a:xfrm>
          <a:off x="0" y="0"/>
          <a:ext cx="0" cy="0"/>
          <a:chOff x="0" y="0"/>
          <a:chExt cx="0" cy="0"/>
        </a:xfrm>
      </p:grpSpPr>
      <p:sp>
        <p:nvSpPr>
          <p:cNvPr id="1347" name="Google Shape;1347;p22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Membuat Exception</a:t>
            </a:r>
            <a:endParaRPr/>
          </a:p>
        </p:txBody>
      </p:sp>
      <p:pic>
        <p:nvPicPr>
          <p:cNvPr id="1348" name="Google Shape;1348;p229"/>
          <p:cNvPicPr preferRelativeResize="0"/>
          <p:nvPr/>
        </p:nvPicPr>
        <p:blipFill>
          <a:blip r:embed="rId3">
            <a:alphaModFix/>
          </a:blip>
          <a:stretch>
            <a:fillRect/>
          </a:stretch>
        </p:blipFill>
        <p:spPr>
          <a:xfrm>
            <a:off x="152400" y="2006250"/>
            <a:ext cx="7246970" cy="2984850"/>
          </a:xfrm>
          <a:prstGeom prst="rect">
            <a:avLst/>
          </a:prstGeom>
          <a:noFill/>
          <a:ln>
            <a:noFill/>
          </a:ln>
        </p:spPr>
      </p:pic>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Shape 1352"/>
        <p:cNvGrpSpPr/>
        <p:nvPr/>
      </p:nvGrpSpPr>
      <p:grpSpPr>
        <a:xfrm>
          <a:off x="0" y="0"/>
          <a:ext cx="0" cy="0"/>
          <a:chOff x="0" y="0"/>
          <a:chExt cx="0" cy="0"/>
        </a:xfrm>
      </p:grpSpPr>
      <p:sp>
        <p:nvSpPr>
          <p:cNvPr id="1353" name="Google Shape;1353;p23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Try Catch</a:t>
            </a:r>
            <a:endParaRPr/>
          </a:p>
        </p:txBody>
      </p:sp>
      <p:sp>
        <p:nvSpPr>
          <p:cNvPr id="1354" name="Google Shape;1354;p230"/>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Saat kita memanggil sebuah function yang bisa menyebabkan exception, maka kita disarankan menggunakan try-catch expression di PHP</a:t>
            </a:r>
            <a:endParaRPr/>
          </a:p>
          <a:p>
            <a:pPr marL="457200" lvl="0" indent="-311150" algn="l" rtl="0">
              <a:spcBef>
                <a:spcPts val="0"/>
              </a:spcBef>
              <a:spcAft>
                <a:spcPts val="0"/>
              </a:spcAft>
              <a:buSzPts val="1300"/>
              <a:buChar char="●"/>
            </a:pPr>
            <a:r>
              <a:rPr lang="id"/>
              <a:t>Ini gunanya agar kita bisa menangkap exception yang terjadi, karena jika tidak ditangkap, lalu terjadi exception, maka secara otomatis program kita akan berhenti</a:t>
            </a:r>
            <a:endParaRPr/>
          </a:p>
          <a:p>
            <a:pPr marL="457200" lvl="0" indent="-311150" algn="l" rtl="0">
              <a:spcBef>
                <a:spcPts val="0"/>
              </a:spcBef>
              <a:spcAft>
                <a:spcPts val="0"/>
              </a:spcAft>
              <a:buSzPts val="1300"/>
              <a:buChar char="●"/>
            </a:pPr>
            <a:r>
              <a:rPr lang="id"/>
              <a:t>Cara menggunakan try-catch expression di PHP sangat mudah, di block try, kita tinggal panggil method yang bisa menyebabkan exception, dan di block catch, kita bisa melakukan sesuatu jika terjadi exception</a:t>
            </a:r>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Shape 1358"/>
        <p:cNvGrpSpPr/>
        <p:nvPr/>
      </p:nvGrpSpPr>
      <p:grpSpPr>
        <a:xfrm>
          <a:off x="0" y="0"/>
          <a:ext cx="0" cy="0"/>
          <a:chOff x="0" y="0"/>
          <a:chExt cx="0" cy="0"/>
        </a:xfrm>
      </p:grpSpPr>
      <p:sp>
        <p:nvSpPr>
          <p:cNvPr id="1359" name="Google Shape;1359;p23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Try Catch</a:t>
            </a:r>
            <a:endParaRPr/>
          </a:p>
        </p:txBody>
      </p:sp>
      <p:pic>
        <p:nvPicPr>
          <p:cNvPr id="1360" name="Google Shape;1360;p231"/>
          <p:cNvPicPr preferRelativeResize="0"/>
          <p:nvPr/>
        </p:nvPicPr>
        <p:blipFill>
          <a:blip r:embed="rId3">
            <a:alphaModFix/>
          </a:blip>
          <a:stretch>
            <a:fillRect/>
          </a:stretch>
        </p:blipFill>
        <p:spPr>
          <a:xfrm>
            <a:off x="152400" y="2006250"/>
            <a:ext cx="8839200" cy="2353068"/>
          </a:xfrm>
          <a:prstGeom prst="rect">
            <a:avLst/>
          </a:prstGeom>
          <a:noFill/>
          <a:ln>
            <a:noFill/>
          </a:ln>
        </p:spPr>
      </p:pic>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Shape 1364"/>
        <p:cNvGrpSpPr/>
        <p:nvPr/>
      </p:nvGrpSpPr>
      <p:grpSpPr>
        <a:xfrm>
          <a:off x="0" y="0"/>
          <a:ext cx="0" cy="0"/>
          <a:chOff x="0" y="0"/>
          <a:chExt cx="0" cy="0"/>
        </a:xfrm>
      </p:grpSpPr>
      <p:sp>
        <p:nvSpPr>
          <p:cNvPr id="1365" name="Google Shape;1365;p23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Multiple Try Catch (1)</a:t>
            </a:r>
            <a:endParaRPr/>
          </a:p>
        </p:txBody>
      </p:sp>
      <p:pic>
        <p:nvPicPr>
          <p:cNvPr id="1366" name="Google Shape;1366;p232"/>
          <p:cNvPicPr preferRelativeResize="0"/>
          <p:nvPr/>
        </p:nvPicPr>
        <p:blipFill>
          <a:blip r:embed="rId3">
            <a:alphaModFix/>
          </a:blip>
          <a:stretch>
            <a:fillRect/>
          </a:stretch>
        </p:blipFill>
        <p:spPr>
          <a:xfrm>
            <a:off x="152400" y="2006250"/>
            <a:ext cx="6723158" cy="2984850"/>
          </a:xfrm>
          <a:prstGeom prst="rect">
            <a:avLst/>
          </a:prstGeom>
          <a:noFill/>
          <a:ln>
            <a:noFill/>
          </a:ln>
        </p:spPr>
      </p:pic>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Shape 1370"/>
        <p:cNvGrpSpPr/>
        <p:nvPr/>
      </p:nvGrpSpPr>
      <p:grpSpPr>
        <a:xfrm>
          <a:off x="0" y="0"/>
          <a:ext cx="0" cy="0"/>
          <a:chOff x="0" y="0"/>
          <a:chExt cx="0" cy="0"/>
        </a:xfrm>
      </p:grpSpPr>
      <p:sp>
        <p:nvSpPr>
          <p:cNvPr id="1371" name="Google Shape;1371;p23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Multiple Try Catch (2)</a:t>
            </a:r>
            <a:endParaRPr/>
          </a:p>
        </p:txBody>
      </p:sp>
      <p:pic>
        <p:nvPicPr>
          <p:cNvPr id="1372" name="Google Shape;1372;p233"/>
          <p:cNvPicPr preferRelativeResize="0"/>
          <p:nvPr/>
        </p:nvPicPr>
        <p:blipFill>
          <a:blip r:embed="rId3">
            <a:alphaModFix/>
          </a:blip>
          <a:stretch>
            <a:fillRect/>
          </a:stretch>
        </p:blipFill>
        <p:spPr>
          <a:xfrm>
            <a:off x="152400" y="2006250"/>
            <a:ext cx="7491719" cy="2984850"/>
          </a:xfrm>
          <a:prstGeom prst="rect">
            <a:avLst/>
          </a:prstGeom>
          <a:noFill/>
          <a:ln>
            <a:noFill/>
          </a:ln>
        </p:spPr>
      </p:pic>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Shape 1376"/>
        <p:cNvGrpSpPr/>
        <p:nvPr/>
      </p:nvGrpSpPr>
      <p:grpSpPr>
        <a:xfrm>
          <a:off x="0" y="0"/>
          <a:ext cx="0" cy="0"/>
          <a:chOff x="0" y="0"/>
          <a:chExt cx="0" cy="0"/>
        </a:xfrm>
      </p:grpSpPr>
      <p:sp>
        <p:nvSpPr>
          <p:cNvPr id="1377" name="Google Shape;1377;p23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Finally Keyword</a:t>
            </a:r>
            <a:endParaRPr/>
          </a:p>
        </p:txBody>
      </p:sp>
      <p:sp>
        <p:nvSpPr>
          <p:cNvPr id="1378" name="Google Shape;1378;p23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Dalam try-catch, kita bisa menambahkan block finally</a:t>
            </a:r>
            <a:endParaRPr/>
          </a:p>
          <a:p>
            <a:pPr marL="457200" lvl="0" indent="-311150" algn="l" rtl="0">
              <a:spcBef>
                <a:spcPts val="0"/>
              </a:spcBef>
              <a:spcAft>
                <a:spcPts val="0"/>
              </a:spcAft>
              <a:buSzPts val="1300"/>
              <a:buChar char="●"/>
            </a:pPr>
            <a:r>
              <a:rPr lang="id"/>
              <a:t>Block finally ini adalah block dimana akan selalu dieksekusi baik terjadi exception ataupun tidak</a:t>
            </a:r>
            <a:endParaRPr/>
          </a:p>
          <a:p>
            <a:pPr marL="457200" lvl="0" indent="-311150" algn="l" rtl="0">
              <a:spcBef>
                <a:spcPts val="0"/>
              </a:spcBef>
              <a:spcAft>
                <a:spcPts val="0"/>
              </a:spcAft>
              <a:buSzPts val="1300"/>
              <a:buChar char="●"/>
            </a:pPr>
            <a:r>
              <a:rPr lang="id"/>
              <a:t>Ini sangat cocok ketika kita ingin melakukan sesuatu, tidak peduli sukses ataupun gagal, misal di block try kita ingin membaca file, di block catch kita akan tangkap jika terjadi error, dan di block finally error ataupun sukses membaca file, kita wajib menutup koneksi ke file tersebut, biar tidak menggantung di memory</a:t>
            </a:r>
            <a:endParaRP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Shape 1382"/>
        <p:cNvGrpSpPr/>
        <p:nvPr/>
      </p:nvGrpSpPr>
      <p:grpSpPr>
        <a:xfrm>
          <a:off x="0" y="0"/>
          <a:ext cx="0" cy="0"/>
          <a:chOff x="0" y="0"/>
          <a:chExt cx="0" cy="0"/>
        </a:xfrm>
      </p:grpSpPr>
      <p:sp>
        <p:nvSpPr>
          <p:cNvPr id="1383" name="Google Shape;1383;p23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Finally</a:t>
            </a:r>
            <a:endParaRPr/>
          </a:p>
        </p:txBody>
      </p:sp>
      <p:pic>
        <p:nvPicPr>
          <p:cNvPr id="1384" name="Google Shape;1384;p235"/>
          <p:cNvPicPr preferRelativeResize="0"/>
          <p:nvPr/>
        </p:nvPicPr>
        <p:blipFill>
          <a:blip r:embed="rId3">
            <a:alphaModFix/>
          </a:blip>
          <a:stretch>
            <a:fillRect/>
          </a:stretch>
        </p:blipFill>
        <p:spPr>
          <a:xfrm>
            <a:off x="152400" y="2006250"/>
            <a:ext cx="7570055" cy="2984850"/>
          </a:xfrm>
          <a:prstGeom prst="rect">
            <a:avLst/>
          </a:prstGeom>
          <a:noFill/>
          <a:ln>
            <a:noFill/>
          </a:ln>
        </p:spPr>
      </p:pic>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Shape 1388"/>
        <p:cNvGrpSpPr/>
        <p:nvPr/>
      </p:nvGrpSpPr>
      <p:grpSpPr>
        <a:xfrm>
          <a:off x="0" y="0"/>
          <a:ext cx="0" cy="0"/>
          <a:chOff x="0" y="0"/>
          <a:chExt cx="0" cy="0"/>
        </a:xfrm>
      </p:grpSpPr>
      <p:sp>
        <p:nvSpPr>
          <p:cNvPr id="1389" name="Google Shape;1389;p23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Debug Exception</a:t>
            </a:r>
            <a:endParaRPr/>
          </a:p>
        </p:txBody>
      </p:sp>
      <p:sp>
        <p:nvSpPr>
          <p:cNvPr id="1390" name="Google Shape;1390;p23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Exception di PHP memiliki sebuah function bernama getTrace()</a:t>
            </a:r>
            <a:endParaRPr/>
          </a:p>
          <a:p>
            <a:pPr marL="457200" lvl="0" indent="-311150" algn="l" rtl="0">
              <a:spcBef>
                <a:spcPts val="0"/>
              </a:spcBef>
              <a:spcAft>
                <a:spcPts val="0"/>
              </a:spcAft>
              <a:buSzPts val="1300"/>
              <a:buChar char="●"/>
            </a:pPr>
            <a:r>
              <a:rPr lang="id"/>
              <a:t>Function getTrace() berisikan informasi dari exception yang terjadi, seperti lokasi file, baris ke berapa, function mana sampai argumenty yang dikirim di function tersebut apa</a:t>
            </a:r>
            <a:endParaRPr/>
          </a:p>
          <a:p>
            <a:pPr marL="457200" lvl="0" indent="-311150" algn="l" rtl="0">
              <a:spcBef>
                <a:spcPts val="0"/>
              </a:spcBef>
              <a:spcAft>
                <a:spcPts val="0"/>
              </a:spcAft>
              <a:buSzPts val="1300"/>
              <a:buChar char="●"/>
            </a:pPr>
            <a:r>
              <a:rPr lang="id"/>
              <a:t>Ini sangat cocok untuk kita jika ingin mendebug ketika terjadi exception</a:t>
            </a:r>
            <a:endParaRP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Shape 1394"/>
        <p:cNvGrpSpPr/>
        <p:nvPr/>
      </p:nvGrpSpPr>
      <p:grpSpPr>
        <a:xfrm>
          <a:off x="0" y="0"/>
          <a:ext cx="0" cy="0"/>
          <a:chOff x="0" y="0"/>
          <a:chExt cx="0" cy="0"/>
        </a:xfrm>
      </p:grpSpPr>
      <p:sp>
        <p:nvSpPr>
          <p:cNvPr id="1395" name="Google Shape;1395;p23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Debug Exception</a:t>
            </a:r>
            <a:endParaRPr/>
          </a:p>
        </p:txBody>
      </p:sp>
      <p:pic>
        <p:nvPicPr>
          <p:cNvPr id="1396" name="Google Shape;1396;p237"/>
          <p:cNvPicPr preferRelativeResize="0"/>
          <p:nvPr/>
        </p:nvPicPr>
        <p:blipFill>
          <a:blip r:embed="rId3">
            <a:alphaModFix/>
          </a:blip>
          <a:stretch>
            <a:fillRect/>
          </a:stretch>
        </p:blipFill>
        <p:spPr>
          <a:xfrm>
            <a:off x="152400" y="2006250"/>
            <a:ext cx="6311378" cy="2984850"/>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Shape 1400"/>
        <p:cNvGrpSpPr/>
        <p:nvPr/>
      </p:nvGrpSpPr>
      <p:grpSpPr>
        <a:xfrm>
          <a:off x="0" y="0"/>
          <a:ext cx="0" cy="0"/>
          <a:chOff x="0" y="0"/>
          <a:chExt cx="0" cy="0"/>
        </a:xfrm>
      </p:grpSpPr>
      <p:sp>
        <p:nvSpPr>
          <p:cNvPr id="1401" name="Google Shape;1401;p238"/>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Regular Expression</a:t>
            </a:r>
            <a:endParaRP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Shape 1405"/>
        <p:cNvGrpSpPr/>
        <p:nvPr/>
      </p:nvGrpSpPr>
      <p:grpSpPr>
        <a:xfrm>
          <a:off x="0" y="0"/>
          <a:ext cx="0" cy="0"/>
          <a:chOff x="0" y="0"/>
          <a:chExt cx="0" cy="0"/>
        </a:xfrm>
      </p:grpSpPr>
      <p:sp>
        <p:nvSpPr>
          <p:cNvPr id="1406" name="Google Shape;1406;p23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Regular Expression</a:t>
            </a:r>
            <a:endParaRPr/>
          </a:p>
        </p:txBody>
      </p:sp>
      <p:sp>
        <p:nvSpPr>
          <p:cNvPr id="1407" name="Google Shape;1407;p23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PHP mendukung regular expression yang kompatibel dengan bahasa pemrograman Perl</a:t>
            </a:r>
            <a:endParaRPr/>
          </a:p>
          <a:p>
            <a:pPr marL="457200" lvl="0" indent="-311150" algn="l" rtl="0">
              <a:spcBef>
                <a:spcPts val="0"/>
              </a:spcBef>
              <a:spcAft>
                <a:spcPts val="0"/>
              </a:spcAft>
              <a:buSzPts val="1300"/>
              <a:buChar char="●"/>
            </a:pPr>
            <a:r>
              <a:rPr lang="id"/>
              <a:t>Regular expression merupakan fitur yang digunakan untuk melakukan pencarian di string menggunakan pola tertentu</a:t>
            </a:r>
            <a:endParaRPr/>
          </a:p>
          <a:p>
            <a:pPr marL="457200" lvl="0" indent="-311150" algn="l" rtl="0">
              <a:spcBef>
                <a:spcPts val="0"/>
              </a:spcBef>
              <a:spcAft>
                <a:spcPts val="0"/>
              </a:spcAft>
              <a:buSzPts val="1300"/>
              <a:buChar char="●"/>
            </a:pPr>
            <a:r>
              <a:rPr lang="id"/>
              <a:t>Materi ini sebenarnya materi yang sangat panjang, sehingga disini kita akan bahas sedikit pengenalannya</a:t>
            </a:r>
            <a:endParaRPr/>
          </a:p>
          <a:p>
            <a:pPr marL="457200" lvl="0" indent="-311150" algn="l" rtl="0">
              <a:spcBef>
                <a:spcPts val="0"/>
              </a:spcBef>
              <a:spcAft>
                <a:spcPts val="0"/>
              </a:spcAft>
              <a:buSzPts val="1300"/>
              <a:buChar char="●"/>
            </a:pPr>
            <a:r>
              <a:rPr lang="id"/>
              <a:t>Untuk pembuatan pattern di regular expression, detailnya bisa dibaca disini : </a:t>
            </a:r>
            <a:r>
              <a:rPr lang="id" u="sng">
                <a:solidFill>
                  <a:schemeClr val="hlink"/>
                </a:solidFill>
                <a:hlinkClick r:id="rId3"/>
              </a:rPr>
              <a:t>https://www.php.net/manual/en/pcre.pattern.php</a:t>
            </a:r>
            <a:r>
              <a:rPr lang="id"/>
              <a:t> </a:t>
            </a:r>
            <a:endParaRP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Shape 1411"/>
        <p:cNvGrpSpPr/>
        <p:nvPr/>
      </p:nvGrpSpPr>
      <p:grpSpPr>
        <a:xfrm>
          <a:off x="0" y="0"/>
          <a:ext cx="0" cy="0"/>
          <a:chOff x="0" y="0"/>
          <a:chExt cx="0" cy="0"/>
        </a:xfrm>
      </p:grpSpPr>
      <p:sp>
        <p:nvSpPr>
          <p:cNvPr id="1412" name="Google Shape;1412;p24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Function Regular Expression</a:t>
            </a:r>
            <a:endParaRPr/>
          </a:p>
        </p:txBody>
      </p:sp>
      <p:sp>
        <p:nvSpPr>
          <p:cNvPr id="1413" name="Google Shape;1413;p240"/>
          <p:cNvSpPr txBox="1"/>
          <p:nvPr/>
        </p:nvSpPr>
        <p:spPr>
          <a:xfrm>
            <a:off x="0" y="0"/>
            <a:ext cx="9144000" cy="49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 u="sng">
                <a:solidFill>
                  <a:schemeClr val="hlink"/>
                </a:solidFill>
                <a:hlinkClick r:id="rId3"/>
              </a:rPr>
              <a:t>https://www.php.net/manual/en/ref.pcre.php</a:t>
            </a:r>
            <a:r>
              <a:rPr lang="id"/>
              <a:t> </a:t>
            </a:r>
            <a:endParaRPr/>
          </a:p>
        </p:txBody>
      </p:sp>
      <p:graphicFrame>
        <p:nvGraphicFramePr>
          <p:cNvPr id="1414" name="Google Shape;1414;p240"/>
          <p:cNvGraphicFramePr/>
          <p:nvPr/>
        </p:nvGraphicFramePr>
        <p:xfrm>
          <a:off x="952500" y="2190750"/>
          <a:ext cx="3000000" cy="3000000"/>
        </p:xfrm>
        <a:graphic>
          <a:graphicData uri="http://schemas.openxmlformats.org/drawingml/2006/table">
            <a:tbl>
              <a:tblPr>
                <a:noFill/>
                <a:tableStyleId>{B9673AF5-CA51-48C4-976C-ADCB9C662DA2}</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id"/>
                        <a:t>Function Regular Expression</a:t>
                      </a:r>
                      <a:endParaRPr/>
                    </a:p>
                  </a:txBody>
                  <a:tcPr marL="91425" marR="91425" marT="91425" marB="91425">
                    <a:solidFill>
                      <a:srgbClr val="CCCCCC"/>
                    </a:solidFill>
                  </a:tcPr>
                </a:tc>
                <a:tc>
                  <a:txBody>
                    <a:bodyPr/>
                    <a:lstStyle/>
                    <a:p>
                      <a:pPr marL="0" lvl="0" indent="0" algn="l" rtl="0">
                        <a:spcBef>
                          <a:spcPts val="0"/>
                        </a:spcBef>
                        <a:spcAft>
                          <a:spcPts val="0"/>
                        </a:spcAft>
                        <a:buNone/>
                      </a:pPr>
                      <a:r>
                        <a:rPr lang="id"/>
                        <a:t>Keterangan</a:t>
                      </a:r>
                      <a:endParaRPr/>
                    </a:p>
                  </a:txBody>
                  <a:tcPr marL="91425" marR="91425" marT="91425" marB="91425">
                    <a:solidFill>
                      <a:srgbClr val="CCCCCC"/>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id"/>
                        <a:t>preg_match ($pattern ,$subject)</a:t>
                      </a:r>
                      <a:br>
                        <a:rPr lang="id"/>
                      </a:br>
                      <a:r>
                        <a:rPr lang="id"/>
                        <a:t>preg_match_all ($pattern ,$subject)</a:t>
                      </a:r>
                      <a:endParaRPr/>
                    </a:p>
                  </a:txBody>
                  <a:tcPr marL="91425" marR="91425" marT="91425" marB="91425"/>
                </a:tc>
                <a:tc>
                  <a:txBody>
                    <a:bodyPr/>
                    <a:lstStyle/>
                    <a:p>
                      <a:pPr marL="0" lvl="0" indent="0" algn="l" rtl="0">
                        <a:spcBef>
                          <a:spcPts val="0"/>
                        </a:spcBef>
                        <a:spcAft>
                          <a:spcPts val="0"/>
                        </a:spcAft>
                        <a:buNone/>
                      </a:pPr>
                      <a:r>
                        <a:rPr lang="id"/>
                        <a:t>Digunakan untuk mencari match pattern</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id"/>
                        <a:t>preg_replace ( $pattern , $replacement, $subject)</a:t>
                      </a:r>
                      <a:endParaRPr/>
                    </a:p>
                  </a:txBody>
                  <a:tcPr marL="91425" marR="91425" marT="91425" marB="91425"/>
                </a:tc>
                <a:tc>
                  <a:txBody>
                    <a:bodyPr/>
                    <a:lstStyle/>
                    <a:p>
                      <a:pPr marL="0" lvl="0" indent="0" algn="l" rtl="0">
                        <a:spcBef>
                          <a:spcPts val="0"/>
                        </a:spcBef>
                        <a:spcAft>
                          <a:spcPts val="0"/>
                        </a:spcAft>
                        <a:buNone/>
                      </a:pPr>
                      <a:r>
                        <a:rPr lang="id"/>
                        <a:t>Digunakan untuk mereplace semua pattern dengan replacement</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id"/>
                        <a:t>preg_split ( $pattern , $subject)</a:t>
                      </a:r>
                      <a:endParaRPr/>
                    </a:p>
                  </a:txBody>
                  <a:tcPr marL="91425" marR="91425" marT="91425" marB="91425"/>
                </a:tc>
                <a:tc>
                  <a:txBody>
                    <a:bodyPr/>
                    <a:lstStyle/>
                    <a:p>
                      <a:pPr marL="0" lvl="0" indent="0" algn="l" rtl="0">
                        <a:spcBef>
                          <a:spcPts val="0"/>
                        </a:spcBef>
                        <a:spcAft>
                          <a:spcPts val="0"/>
                        </a:spcAft>
                        <a:buNone/>
                      </a:pPr>
                      <a:r>
                        <a:rPr lang="id"/>
                        <a:t>Digunakan untuk memotong dengan pattern menjadi array</a:t>
                      </a:r>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Shape 1418"/>
        <p:cNvGrpSpPr/>
        <p:nvPr/>
      </p:nvGrpSpPr>
      <p:grpSpPr>
        <a:xfrm>
          <a:off x="0" y="0"/>
          <a:ext cx="0" cy="0"/>
          <a:chOff x="0" y="0"/>
          <a:chExt cx="0" cy="0"/>
        </a:xfrm>
      </p:grpSpPr>
      <p:sp>
        <p:nvSpPr>
          <p:cNvPr id="1419" name="Google Shape;1419;p24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Regular Expression Match</a:t>
            </a:r>
            <a:endParaRPr/>
          </a:p>
        </p:txBody>
      </p:sp>
      <p:pic>
        <p:nvPicPr>
          <p:cNvPr id="1420" name="Google Shape;1420;p241"/>
          <p:cNvPicPr preferRelativeResize="0"/>
          <p:nvPr/>
        </p:nvPicPr>
        <p:blipFill>
          <a:blip r:embed="rId3">
            <a:alphaModFix/>
          </a:blip>
          <a:stretch>
            <a:fillRect/>
          </a:stretch>
        </p:blipFill>
        <p:spPr>
          <a:xfrm>
            <a:off x="152400" y="2006250"/>
            <a:ext cx="8839198" cy="1614708"/>
          </a:xfrm>
          <a:prstGeom prst="rect">
            <a:avLst/>
          </a:prstGeom>
          <a:noFill/>
          <a:ln>
            <a:noFill/>
          </a:ln>
        </p:spPr>
      </p:pic>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Shape 1424"/>
        <p:cNvGrpSpPr/>
        <p:nvPr/>
      </p:nvGrpSpPr>
      <p:grpSpPr>
        <a:xfrm>
          <a:off x="0" y="0"/>
          <a:ext cx="0" cy="0"/>
          <a:chOff x="0" y="0"/>
          <a:chExt cx="0" cy="0"/>
        </a:xfrm>
      </p:grpSpPr>
      <p:sp>
        <p:nvSpPr>
          <p:cNvPr id="1425" name="Google Shape;1425;p24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Regular Expression Replace</a:t>
            </a:r>
            <a:endParaRPr/>
          </a:p>
        </p:txBody>
      </p:sp>
      <p:pic>
        <p:nvPicPr>
          <p:cNvPr id="1426" name="Google Shape;1426;p242"/>
          <p:cNvPicPr preferRelativeResize="0"/>
          <p:nvPr/>
        </p:nvPicPr>
        <p:blipFill>
          <a:blip r:embed="rId3">
            <a:alphaModFix/>
          </a:blip>
          <a:stretch>
            <a:fillRect/>
          </a:stretch>
        </p:blipFill>
        <p:spPr>
          <a:xfrm>
            <a:off x="152400" y="2006250"/>
            <a:ext cx="8839199" cy="1588980"/>
          </a:xfrm>
          <a:prstGeom prst="rect">
            <a:avLst/>
          </a:prstGeom>
          <a:noFill/>
          <a:ln>
            <a:noFill/>
          </a:ln>
        </p:spPr>
      </p:pic>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Shape 1430"/>
        <p:cNvGrpSpPr/>
        <p:nvPr/>
      </p:nvGrpSpPr>
      <p:grpSpPr>
        <a:xfrm>
          <a:off x="0" y="0"/>
          <a:ext cx="0" cy="0"/>
          <a:chOff x="0" y="0"/>
          <a:chExt cx="0" cy="0"/>
        </a:xfrm>
      </p:grpSpPr>
      <p:sp>
        <p:nvSpPr>
          <p:cNvPr id="1431" name="Google Shape;1431;p24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Regular Expression Split</a:t>
            </a:r>
            <a:endParaRPr/>
          </a:p>
        </p:txBody>
      </p:sp>
      <p:pic>
        <p:nvPicPr>
          <p:cNvPr id="1432" name="Google Shape;1432;p243"/>
          <p:cNvPicPr preferRelativeResize="0"/>
          <p:nvPr/>
        </p:nvPicPr>
        <p:blipFill>
          <a:blip r:embed="rId3">
            <a:alphaModFix/>
          </a:blip>
          <a:stretch>
            <a:fillRect/>
          </a:stretch>
        </p:blipFill>
        <p:spPr>
          <a:xfrm>
            <a:off x="152400" y="2006250"/>
            <a:ext cx="8839199" cy="1615854"/>
          </a:xfrm>
          <a:prstGeom prst="rect">
            <a:avLst/>
          </a:prstGeom>
          <a:noFill/>
          <a:ln>
            <a:noFill/>
          </a:ln>
        </p:spPr>
      </p:pic>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Shape 1436"/>
        <p:cNvGrpSpPr/>
        <p:nvPr/>
      </p:nvGrpSpPr>
      <p:grpSpPr>
        <a:xfrm>
          <a:off x="0" y="0"/>
          <a:ext cx="0" cy="0"/>
          <a:chOff x="0" y="0"/>
          <a:chExt cx="0" cy="0"/>
        </a:xfrm>
      </p:grpSpPr>
      <p:sp>
        <p:nvSpPr>
          <p:cNvPr id="1437" name="Google Shape;1437;p244"/>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Reflection</a:t>
            </a:r>
            <a:endParaRP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Shape 1441"/>
        <p:cNvGrpSpPr/>
        <p:nvPr/>
      </p:nvGrpSpPr>
      <p:grpSpPr>
        <a:xfrm>
          <a:off x="0" y="0"/>
          <a:ext cx="0" cy="0"/>
          <a:chOff x="0" y="0"/>
          <a:chExt cx="0" cy="0"/>
        </a:xfrm>
      </p:grpSpPr>
      <p:sp>
        <p:nvSpPr>
          <p:cNvPr id="1442" name="Google Shape;1442;p24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Reflection</a:t>
            </a:r>
            <a:endParaRPr/>
          </a:p>
        </p:txBody>
      </p:sp>
      <p:sp>
        <p:nvSpPr>
          <p:cNvPr id="1443" name="Google Shape;1443;p24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Reflection adalah membaca struktur kode pada saat aplikasi sedang berjalan</a:t>
            </a:r>
            <a:endParaRPr/>
          </a:p>
          <a:p>
            <a:pPr marL="457200" lvl="0" indent="-311150" algn="l" rtl="0">
              <a:spcBef>
                <a:spcPts val="0"/>
              </a:spcBef>
              <a:spcAft>
                <a:spcPts val="0"/>
              </a:spcAft>
              <a:buSzPts val="1300"/>
              <a:buChar char="●"/>
            </a:pPr>
            <a:r>
              <a:rPr lang="id"/>
              <a:t>Reflection adalah materi yang sangat panjang dan banyak, sehingga disini kita hanya akan membahas perkenalannya saja</a:t>
            </a:r>
            <a:endParaRPr/>
          </a:p>
          <a:p>
            <a:pPr marL="457200" lvl="0" indent="-311150" algn="l" rtl="0">
              <a:spcBef>
                <a:spcPts val="0"/>
              </a:spcBef>
              <a:spcAft>
                <a:spcPts val="0"/>
              </a:spcAft>
              <a:buSzPts val="1300"/>
              <a:buChar char="●"/>
            </a:pPr>
            <a:r>
              <a:rPr lang="id"/>
              <a:t>Reflection adalah fitur yang biasanya digunakan saat kita membuat framework</a:t>
            </a:r>
            <a:endParaRPr/>
          </a:p>
          <a:p>
            <a:pPr marL="457200" lvl="0" indent="-311150" algn="l" rtl="0">
              <a:spcBef>
                <a:spcPts val="0"/>
              </a:spcBef>
              <a:spcAft>
                <a:spcPts val="0"/>
              </a:spcAft>
              <a:buSzPts val="1300"/>
              <a:buChar char="●"/>
            </a:pPr>
            <a:r>
              <a:rPr lang="id" u="sng">
                <a:solidFill>
                  <a:schemeClr val="hlink"/>
                </a:solidFill>
                <a:hlinkClick r:id="rId3"/>
              </a:rPr>
              <a:t>https://www.php.net/manual/en/book.reflection.php</a:t>
            </a:r>
            <a:r>
              <a:rPr lang="id"/>
              <a:t> </a:t>
            </a:r>
            <a:endParaRP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Shape 1447"/>
        <p:cNvGrpSpPr/>
        <p:nvPr/>
      </p:nvGrpSpPr>
      <p:grpSpPr>
        <a:xfrm>
          <a:off x="0" y="0"/>
          <a:ext cx="0" cy="0"/>
          <a:chOff x="0" y="0"/>
          <a:chExt cx="0" cy="0"/>
        </a:xfrm>
      </p:grpSpPr>
      <p:sp>
        <p:nvSpPr>
          <p:cNvPr id="1448" name="Google Shape;1448;p24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Studi Kasus : Membuat Validation Framework</a:t>
            </a:r>
            <a:endParaRPr/>
          </a:p>
        </p:txBody>
      </p:sp>
      <p:sp>
        <p:nvSpPr>
          <p:cNvPr id="1449" name="Google Shape;1449;p24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id"/>
              <a:t>Sekarang kita akan coba melakukan studi kasus menggunakan Reflection</a:t>
            </a:r>
            <a:endParaRPr/>
          </a:p>
          <a:p>
            <a:pPr marL="457200" lvl="0" indent="-311150" algn="l" rtl="0">
              <a:spcBef>
                <a:spcPts val="0"/>
              </a:spcBef>
              <a:spcAft>
                <a:spcPts val="0"/>
              </a:spcAft>
              <a:buSzPts val="1300"/>
              <a:buChar char="●"/>
            </a:pPr>
            <a:r>
              <a:rPr lang="id"/>
              <a:t>Kita akan membuat validation framework menggunakan reflection</a:t>
            </a:r>
            <a:endParaRPr/>
          </a:p>
          <a:p>
            <a:pPr marL="457200" lvl="0" indent="-311150" algn="l" rtl="0">
              <a:spcBef>
                <a:spcPts val="0"/>
              </a:spcBef>
              <a:spcAft>
                <a:spcPts val="0"/>
              </a:spcAft>
              <a:buSzPts val="1300"/>
              <a:buChar char="●"/>
            </a:pPr>
            <a:r>
              <a:rPr lang="id"/>
              <a:t>Validation framework nya cukup sederhana, kita hanya akan mengecek apakah properties bernilai null atau tidak, kalo null atau belum di set, kita akan throw ValidationException</a:t>
            </a:r>
            <a:endParaRPr/>
          </a:p>
          <a:p>
            <a:pPr marL="457200" lvl="0" indent="-311150" algn="l" rtl="0">
              <a:spcBef>
                <a:spcPts val="0"/>
              </a:spcBef>
              <a:spcAft>
                <a:spcPts val="0"/>
              </a:spcAft>
              <a:buSzPts val="1300"/>
              <a:buChar char="●"/>
            </a:pPr>
            <a:r>
              <a:rPr lang="id"/>
              <a:t>Tanpa reflection, biasanya untuk melakukan hal ini, kita butuh pengecekan secara manual</a:t>
            </a:r>
            <a:endParaRP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Shape 1453"/>
        <p:cNvGrpSpPr/>
        <p:nvPr/>
      </p:nvGrpSpPr>
      <p:grpSpPr>
        <a:xfrm>
          <a:off x="0" y="0"/>
          <a:ext cx="0" cy="0"/>
          <a:chOff x="0" y="0"/>
          <a:chExt cx="0" cy="0"/>
        </a:xfrm>
      </p:grpSpPr>
      <p:sp>
        <p:nvSpPr>
          <p:cNvPr id="1454" name="Google Shape;1454;p24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Validation Tanpa Reflection</a:t>
            </a:r>
            <a:endParaRPr/>
          </a:p>
        </p:txBody>
      </p:sp>
      <p:pic>
        <p:nvPicPr>
          <p:cNvPr id="1455" name="Google Shape;1455;p247"/>
          <p:cNvPicPr preferRelativeResize="0"/>
          <p:nvPr/>
        </p:nvPicPr>
        <p:blipFill>
          <a:blip r:embed="rId3">
            <a:alphaModFix/>
          </a:blip>
          <a:stretch>
            <a:fillRect/>
          </a:stretch>
        </p:blipFill>
        <p:spPr>
          <a:xfrm>
            <a:off x="152400" y="2006250"/>
            <a:ext cx="8010812" cy="2984850"/>
          </a:xfrm>
          <a:prstGeom prst="rect">
            <a:avLst/>
          </a:prstGeom>
          <a:noFill/>
          <a:ln>
            <a:noFill/>
          </a:ln>
        </p:spPr>
      </p:pic>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Shape 1459"/>
        <p:cNvGrpSpPr/>
        <p:nvPr/>
      </p:nvGrpSpPr>
      <p:grpSpPr>
        <a:xfrm>
          <a:off x="0" y="0"/>
          <a:ext cx="0" cy="0"/>
          <a:chOff x="0" y="0"/>
          <a:chExt cx="0" cy="0"/>
        </a:xfrm>
      </p:grpSpPr>
      <p:sp>
        <p:nvSpPr>
          <p:cNvPr id="1460" name="Google Shape;1460;p24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
              <a:t>Kode : Validation Menggunakan Reflection</a:t>
            </a:r>
            <a:endParaRPr/>
          </a:p>
        </p:txBody>
      </p:sp>
      <p:pic>
        <p:nvPicPr>
          <p:cNvPr id="1461" name="Google Shape;1461;p248"/>
          <p:cNvPicPr preferRelativeResize="0"/>
          <p:nvPr/>
        </p:nvPicPr>
        <p:blipFill>
          <a:blip r:embed="rId3">
            <a:alphaModFix/>
          </a:blip>
          <a:stretch>
            <a:fillRect/>
          </a:stretch>
        </p:blipFill>
        <p:spPr>
          <a:xfrm>
            <a:off x="152400" y="2006250"/>
            <a:ext cx="7880815" cy="2984850"/>
          </a:xfrm>
          <a:prstGeom prst="rect">
            <a:avLst/>
          </a:prstGeom>
          <a:noFill/>
          <a:ln>
            <a:noFill/>
          </a:ln>
        </p:spPr>
      </p:pic>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Celestial</Template>
  <TotalTime>17</TotalTime>
  <Words>5091</Words>
  <Application>Microsoft Office PowerPoint</Application>
  <PresentationFormat>On-screen Show (16:9)</PresentationFormat>
  <Paragraphs>555</Paragraphs>
  <Slides>232</Slides>
  <Notes>232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232</vt:i4>
      </vt:variant>
    </vt:vector>
  </HeadingPairs>
  <TitlesOfParts>
    <vt:vector size="238" baseType="lpstr">
      <vt:lpstr>Arial Black</vt:lpstr>
      <vt:lpstr>Lato</vt:lpstr>
      <vt:lpstr>Franklin Gothic Heavy</vt:lpstr>
      <vt:lpstr>Arial</vt:lpstr>
      <vt:lpstr>Raleway</vt:lpstr>
      <vt:lpstr>Streamline</vt:lpstr>
      <vt:lpstr>Belajar-PHP-Dasar 2</vt:lpstr>
      <vt:lpstr>Pengenalan OOP</vt:lpstr>
      <vt:lpstr>Apa itu Object Oriented Programming?</vt:lpstr>
      <vt:lpstr>Apa itu Object?</vt:lpstr>
      <vt:lpstr>Apa itu Class?</vt:lpstr>
      <vt:lpstr>Class dan Object : Person</vt:lpstr>
      <vt:lpstr>Class dan Object : Car</vt:lpstr>
      <vt:lpstr>Class</vt:lpstr>
      <vt:lpstr>Membuat Class</vt:lpstr>
      <vt:lpstr>Kode : Class</vt:lpstr>
      <vt:lpstr>Object</vt:lpstr>
      <vt:lpstr>Membuat Object</vt:lpstr>
      <vt:lpstr>Kode : Object</vt:lpstr>
      <vt:lpstr>Properties</vt:lpstr>
      <vt:lpstr>Properties</vt:lpstr>
      <vt:lpstr>Kode : Properties</vt:lpstr>
      <vt:lpstr>Manipulasi Properties</vt:lpstr>
      <vt:lpstr>Kode : Manipulasi Properties</vt:lpstr>
      <vt:lpstr>Properties Type Declaration</vt:lpstr>
      <vt:lpstr>Kode : Properties dengan Type</vt:lpstr>
      <vt:lpstr>Default Properties Value</vt:lpstr>
      <vt:lpstr>Kode : Properties Default Value</vt:lpstr>
      <vt:lpstr>Nullable Properties</vt:lpstr>
      <vt:lpstr>Kode : Nullable Properties</vt:lpstr>
      <vt:lpstr>Function</vt:lpstr>
      <vt:lpstr>Function</vt:lpstr>
      <vt:lpstr>Kode : Function</vt:lpstr>
      <vt:lpstr>Kode : Memanggil Function</vt:lpstr>
      <vt:lpstr>this Keyword</vt:lpstr>
      <vt:lpstr>This Keyword</vt:lpstr>
      <vt:lpstr>Kode : This Keyword</vt:lpstr>
      <vt:lpstr>Constant</vt:lpstr>
      <vt:lpstr>Constant</vt:lpstr>
      <vt:lpstr>Kode : Constant</vt:lpstr>
      <vt:lpstr>Kode : Constant di Class</vt:lpstr>
      <vt:lpstr>Kode : Mengakses Constant di Class</vt:lpstr>
      <vt:lpstr>self Keyword</vt:lpstr>
      <vt:lpstr>Properties vs Constant</vt:lpstr>
      <vt:lpstr>self Keyword</vt:lpstr>
      <vt:lpstr>Kode : self Keyword</vt:lpstr>
      <vt:lpstr>Constructor</vt:lpstr>
      <vt:lpstr>Constructor</vt:lpstr>
      <vt:lpstr>Kode : Membuat Constructor</vt:lpstr>
      <vt:lpstr>Kode : Menggunakan Constructor</vt:lpstr>
      <vt:lpstr>Destructor</vt:lpstr>
      <vt:lpstr>Destructor</vt:lpstr>
      <vt:lpstr>Kode : Destructor</vt:lpstr>
      <vt:lpstr>Inheritance</vt:lpstr>
      <vt:lpstr>Inheritance</vt:lpstr>
      <vt:lpstr>Kode : Inheritance</vt:lpstr>
      <vt:lpstr>Kode : Mengakses Method Parent</vt:lpstr>
      <vt:lpstr>Namespace</vt:lpstr>
      <vt:lpstr>Namespace</vt:lpstr>
      <vt:lpstr>Kode : Tanpa Namespace</vt:lpstr>
      <vt:lpstr>Membuat Namespace</vt:lpstr>
      <vt:lpstr>Kode : Membuat Namespace</vt:lpstr>
      <vt:lpstr>Kode : Membuat Object dari Namespace</vt:lpstr>
      <vt:lpstr>Function dan Constant di Namespace</vt:lpstr>
      <vt:lpstr>Kode : Function dan Constant di Namespace</vt:lpstr>
      <vt:lpstr>Global Namespace</vt:lpstr>
      <vt:lpstr>Kode : Global Namespace</vt:lpstr>
      <vt:lpstr>Import</vt:lpstr>
      <vt:lpstr>use Keyword</vt:lpstr>
      <vt:lpstr>Kode : use Keyword</vt:lpstr>
      <vt:lpstr>Alias</vt:lpstr>
      <vt:lpstr>Kode : Alias</vt:lpstr>
      <vt:lpstr>Group use Declaration</vt:lpstr>
      <vt:lpstr>Kode : Group use Declaration</vt:lpstr>
      <vt:lpstr>Visibility</vt:lpstr>
      <vt:lpstr>Visibility</vt:lpstr>
      <vt:lpstr>Access Level</vt:lpstr>
      <vt:lpstr>Kode : Class Product</vt:lpstr>
      <vt:lpstr>Kode : Menggunakan Product</vt:lpstr>
      <vt:lpstr>Function Overriding</vt:lpstr>
      <vt:lpstr>Function Overriding</vt:lpstr>
      <vt:lpstr>Kode : Method Overriding</vt:lpstr>
      <vt:lpstr>Kode : Mengakses Function Overriding</vt:lpstr>
      <vt:lpstr>parent Keyword</vt:lpstr>
      <vt:lpstr>parent Keyword</vt:lpstr>
      <vt:lpstr>Kode : Parent Keyword</vt:lpstr>
      <vt:lpstr>Constructor Overriding</vt:lpstr>
      <vt:lpstr>Constructor Overriding</vt:lpstr>
      <vt:lpstr>Kode : Merubah Arguments Overriding</vt:lpstr>
      <vt:lpstr>Kode : Constructor Overriding (1)</vt:lpstr>
      <vt:lpstr>Kode : Constructor Overriding (2)</vt:lpstr>
      <vt:lpstr>Polymorphism</vt:lpstr>
      <vt:lpstr>Polymorphism</vt:lpstr>
      <vt:lpstr>Kode : Inheritance</vt:lpstr>
      <vt:lpstr>Kode : Polymorphism</vt:lpstr>
      <vt:lpstr>Kode : Function Argument Polymorphism</vt:lpstr>
      <vt:lpstr>Type Check &amp; Casts</vt:lpstr>
      <vt:lpstr>Type Check &amp; Casts</vt:lpstr>
      <vt:lpstr>Kode : Type Check &amp; Casts</vt:lpstr>
      <vt:lpstr>Abstract Class</vt:lpstr>
      <vt:lpstr>Abstract Class</vt:lpstr>
      <vt:lpstr>Kode : Abstract Class</vt:lpstr>
      <vt:lpstr>Kode : Membuat Abstract Class</vt:lpstr>
      <vt:lpstr>Abstract Function</vt:lpstr>
      <vt:lpstr>Abstract Function</vt:lpstr>
      <vt:lpstr>Kode : Abstract Function</vt:lpstr>
      <vt:lpstr>Kode : Menggunakan Abstract Function</vt:lpstr>
      <vt:lpstr>Getter dan Setter</vt:lpstr>
      <vt:lpstr>Encapsulation</vt:lpstr>
      <vt:lpstr>Getter dan Setter</vt:lpstr>
      <vt:lpstr>Getter dan Setter Method</vt:lpstr>
      <vt:lpstr>Kode : Getter dan Setter</vt:lpstr>
      <vt:lpstr>Kode : Menggunakan Getter dan Setter</vt:lpstr>
      <vt:lpstr>Kode : Validation di Setter</vt:lpstr>
      <vt:lpstr>Interface</vt:lpstr>
      <vt:lpstr>Interface</vt:lpstr>
      <vt:lpstr>Kode : Membuat Interface</vt:lpstr>
      <vt:lpstr>Kode : Implement Interface</vt:lpstr>
      <vt:lpstr>Interface Inheritance</vt:lpstr>
      <vt:lpstr>Interface Inheritance</vt:lpstr>
      <vt:lpstr>Kode : Interface Inheritance</vt:lpstr>
      <vt:lpstr>Kode : Multiple Interface Inheritance</vt:lpstr>
      <vt:lpstr>Trait</vt:lpstr>
      <vt:lpstr>Trait</vt:lpstr>
      <vt:lpstr>Kode : Membuat Trait</vt:lpstr>
      <vt:lpstr>Kode : Menggunakan Trait</vt:lpstr>
      <vt:lpstr>Trait Properties</vt:lpstr>
      <vt:lpstr>Kode : Trait Properties</vt:lpstr>
      <vt:lpstr>Kode : Menggunakan Trait Properties</vt:lpstr>
      <vt:lpstr>Trait Overriding</vt:lpstr>
      <vt:lpstr>Trait Abstract Function</vt:lpstr>
      <vt:lpstr>Kode : Trait Abstract Function</vt:lpstr>
      <vt:lpstr>Trait Overriding</vt:lpstr>
      <vt:lpstr>Kode : Override  Trait</vt:lpstr>
      <vt:lpstr>Trait Visibility Override</vt:lpstr>
      <vt:lpstr>Kode : Trait Visibility Override</vt:lpstr>
      <vt:lpstr>Trait Conflict</vt:lpstr>
      <vt:lpstr>Trait Conflict</vt:lpstr>
      <vt:lpstr>Kode : Trait Conflict (1)</vt:lpstr>
      <vt:lpstr>Kode : Trait Conflict (2)</vt:lpstr>
      <vt:lpstr>Trait Inheritance</vt:lpstr>
      <vt:lpstr>Trait Inheritance</vt:lpstr>
      <vt:lpstr>Kode : Trait Inheritance</vt:lpstr>
      <vt:lpstr>Final Class</vt:lpstr>
      <vt:lpstr>Final Class</vt:lpstr>
      <vt:lpstr>Kode : Final Class</vt:lpstr>
      <vt:lpstr>Final Function</vt:lpstr>
      <vt:lpstr>Final Function</vt:lpstr>
      <vt:lpstr>Kode : Final Method</vt:lpstr>
      <vt:lpstr>Anonymous Class</vt:lpstr>
      <vt:lpstr>Anonymous Class</vt:lpstr>
      <vt:lpstr>Kode : Anonymous Class</vt:lpstr>
      <vt:lpstr>Constructor di Anonymous Class</vt:lpstr>
      <vt:lpstr>Kode : Constructor di Anonymous Class</vt:lpstr>
      <vt:lpstr>static Keyword</vt:lpstr>
      <vt:lpstr>static Keyword</vt:lpstr>
      <vt:lpstr>Kode : Static Properties</vt:lpstr>
      <vt:lpstr>Kode : Static Function</vt:lpstr>
      <vt:lpstr>stdClass</vt:lpstr>
      <vt:lpstr>stdClass</vt:lpstr>
      <vt:lpstr>Kode : Konversi Array ke stdClass</vt:lpstr>
      <vt:lpstr>Object Iteration</vt:lpstr>
      <vt:lpstr>Object Iteration</vt:lpstr>
      <vt:lpstr>Kode : Object Iteration</vt:lpstr>
      <vt:lpstr>Iterator</vt:lpstr>
      <vt:lpstr>Kode : Iterator</vt:lpstr>
      <vt:lpstr>Generator</vt:lpstr>
      <vt:lpstr>Generator</vt:lpstr>
      <vt:lpstr>Kode : Generator</vt:lpstr>
      <vt:lpstr>Object Cloning</vt:lpstr>
      <vt:lpstr>Object Cloning</vt:lpstr>
      <vt:lpstr>Kode : Object Cloning</vt:lpstr>
      <vt:lpstr>__clone() Function</vt:lpstr>
      <vt:lpstr>Kode : __clone() Function</vt:lpstr>
      <vt:lpstr>Comparing Object</vt:lpstr>
      <vt:lpstr>Comparing Object</vt:lpstr>
      <vt:lpstr>Kode : Comparing Object</vt:lpstr>
      <vt:lpstr>Magic Function</vt:lpstr>
      <vt:lpstr>Magic Function</vt:lpstr>
      <vt:lpstr>__toString() Function</vt:lpstr>
      <vt:lpstr>Kode : __toString() Function</vt:lpstr>
      <vt:lpstr>__invoke() Function</vt:lpstr>
      <vt:lpstr>Kode : __invoke() Function</vt:lpstr>
      <vt:lpstr>__debugInfo() Function</vt:lpstr>
      <vt:lpstr>Kode : __debugInfo() Function</vt:lpstr>
      <vt:lpstr>Dan masih banyak lagi</vt:lpstr>
      <vt:lpstr>Overloading</vt:lpstr>
      <vt:lpstr>Overloading</vt:lpstr>
      <vt:lpstr>Properties Overloading</vt:lpstr>
      <vt:lpstr>Magic Function untuk Properties Overloading</vt:lpstr>
      <vt:lpstr>Kode : Properties Overloading</vt:lpstr>
      <vt:lpstr>Function Overloading</vt:lpstr>
      <vt:lpstr>Magic Function untuk Function Overloading</vt:lpstr>
      <vt:lpstr>Kode : Function Overloading</vt:lpstr>
      <vt:lpstr>Covariance dan Contravariance</vt:lpstr>
      <vt:lpstr>Covariance</vt:lpstr>
      <vt:lpstr>Kode : Inheritance</vt:lpstr>
      <vt:lpstr>Kode : Covariance</vt:lpstr>
      <vt:lpstr>Contravariance</vt:lpstr>
      <vt:lpstr>Kode : Inheritance</vt:lpstr>
      <vt:lpstr>Kode : Contravariance (1)</vt:lpstr>
      <vt:lpstr>Kode : Contravariance (2)</vt:lpstr>
      <vt:lpstr>DateTime</vt:lpstr>
      <vt:lpstr>DateTime</vt:lpstr>
      <vt:lpstr>DateTime Function</vt:lpstr>
      <vt:lpstr>Kode : DateTime</vt:lpstr>
      <vt:lpstr>DateInterval</vt:lpstr>
      <vt:lpstr>Kode : DateInterval</vt:lpstr>
      <vt:lpstr>DateTimeZone</vt:lpstr>
      <vt:lpstr>Kode : DateTimeZone</vt:lpstr>
      <vt:lpstr>Format DateTime</vt:lpstr>
      <vt:lpstr>Kode : Format DateTime</vt:lpstr>
      <vt:lpstr>Parse DateTime</vt:lpstr>
      <vt:lpstr>Kode : Parse DateTime</vt:lpstr>
      <vt:lpstr>Exception</vt:lpstr>
      <vt:lpstr>Exception</vt:lpstr>
      <vt:lpstr>Kode : Membuat Class Exception</vt:lpstr>
      <vt:lpstr>Membuat Exception</vt:lpstr>
      <vt:lpstr>Kode : Membuat Exception</vt:lpstr>
      <vt:lpstr>Try Catch</vt:lpstr>
      <vt:lpstr>Kode : Try Catch</vt:lpstr>
      <vt:lpstr>Kode : Multiple Try Catch (1)</vt:lpstr>
      <vt:lpstr>Kode : Multiple Try Catch (2)</vt:lpstr>
      <vt:lpstr>Finally Keyword</vt:lpstr>
      <vt:lpstr>Kode : Finally</vt:lpstr>
      <vt:lpstr>Debug Exception</vt:lpstr>
      <vt:lpstr>Kode : Debug Exception</vt:lpstr>
      <vt:lpstr>Regular Expression</vt:lpstr>
      <vt:lpstr>Regular Expression</vt:lpstr>
      <vt:lpstr>Function Regular Expression</vt:lpstr>
      <vt:lpstr>Kode : Regular Expression Match</vt:lpstr>
      <vt:lpstr>Kode : Regular Expression Replace</vt:lpstr>
      <vt:lpstr>Kode : Regular Expression Split</vt:lpstr>
      <vt:lpstr>Reflection</vt:lpstr>
      <vt:lpstr>Reflection</vt:lpstr>
      <vt:lpstr>Studi Kasus : Membuat Validation Framework</vt:lpstr>
      <vt:lpstr>Kode : Validation Tanpa Reflection</vt:lpstr>
      <vt:lpstr>Kode : Validation Menggunakan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Aira Mahsyura</cp:lastModifiedBy>
  <cp:revision>2</cp:revision>
  <dcterms:modified xsi:type="dcterms:W3CDTF">2025-10-22T06:37:42Z</dcterms:modified>
</cp:coreProperties>
</file>